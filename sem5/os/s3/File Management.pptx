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Layouts/slideLayout16.xml" ContentType="application/vnd.openxmlformats-officedocument.presentationml.slideLayout+xml"/>
  <Override PartName="/ppt/notesSlides/notesSlide37.xml" ContentType="application/vnd.openxmlformats-officedocument.presentationml.notesSlide+xml"/>
  <Override PartName="/ppt/notesSlides/notesSlide55.xml" ContentType="application/vnd.openxmlformats-officedocument.presentationml.notes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0" r:id="rId2"/>
  </p:sldMasterIdLst>
  <p:notesMasterIdLst>
    <p:notesMasterId r:id="rId84"/>
  </p:notesMasterIdLst>
  <p:sldIdLst>
    <p:sldId id="256" r:id="rId3"/>
    <p:sldId id="328" r:id="rId4"/>
    <p:sldId id="330" r:id="rId5"/>
    <p:sldId id="329" r:id="rId6"/>
    <p:sldId id="331" r:id="rId7"/>
    <p:sldId id="260" r:id="rId8"/>
    <p:sldId id="261" r:id="rId9"/>
    <p:sldId id="265" r:id="rId10"/>
    <p:sldId id="267" r:id="rId11"/>
    <p:sldId id="268" r:id="rId12"/>
    <p:sldId id="269" r:id="rId13"/>
    <p:sldId id="270" r:id="rId14"/>
    <p:sldId id="271" r:id="rId15"/>
    <p:sldId id="332" r:id="rId16"/>
    <p:sldId id="272" r:id="rId17"/>
    <p:sldId id="273" r:id="rId18"/>
    <p:sldId id="274" r:id="rId19"/>
    <p:sldId id="387" r:id="rId20"/>
    <p:sldId id="275" r:id="rId21"/>
    <p:sldId id="276" r:id="rId22"/>
    <p:sldId id="334" r:id="rId23"/>
    <p:sldId id="278" r:id="rId24"/>
    <p:sldId id="279" r:id="rId25"/>
    <p:sldId id="388" r:id="rId26"/>
    <p:sldId id="281" r:id="rId27"/>
    <p:sldId id="389" r:id="rId28"/>
    <p:sldId id="390" r:id="rId29"/>
    <p:sldId id="391" r:id="rId30"/>
    <p:sldId id="284" r:id="rId31"/>
    <p:sldId id="392" r:id="rId32"/>
    <p:sldId id="393" r:id="rId33"/>
    <p:sldId id="291" r:id="rId34"/>
    <p:sldId id="293" r:id="rId35"/>
    <p:sldId id="336" r:id="rId36"/>
    <p:sldId id="337" r:id="rId37"/>
    <p:sldId id="338" r:id="rId38"/>
    <p:sldId id="345" r:id="rId39"/>
    <p:sldId id="394" r:id="rId40"/>
    <p:sldId id="346" r:id="rId41"/>
    <p:sldId id="308" r:id="rId42"/>
    <p:sldId id="348" r:id="rId43"/>
    <p:sldId id="309" r:id="rId44"/>
    <p:sldId id="347" r:id="rId45"/>
    <p:sldId id="310" r:id="rId46"/>
    <p:sldId id="395" r:id="rId47"/>
    <p:sldId id="311" r:id="rId48"/>
    <p:sldId id="350" r:id="rId49"/>
    <p:sldId id="312" r:id="rId50"/>
    <p:sldId id="351" r:id="rId51"/>
    <p:sldId id="396" r:id="rId52"/>
    <p:sldId id="397" r:id="rId53"/>
    <p:sldId id="352" r:id="rId54"/>
    <p:sldId id="313" r:id="rId55"/>
    <p:sldId id="314" r:id="rId56"/>
    <p:sldId id="315" r:id="rId57"/>
    <p:sldId id="316" r:id="rId58"/>
    <p:sldId id="318" r:id="rId59"/>
    <p:sldId id="319" r:id="rId60"/>
    <p:sldId id="320" r:id="rId61"/>
    <p:sldId id="353" r:id="rId62"/>
    <p:sldId id="355" r:id="rId63"/>
    <p:sldId id="321" r:id="rId64"/>
    <p:sldId id="354" r:id="rId65"/>
    <p:sldId id="356" r:id="rId66"/>
    <p:sldId id="357" r:id="rId67"/>
    <p:sldId id="358" r:id="rId68"/>
    <p:sldId id="359" r:id="rId69"/>
    <p:sldId id="360" r:id="rId70"/>
    <p:sldId id="398" r:id="rId71"/>
    <p:sldId id="399" r:id="rId72"/>
    <p:sldId id="362" r:id="rId73"/>
    <p:sldId id="363" r:id="rId74"/>
    <p:sldId id="364" r:id="rId75"/>
    <p:sldId id="365" r:id="rId76"/>
    <p:sldId id="367" r:id="rId77"/>
    <p:sldId id="368" r:id="rId78"/>
    <p:sldId id="381" r:id="rId79"/>
    <p:sldId id="400" r:id="rId80"/>
    <p:sldId id="369" r:id="rId81"/>
    <p:sldId id="401" r:id="rId82"/>
    <p:sldId id="402" r:id="rId8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2832" autoAdjust="0"/>
  </p:normalViewPr>
  <p:slideViewPr>
    <p:cSldViewPr>
      <p:cViewPr varScale="1">
        <p:scale>
          <a:sx n="68" d="100"/>
          <a:sy n="68" d="100"/>
        </p:scale>
        <p:origin x="-144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718"/>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06-Oct-21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In most applications, the file is the central element.</a:t>
            </a:r>
          </a:p>
          <a:p>
            <a:endParaRPr lang="en-NZ" dirty="0" smtClean="0"/>
          </a:p>
          <a:p>
            <a:r>
              <a:rPr lang="en-NZ" dirty="0" smtClean="0"/>
              <a:t>From the user’s point of view, one of the most important parts of an operating system is the file system.</a:t>
            </a:r>
          </a:p>
          <a:p>
            <a:pPr lvl="1">
              <a:buFont typeface="Arial" pitchFamily="34" charset="0"/>
              <a:buChar char="•"/>
            </a:pPr>
            <a:r>
              <a:rPr lang="en-NZ" dirty="0" smtClean="0"/>
              <a:t> The file system provides the resource abstractions typically associated with secondary storage. </a:t>
            </a:r>
          </a:p>
          <a:p>
            <a:pPr lvl="0">
              <a:buFont typeface="Arial" pitchFamily="34" charset="0"/>
              <a:buNone/>
            </a:pPr>
            <a:endParaRPr lang="en-NZ" dirty="0" smtClean="0"/>
          </a:p>
          <a:p>
            <a:pPr lvl="0">
              <a:buFont typeface="Arial" pitchFamily="34" charset="0"/>
              <a:buNone/>
            </a:pPr>
            <a:r>
              <a:rPr lang="en-NZ" dirty="0" smtClean="0"/>
              <a:t>Desirable properties</a:t>
            </a:r>
            <a:r>
              <a:rPr lang="en-NZ" baseline="0" dirty="0" smtClean="0"/>
              <a:t> include</a:t>
            </a:r>
          </a:p>
          <a:p>
            <a:pPr lvl="1">
              <a:buFont typeface="Arial" pitchFamily="34" charset="0"/>
              <a:buChar char="•"/>
            </a:pPr>
            <a:r>
              <a:rPr lang="en-NZ" baseline="0" dirty="0" smtClean="0"/>
              <a:t> </a:t>
            </a:r>
            <a:r>
              <a:rPr lang="en-NZ" b="1" dirty="0" smtClean="0"/>
              <a:t>Long-term existence: </a:t>
            </a:r>
            <a:r>
              <a:rPr lang="en-NZ" dirty="0" smtClean="0"/>
              <a:t>Files are stored on disk or other secondary storage and do not disappear when a user logs off.</a:t>
            </a:r>
          </a:p>
          <a:p>
            <a:pPr lvl="1">
              <a:buFont typeface="Arial" pitchFamily="34" charset="0"/>
              <a:buChar char="•"/>
            </a:pPr>
            <a:r>
              <a:rPr lang="en-NZ" b="1" dirty="0" smtClean="0"/>
              <a:t> Sharable between processes:</a:t>
            </a:r>
            <a:r>
              <a:rPr lang="en-NZ" dirty="0" smtClean="0"/>
              <a:t> Files have names and can have associated access permissions that permit controlled sharing.</a:t>
            </a:r>
          </a:p>
          <a:p>
            <a:pPr lvl="1">
              <a:buFont typeface="Arial" pitchFamily="34" charset="0"/>
              <a:buChar char="•"/>
            </a:pPr>
            <a:r>
              <a:rPr lang="en-NZ" dirty="0" smtClean="0"/>
              <a:t> </a:t>
            </a:r>
            <a:r>
              <a:rPr lang="en-NZ" b="1" dirty="0" smtClean="0"/>
              <a:t>Structure: </a:t>
            </a:r>
            <a:r>
              <a:rPr lang="en-NZ" dirty="0" smtClean="0"/>
              <a:t>Depending on the file system, a file can have an internal structure that is convenient for particular applications. In addition, files can be organized into hierarchical or more complex structure to reflect the relationships among files.</a:t>
            </a:r>
          </a:p>
          <a:p>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Any file system provides not only a means to store data organized as files, but a collection of functions that can be performed on files. </a:t>
            </a:r>
          </a:p>
          <a:p>
            <a:endParaRPr lang="en-NZ" dirty="0" smtClean="0"/>
          </a:p>
          <a:p>
            <a:r>
              <a:rPr lang="en-NZ" dirty="0" smtClean="0"/>
              <a:t>Typical operations include the following:</a:t>
            </a:r>
          </a:p>
          <a:p>
            <a:pPr lvl="1">
              <a:buFont typeface="Arial" pitchFamily="34" charset="0"/>
              <a:buChar char="•"/>
            </a:pPr>
            <a:r>
              <a:rPr lang="en-NZ" b="1" dirty="0" smtClean="0"/>
              <a:t> Create: </a:t>
            </a:r>
            <a:r>
              <a:rPr lang="en-NZ" dirty="0" smtClean="0"/>
              <a:t>A new file is defined and positioned within the structure of files.</a:t>
            </a:r>
          </a:p>
          <a:p>
            <a:pPr lvl="1">
              <a:buFont typeface="Arial" pitchFamily="34" charset="0"/>
              <a:buChar char="•"/>
            </a:pPr>
            <a:r>
              <a:rPr lang="en-NZ" b="1" dirty="0" smtClean="0"/>
              <a:t> Delete: </a:t>
            </a:r>
            <a:r>
              <a:rPr lang="en-NZ" dirty="0" smtClean="0"/>
              <a:t>A file is removed from the file structure and destroyed.</a:t>
            </a:r>
          </a:p>
          <a:p>
            <a:pPr lvl="1">
              <a:buFont typeface="Arial" pitchFamily="34" charset="0"/>
              <a:buChar char="•"/>
            </a:pPr>
            <a:r>
              <a:rPr lang="en-NZ" b="1" dirty="0" smtClean="0"/>
              <a:t> Open: </a:t>
            </a:r>
            <a:r>
              <a:rPr lang="en-NZ" dirty="0" smtClean="0"/>
              <a:t>An existing file is declared to be “opened” by a process, allowing the process to perform functions on the file.</a:t>
            </a:r>
          </a:p>
          <a:p>
            <a:pPr lvl="1">
              <a:buFont typeface="Arial" pitchFamily="34" charset="0"/>
              <a:buChar char="•"/>
            </a:pPr>
            <a:r>
              <a:rPr lang="en-NZ" baseline="0" dirty="0" smtClean="0"/>
              <a:t> </a:t>
            </a:r>
            <a:r>
              <a:rPr lang="en-NZ" b="1" dirty="0" smtClean="0"/>
              <a:t>Close: </a:t>
            </a:r>
            <a:r>
              <a:rPr lang="en-NZ" dirty="0" smtClean="0"/>
              <a:t>The file is closed with respect to a process, so that the process no longer may perform functions on the file, until the process opens the file again. </a:t>
            </a:r>
          </a:p>
          <a:p>
            <a:pPr lvl="1">
              <a:buFont typeface="Arial" pitchFamily="34" charset="0"/>
              <a:buChar char="•"/>
            </a:pPr>
            <a:r>
              <a:rPr lang="en-NZ" dirty="0" smtClean="0"/>
              <a:t> </a:t>
            </a:r>
            <a:r>
              <a:rPr lang="en-NZ" b="1" dirty="0" smtClean="0"/>
              <a:t>Read: </a:t>
            </a:r>
            <a:r>
              <a:rPr lang="en-NZ" dirty="0" smtClean="0"/>
              <a:t>A process reads all or a portion of the data in a file.</a:t>
            </a:r>
          </a:p>
          <a:p>
            <a:pPr lvl="1">
              <a:buFont typeface="Arial" pitchFamily="34" charset="0"/>
              <a:buChar char="•"/>
            </a:pPr>
            <a:r>
              <a:rPr lang="en-NZ" dirty="0" smtClean="0"/>
              <a:t> </a:t>
            </a:r>
            <a:r>
              <a:rPr lang="en-NZ" b="1" dirty="0" smtClean="0"/>
              <a:t>Write:</a:t>
            </a:r>
            <a:r>
              <a:rPr lang="en-NZ" dirty="0" smtClean="0"/>
              <a:t> A process updates a file, either by adding new data that expands the size of the file or by changing the values of existing data items in the file.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Discussed on following slides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smtClean="0"/>
              <a:t>A field </a:t>
            </a:r>
            <a:r>
              <a:rPr lang="en-NZ" dirty="0" smtClean="0"/>
              <a:t>is the basic element of data.</a:t>
            </a:r>
          </a:p>
          <a:p>
            <a:pPr lvl="1">
              <a:buFont typeface="Arial" pitchFamily="34" charset="0"/>
              <a:buChar char="•"/>
            </a:pPr>
            <a:r>
              <a:rPr lang="en-NZ" dirty="0" smtClean="0"/>
              <a:t> It is characterized by its length and data type (e.g.</a:t>
            </a:r>
            <a:r>
              <a:rPr lang="en-NZ" baseline="0" dirty="0" smtClean="0"/>
              <a:t> </a:t>
            </a:r>
            <a:r>
              <a:rPr lang="en-NZ" dirty="0" smtClean="0"/>
              <a:t>ASCII string, decimal). </a:t>
            </a:r>
          </a:p>
          <a:p>
            <a:pPr lvl="1">
              <a:buFont typeface="Arial" pitchFamily="34" charset="0"/>
              <a:buChar char="•"/>
            </a:pPr>
            <a:r>
              <a:rPr lang="en-NZ" dirty="0" smtClean="0"/>
              <a:t> Depending on the file design, fields may be fixed length or variable length.</a:t>
            </a:r>
          </a:p>
          <a:p>
            <a:pPr lvl="0">
              <a:buFont typeface="Arial" pitchFamily="34" charset="0"/>
              <a:buNone/>
            </a:pPr>
            <a:endParaRPr lang="en-NZ" dirty="0" smtClean="0"/>
          </a:p>
          <a:p>
            <a:pPr lvl="0">
              <a:buFont typeface="Arial" pitchFamily="34" charset="0"/>
              <a:buNone/>
            </a:pPr>
            <a:r>
              <a:rPr lang="en-NZ" b="1" dirty="0" smtClean="0"/>
              <a:t>A record </a:t>
            </a:r>
            <a:r>
              <a:rPr lang="en-NZ" dirty="0" smtClean="0"/>
              <a:t>is a collection of related fields that can be treated as a unit by some application program.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NZ" b="1" dirty="0" smtClean="0"/>
              <a:t>A file </a:t>
            </a:r>
            <a:r>
              <a:rPr lang="en-NZ" dirty="0" smtClean="0"/>
              <a:t>is a collection of similar records. </a:t>
            </a:r>
          </a:p>
          <a:p>
            <a:pPr lvl="1">
              <a:buFont typeface="Arial" pitchFamily="34" charset="0"/>
              <a:buChar char="•"/>
            </a:pPr>
            <a:r>
              <a:rPr lang="en-NZ" dirty="0" smtClean="0"/>
              <a:t> The file is treated as a single entity by users and applications and may be referenced by name.</a:t>
            </a:r>
          </a:p>
          <a:p>
            <a:pPr lvl="1">
              <a:buFont typeface="Arial" pitchFamily="34" charset="0"/>
              <a:buChar char="•"/>
            </a:pPr>
            <a:r>
              <a:rPr lang="en-NZ" dirty="0" smtClean="0"/>
              <a:t> Files have file names and may be created and deleted. </a:t>
            </a:r>
          </a:p>
          <a:p>
            <a:pPr lvl="1">
              <a:buFont typeface="Arial" pitchFamily="34" charset="0"/>
              <a:buChar char="•"/>
            </a:pPr>
            <a:r>
              <a:rPr lang="en-NZ" dirty="0" smtClean="0"/>
              <a:t> Access control restrictions usually apply at the file level.</a:t>
            </a:r>
          </a:p>
          <a:p>
            <a:endParaRPr lang="en-NZ" dirty="0" smtClean="0"/>
          </a:p>
          <a:p>
            <a:r>
              <a:rPr lang="en-NZ" b="1" dirty="0" smtClean="0"/>
              <a:t>A database </a:t>
            </a:r>
            <a:r>
              <a:rPr lang="en-NZ" dirty="0" smtClean="0"/>
              <a:t>is a collection of related data. </a:t>
            </a:r>
          </a:p>
          <a:p>
            <a:pPr lvl="1">
              <a:buFont typeface="Arial" pitchFamily="34" charset="0"/>
              <a:buChar char="•"/>
            </a:pPr>
            <a:r>
              <a:rPr lang="en-NZ" dirty="0" smtClean="0"/>
              <a:t> Explicit relationships exist among elements of data </a:t>
            </a:r>
          </a:p>
          <a:p>
            <a:pPr lvl="1">
              <a:buFont typeface="Arial" pitchFamily="34" charset="0"/>
              <a:buChar char="•"/>
            </a:pPr>
            <a:r>
              <a:rPr lang="en-NZ" dirty="0" smtClean="0"/>
              <a:t> The database itself consists of one or more types of files.</a:t>
            </a:r>
          </a:p>
          <a:p>
            <a:pPr lvl="1">
              <a:buFont typeface="Arial" pitchFamily="34" charset="0"/>
              <a:buChar char="•"/>
            </a:pPr>
            <a:r>
              <a:rPr lang="en-NZ" dirty="0" smtClean="0"/>
              <a:t> Usually, there is a separate database management system that is independent of the operating system, although that system may make use of some file management programs.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Objectives include:</a:t>
            </a:r>
          </a:p>
          <a:p>
            <a:pPr lvl="1">
              <a:buFont typeface="Arial" pitchFamily="34" charset="0"/>
              <a:buChar char="•"/>
            </a:pPr>
            <a:r>
              <a:rPr lang="en-NZ" dirty="0" smtClean="0"/>
              <a:t> To meet the data management needs and requirements of the user, </a:t>
            </a:r>
          </a:p>
          <a:p>
            <a:pPr lvl="1">
              <a:buFont typeface="Arial" pitchFamily="34" charset="0"/>
              <a:buChar char="•"/>
            </a:pPr>
            <a:r>
              <a:rPr lang="en-NZ" dirty="0" smtClean="0"/>
              <a:t> To guarantee, to the extent possible, that the data in the file are valid</a:t>
            </a:r>
          </a:p>
          <a:p>
            <a:pPr lvl="1">
              <a:buFont typeface="Arial" pitchFamily="34" charset="0"/>
              <a:buChar char="•"/>
            </a:pPr>
            <a:r>
              <a:rPr lang="en-NZ" dirty="0" smtClean="0"/>
              <a:t> To optimize performance, both from the system point of view in terms of over-all throughput and from the user’s point of view in terms of response time</a:t>
            </a:r>
          </a:p>
          <a:p>
            <a:pPr lvl="1">
              <a:buFont typeface="Arial" pitchFamily="34" charset="0"/>
              <a:buChar char="•"/>
            </a:pPr>
            <a:r>
              <a:rPr lang="en-NZ" dirty="0" smtClean="0"/>
              <a:t> To provide I/O support for a variety of storage device types</a:t>
            </a:r>
          </a:p>
          <a:p>
            <a:pPr lvl="1">
              <a:buFont typeface="Arial" pitchFamily="34" charset="0"/>
              <a:buChar char="•"/>
            </a:pPr>
            <a:r>
              <a:rPr lang="en-NZ" dirty="0" smtClean="0"/>
              <a:t> To minimize or eliminate the potential for lost or destroyed data</a:t>
            </a:r>
          </a:p>
          <a:p>
            <a:pPr lvl="1">
              <a:buFont typeface="Arial" pitchFamily="34" charset="0"/>
              <a:buChar char="•"/>
            </a:pPr>
            <a:r>
              <a:rPr lang="en-NZ" dirty="0" smtClean="0"/>
              <a:t> To provide a standardized set of I/O interface routines to user processes</a:t>
            </a:r>
          </a:p>
          <a:p>
            <a:pPr lvl="1">
              <a:buFont typeface="Arial" pitchFamily="34" charset="0"/>
              <a:buChar char="•"/>
            </a:pPr>
            <a:r>
              <a:rPr lang="en-NZ" dirty="0" smtClean="0"/>
              <a:t> To provide I/O support for multiple users, in the case of multiple-user 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For an interactive, general-purpose system, the following constitute a minimal set of requirements:</a:t>
            </a:r>
          </a:p>
          <a:p>
            <a:endParaRPr lang="en-NZ" dirty="0" smtClean="0"/>
          </a:p>
          <a:p>
            <a:r>
              <a:rPr lang="en-NZ" dirty="0" smtClean="0"/>
              <a:t>1. Each user should be able to create, delete, read, write, and modify files.</a:t>
            </a:r>
          </a:p>
          <a:p>
            <a:r>
              <a:rPr lang="en-NZ" dirty="0" smtClean="0"/>
              <a:t>2. Each user may have controlled access to other users’ files.</a:t>
            </a:r>
          </a:p>
          <a:p>
            <a:r>
              <a:rPr lang="en-NZ" dirty="0" smtClean="0"/>
              <a:t>3. Each user may control what types of accesses are allowed to the user’s files.</a:t>
            </a:r>
          </a:p>
          <a:p>
            <a:r>
              <a:rPr lang="en-NZ" dirty="0" smtClean="0"/>
              <a:t>4. Each user should be able to restructure the user’s files in a form appropriate to the problem.</a:t>
            </a:r>
          </a:p>
          <a:p>
            <a:endParaRPr lang="en-NZ" dirty="0" smtClean="0"/>
          </a:p>
          <a:p>
            <a:r>
              <a:rPr lang="en-NZ" dirty="0" smtClean="0"/>
              <a:t>5,6, and 7 on next slide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smtClean="0"/>
          </a:p>
          <a:p>
            <a:r>
              <a:rPr lang="en-NZ" dirty="0" smtClean="0"/>
              <a:t>5. Each user should be able to move data between files.</a:t>
            </a:r>
          </a:p>
          <a:p>
            <a:endParaRPr lang="en-NZ" dirty="0" smtClean="0"/>
          </a:p>
          <a:p>
            <a:r>
              <a:rPr lang="en-NZ" dirty="0" smtClean="0"/>
              <a:t>6. Each user should be able to back up and recover the user’s files in case of damage.</a:t>
            </a:r>
          </a:p>
          <a:p>
            <a:endParaRPr lang="en-NZ" dirty="0" smtClean="0"/>
          </a:p>
          <a:p>
            <a:r>
              <a:rPr lang="en-NZ" dirty="0" smtClean="0"/>
              <a:t>7. Each user should be able to access his or her files by name rather than by numeric identifier.</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Variations will exist between systems but typically</a:t>
            </a:r>
            <a:r>
              <a:rPr lang="en-US" baseline="0" dirty="0" smtClean="0"/>
              <a:t> have the aspects described above and in the following slides</a:t>
            </a:r>
            <a:endParaRPr lang="en-US"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r>
              <a:rPr lang="en-NZ" b="1" dirty="0" smtClean="0"/>
              <a:t>device drivers </a:t>
            </a:r>
            <a:r>
              <a:rPr lang="en-NZ" dirty="0" smtClean="0"/>
              <a:t>communicate at the lowest level directly with peripheral devices or their controllers or channels. </a:t>
            </a:r>
          </a:p>
          <a:p>
            <a:pPr lvl="1">
              <a:buFont typeface="Arial" pitchFamily="34" charset="0"/>
              <a:buChar char="•"/>
            </a:pPr>
            <a:r>
              <a:rPr lang="en-NZ" dirty="0" smtClean="0"/>
              <a:t> A device driver is responsible for starting I/O operations on a device and processing the completion of an I/O request. </a:t>
            </a:r>
          </a:p>
          <a:p>
            <a:pPr lvl="1">
              <a:buFont typeface="Arial" pitchFamily="34" charset="0"/>
              <a:buChar char="•"/>
            </a:pPr>
            <a:r>
              <a:rPr lang="en-NZ" dirty="0" smtClean="0"/>
              <a:t> For file operations, the typical devices controlled are disk and tape drives.</a:t>
            </a:r>
          </a:p>
          <a:p>
            <a:pPr lvl="1">
              <a:buFont typeface="Arial" pitchFamily="34" charset="0"/>
              <a:buChar char="•"/>
            </a:pPr>
            <a:r>
              <a:rPr lang="en-NZ" dirty="0" smtClean="0"/>
              <a:t> Device drivers are usually considered to be part of the operating system.</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smtClean="0"/>
              <a:t>basic file system</a:t>
            </a:r>
            <a:r>
              <a:rPr lang="en-NZ" dirty="0" smtClean="0"/>
              <a:t>, or </a:t>
            </a:r>
            <a:r>
              <a:rPr lang="en-NZ" b="1" dirty="0" smtClean="0"/>
              <a:t>the physical I/O level.</a:t>
            </a:r>
          </a:p>
          <a:p>
            <a:endParaRPr lang="en-NZ" dirty="0" smtClean="0"/>
          </a:p>
          <a:p>
            <a:r>
              <a:rPr lang="en-NZ" dirty="0" smtClean="0"/>
              <a:t>This is the primary interface with the environment outside of the computer system.</a:t>
            </a:r>
          </a:p>
          <a:p>
            <a:endParaRPr lang="en-NZ" dirty="0" smtClean="0"/>
          </a:p>
          <a:p>
            <a:r>
              <a:rPr lang="en-NZ" dirty="0" smtClean="0"/>
              <a:t>It deals with blocks of data that are exchanged with disk or tape systems. </a:t>
            </a:r>
          </a:p>
          <a:p>
            <a:pPr lvl="1">
              <a:buFont typeface="Arial" pitchFamily="34" charset="0"/>
              <a:buChar char="•"/>
            </a:pPr>
            <a:r>
              <a:rPr lang="en-NZ" dirty="0" smtClean="0"/>
              <a:t> It is concerned with the placement of those blocks on the secondary storage device and on the buffering of those blocks in main memory. </a:t>
            </a:r>
          </a:p>
          <a:p>
            <a:pPr lvl="1">
              <a:buFont typeface="Arial" pitchFamily="34" charset="0"/>
              <a:buChar char="•"/>
            </a:pPr>
            <a:r>
              <a:rPr lang="en-NZ" dirty="0" smtClean="0"/>
              <a:t> It does not understand the content of the data or the structure of the files involved.</a:t>
            </a:r>
          </a:p>
          <a:p>
            <a:pPr lvl="1">
              <a:buFont typeface="Arial" pitchFamily="34" charset="0"/>
              <a:buChar char="•"/>
            </a:pPr>
            <a:r>
              <a:rPr lang="en-NZ" dirty="0" smtClean="0"/>
              <a:t> The basic file system is often considered part of the operating system.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Basic I/O supervisor is responsible for all file I/O initiation and termination.</a:t>
            </a:r>
          </a:p>
          <a:p>
            <a:endParaRPr lang="en-NZ" dirty="0" smtClean="0"/>
          </a:p>
          <a:p>
            <a:r>
              <a:rPr lang="en-NZ" dirty="0" smtClean="0"/>
              <a:t>Control structures are maintained that deal with</a:t>
            </a:r>
          </a:p>
          <a:p>
            <a:pPr lvl="1">
              <a:buFont typeface="Arial" pitchFamily="34" charset="0"/>
              <a:buChar char="•"/>
            </a:pPr>
            <a:r>
              <a:rPr lang="en-NZ" dirty="0" smtClean="0"/>
              <a:t> device I/O, </a:t>
            </a:r>
          </a:p>
          <a:p>
            <a:pPr lvl="1">
              <a:buFont typeface="Arial" pitchFamily="34" charset="0"/>
              <a:buChar char="•"/>
            </a:pPr>
            <a:r>
              <a:rPr lang="en-NZ" dirty="0" smtClean="0"/>
              <a:t> scheduling, and </a:t>
            </a:r>
          </a:p>
          <a:p>
            <a:pPr lvl="1">
              <a:buFont typeface="Arial" pitchFamily="34" charset="0"/>
              <a:buChar char="•"/>
            </a:pPr>
            <a:r>
              <a:rPr lang="en-NZ" dirty="0" smtClean="0"/>
              <a:t>file status.</a:t>
            </a:r>
          </a:p>
          <a:p>
            <a:pPr lvl="1">
              <a:buFont typeface="Arial" pitchFamily="34" charset="0"/>
              <a:buChar char="•"/>
            </a:pPr>
            <a:endParaRPr lang="en-NZ" dirty="0" smtClean="0"/>
          </a:p>
          <a:p>
            <a:pPr lvl="0">
              <a:buFont typeface="Arial" pitchFamily="34" charset="0"/>
              <a:buNone/>
            </a:pPr>
            <a:r>
              <a:rPr lang="en-NZ" dirty="0" smtClean="0"/>
              <a:t>The basic I/O supervisor selects the device on which file I/O is to be performed, based on the particular file selected. </a:t>
            </a:r>
          </a:p>
          <a:p>
            <a:pPr lvl="0">
              <a:buFont typeface="Arial" pitchFamily="34" charset="0"/>
              <a:buNone/>
            </a:pPr>
            <a:endParaRPr lang="en-NZ" dirty="0" smtClean="0"/>
          </a:p>
          <a:p>
            <a:pPr lvl="0">
              <a:buFont typeface="Arial" pitchFamily="34" charset="0"/>
              <a:buNone/>
            </a:pPr>
            <a:r>
              <a:rPr lang="en-NZ" dirty="0" smtClean="0"/>
              <a:t>It is also concerned with scheduling disk and tape accesses to optimize performance. </a:t>
            </a:r>
          </a:p>
          <a:p>
            <a:pPr lvl="1">
              <a:buFont typeface="Arial" pitchFamily="34" charset="0"/>
              <a:buChar char="•"/>
            </a:pPr>
            <a:r>
              <a:rPr lang="en-NZ" dirty="0" smtClean="0"/>
              <a:t> I/O buffers are assigned and secondary memory is allocated at this level. </a:t>
            </a:r>
          </a:p>
          <a:p>
            <a:pPr lvl="0">
              <a:buFont typeface="Arial" pitchFamily="34" charset="0"/>
              <a:buNone/>
            </a:pPr>
            <a:endParaRPr lang="en-NZ" dirty="0" smtClean="0"/>
          </a:p>
          <a:p>
            <a:pPr lvl="0">
              <a:buFont typeface="Arial" pitchFamily="34" charset="0"/>
              <a:buNone/>
            </a:pPr>
            <a:r>
              <a:rPr lang="en-NZ" dirty="0" smtClean="0"/>
              <a:t>The basic I/O supervisor is part of the operating system.</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smtClean="0"/>
              <a:t>Logical I/O </a:t>
            </a:r>
            <a:r>
              <a:rPr lang="en-NZ" dirty="0" smtClean="0"/>
              <a:t>enables users and applications to access records.</a:t>
            </a:r>
          </a:p>
          <a:p>
            <a:endParaRPr lang="en-NZ" dirty="0" smtClean="0"/>
          </a:p>
          <a:p>
            <a:r>
              <a:rPr lang="en-NZ" dirty="0" smtClean="0"/>
              <a:t>Whereas the basic file system deals with blocks of data, </a:t>
            </a:r>
          </a:p>
          <a:p>
            <a:pPr lvl="1">
              <a:buFont typeface="Arial" pitchFamily="34" charset="0"/>
              <a:buChar char="•"/>
            </a:pPr>
            <a:r>
              <a:rPr lang="en-NZ" dirty="0" smtClean="0"/>
              <a:t> the logical I/O module deals with file records.</a:t>
            </a:r>
          </a:p>
          <a:p>
            <a:pPr lvl="0">
              <a:buFont typeface="Arial" pitchFamily="34" charset="0"/>
              <a:buNone/>
            </a:pPr>
            <a:endParaRPr lang="en-NZ" dirty="0" smtClean="0"/>
          </a:p>
          <a:p>
            <a:pPr lvl="0">
              <a:buFont typeface="Arial" pitchFamily="34" charset="0"/>
              <a:buNone/>
            </a:pPr>
            <a:r>
              <a:rPr lang="en-NZ" dirty="0" smtClean="0"/>
              <a:t>Logical I/O provides a general-purpose record I/O capability </a:t>
            </a:r>
          </a:p>
          <a:p>
            <a:pPr lvl="1">
              <a:buFont typeface="Arial" pitchFamily="34" charset="0"/>
              <a:buChar char="•"/>
            </a:pPr>
            <a:r>
              <a:rPr lang="en-NZ" dirty="0" smtClean="0"/>
              <a:t> and maintains basic data about files.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smtClean="0"/>
              <a:t>the access method </a:t>
            </a:r>
            <a:r>
              <a:rPr lang="en-NZ" b="0" dirty="0" smtClean="0"/>
              <a:t>is t</a:t>
            </a:r>
            <a:r>
              <a:rPr lang="en-NZ" dirty="0" smtClean="0"/>
              <a:t>he level of the file system closest to the user.</a:t>
            </a:r>
          </a:p>
          <a:p>
            <a:endParaRPr lang="en-NZ" dirty="0" smtClean="0"/>
          </a:p>
          <a:p>
            <a:r>
              <a:rPr lang="en-NZ" dirty="0" smtClean="0"/>
              <a:t>It provides a standard interface between applications and the file systems and devices that hold the data. </a:t>
            </a:r>
          </a:p>
          <a:p>
            <a:endParaRPr lang="en-NZ" dirty="0" smtClean="0"/>
          </a:p>
          <a:p>
            <a:r>
              <a:rPr lang="en-NZ" dirty="0" smtClean="0"/>
              <a:t>Different access methods reflect different file structures and different ways of accessing and processing the data.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dirty="0" smtClean="0"/>
              <a:t>Users and application programs interact with the file system by means of commands for creating and deleting files and for performing operations on files. </a:t>
            </a:r>
          </a:p>
          <a:p>
            <a:endParaRPr lang="en-NZ" dirty="0" smtClean="0"/>
          </a:p>
          <a:p>
            <a:r>
              <a:rPr lang="en-NZ" dirty="0" smtClean="0"/>
              <a:t>Before performing any operation, the file system must identify and locate the selected file. </a:t>
            </a:r>
          </a:p>
          <a:p>
            <a:pPr lvl="1">
              <a:buFont typeface="Arial" pitchFamily="34" charset="0"/>
              <a:buChar char="•"/>
            </a:pPr>
            <a:r>
              <a:rPr lang="en-NZ" dirty="0" smtClean="0"/>
              <a:t> This requires the use of some sort of directory that serves to describe the location of all files, plus their attributes. </a:t>
            </a:r>
          </a:p>
          <a:p>
            <a:pPr lvl="1">
              <a:buFont typeface="Arial" pitchFamily="34" charset="0"/>
              <a:buChar char="•"/>
            </a:pPr>
            <a:r>
              <a:rPr lang="en-NZ" dirty="0" smtClean="0"/>
              <a:t>In addition, most shared systems enforce user access control</a:t>
            </a:r>
          </a:p>
          <a:p>
            <a:pPr lvl="1">
              <a:buFont typeface="Arial" pitchFamily="34" charset="0"/>
              <a:buChar char="•"/>
            </a:pPr>
            <a:endParaRPr lang="en-NZ" dirty="0" smtClean="0"/>
          </a:p>
          <a:p>
            <a:r>
              <a:rPr lang="en-NZ" dirty="0" smtClean="0"/>
              <a:t>The basic operations that a user or application may perform on a file are performed at the record level. </a:t>
            </a:r>
          </a:p>
          <a:p>
            <a:pPr lvl="1">
              <a:buFont typeface="Arial" pitchFamily="34" charset="0"/>
              <a:buChar char="•"/>
            </a:pPr>
            <a:r>
              <a:rPr lang="en-NZ" dirty="0" smtClean="0"/>
              <a:t> The user or application views the file as having some structure that organizes the records, such as a sequential structure</a:t>
            </a:r>
          </a:p>
          <a:p>
            <a:pPr lvl="0">
              <a:buFont typeface="Arial" pitchFamily="34" charset="0"/>
              <a:buNone/>
            </a:pPr>
            <a:endParaRPr lang="en-NZ" dirty="0" smtClean="0"/>
          </a:p>
          <a:p>
            <a:pPr lvl="0">
              <a:buFont typeface="Arial" pitchFamily="34" charset="0"/>
              <a:buNone/>
            </a:pPr>
            <a:r>
              <a:rPr lang="en-NZ" dirty="0" smtClean="0"/>
              <a:t>The secondary storage must be managed.</a:t>
            </a:r>
          </a:p>
          <a:p>
            <a:pPr lvl="1">
              <a:buFont typeface="Arial" pitchFamily="34" charset="0"/>
              <a:buChar char="•"/>
            </a:pPr>
            <a:r>
              <a:rPr lang="en-NZ" dirty="0" smtClean="0"/>
              <a:t> This involves allocating files to free blocks on secondary storage and managing free storage so as to know what blocks are available for new files and growth in existing files. </a:t>
            </a:r>
          </a:p>
          <a:p>
            <a:pPr lvl="1">
              <a:buFont typeface="Arial" pitchFamily="34" charset="0"/>
              <a:buChar char="•"/>
            </a:pPr>
            <a:r>
              <a:rPr lang="en-NZ" dirty="0" smtClean="0"/>
              <a:t>In addition, individual block I/O requests must be scheduled</a:t>
            </a:r>
          </a:p>
          <a:p>
            <a:pPr lvl="0">
              <a:buFont typeface="Arial" pitchFamily="34" charset="0"/>
              <a:buNone/>
            </a:pPr>
            <a:endParaRPr lang="en-NZ" dirty="0" smtClean="0"/>
          </a:p>
          <a:p>
            <a:pPr lvl="0">
              <a:buFont typeface="Arial" pitchFamily="34" charset="0"/>
              <a:buNone/>
            </a:pPr>
            <a:r>
              <a:rPr lang="en-NZ" dirty="0" smtClean="0"/>
              <a:t>Disk scheduling and file allocation are both concerned with optimizing performance. </a:t>
            </a:r>
          </a:p>
          <a:p>
            <a:pPr lvl="0">
              <a:buFont typeface="Arial" pitchFamily="34" charset="0"/>
              <a:buNone/>
            </a:pPr>
            <a:endParaRPr lang="en-NZ" dirty="0" smtClean="0"/>
          </a:p>
          <a:p>
            <a:pPr lvl="0">
              <a:buFont typeface="Arial" pitchFamily="34" charset="0"/>
              <a:buNone/>
            </a:pPr>
            <a:r>
              <a:rPr lang="en-NZ" dirty="0" smtClean="0"/>
              <a:t>The optimization will depend on the structure of the files and the access patterns.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smtClean="0"/>
              <a:t>“file organization” </a:t>
            </a:r>
            <a:r>
              <a:rPr lang="en-NZ" dirty="0" smtClean="0"/>
              <a:t>refers to the logical structuring of the records as determined by the way in which they are accessed.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The relative priority of these criteria will depend on the applications that will use the file. </a:t>
            </a:r>
          </a:p>
          <a:p>
            <a:pPr lvl="1">
              <a:buFont typeface="Arial" pitchFamily="34" charset="0"/>
              <a:buChar char="•"/>
            </a:pPr>
            <a:r>
              <a:rPr lang="en-NZ" dirty="0" smtClean="0"/>
              <a:t> e.g. if a file is only to be processed in batch mode, with all of the records accessed every time, then rapid access for retrieval of a single record is of minimal concern.</a:t>
            </a:r>
          </a:p>
          <a:p>
            <a:pPr lvl="1">
              <a:buFont typeface="Arial" pitchFamily="34" charset="0"/>
              <a:buChar char="•"/>
            </a:pPr>
            <a:r>
              <a:rPr lang="en-NZ" dirty="0" smtClean="0"/>
              <a:t>A file stored on CD-ROM will never be updated, and so ease of update is not an issue.</a:t>
            </a:r>
          </a:p>
          <a:p>
            <a:pPr lvl="0">
              <a:buFont typeface="Arial" pitchFamily="34" charset="0"/>
              <a:buNone/>
            </a:pPr>
            <a:endParaRPr lang="en-NZ" dirty="0" smtClean="0"/>
          </a:p>
          <a:p>
            <a:pPr lvl="0">
              <a:buFont typeface="Arial" pitchFamily="34" charset="0"/>
              <a:buNone/>
            </a:pPr>
            <a:r>
              <a:rPr lang="en-NZ" dirty="0" smtClean="0"/>
              <a:t>These criteria may conflict.</a:t>
            </a:r>
          </a:p>
          <a:p>
            <a:pPr lvl="1">
              <a:buFont typeface="Arial" pitchFamily="34" charset="0"/>
              <a:buChar char="•"/>
            </a:pPr>
            <a:r>
              <a:rPr lang="en-NZ" baseline="0" dirty="0" smtClean="0"/>
              <a:t>E.g. </a:t>
            </a:r>
            <a:r>
              <a:rPr lang="en-NZ" dirty="0" smtClean="0"/>
              <a:t>for economy of storage, there should be minimum redundancy in the data, but redundancy is a primary means of increasing the speed of access to data (such as indexes.)</a:t>
            </a:r>
          </a:p>
          <a:p>
            <a:pPr lvl="1">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Most structures used in actual systems either fall into one of these categories or can be implemented with a combination of these organizations. </a:t>
            </a:r>
          </a:p>
          <a:p>
            <a:endParaRPr lang="en-NZ" dirty="0" smtClean="0"/>
          </a:p>
          <a:p>
            <a:r>
              <a:rPr lang="en-NZ" dirty="0" smtClean="0"/>
              <a:t>The five organizations are:</a:t>
            </a:r>
          </a:p>
          <a:p>
            <a:pPr lvl="1">
              <a:buFont typeface="Arial" pitchFamily="34" charset="0"/>
              <a:buChar char="•"/>
            </a:pPr>
            <a:r>
              <a:rPr lang="en-NZ" baseline="0" dirty="0" smtClean="0"/>
              <a:t> </a:t>
            </a:r>
            <a:r>
              <a:rPr lang="en-NZ" dirty="0" smtClean="0"/>
              <a:t>The pile</a:t>
            </a:r>
          </a:p>
          <a:p>
            <a:pPr lvl="1">
              <a:buFont typeface="Arial" pitchFamily="34" charset="0"/>
              <a:buChar char="•"/>
            </a:pPr>
            <a:r>
              <a:rPr lang="en-NZ" dirty="0" smtClean="0"/>
              <a:t> The sequential file</a:t>
            </a:r>
          </a:p>
          <a:p>
            <a:pPr lvl="1">
              <a:buFont typeface="Arial" pitchFamily="34" charset="0"/>
              <a:buChar char="•"/>
            </a:pPr>
            <a:r>
              <a:rPr lang="en-NZ" dirty="0" smtClean="0"/>
              <a:t> The indexed sequential file</a:t>
            </a:r>
          </a:p>
          <a:p>
            <a:pPr lvl="1">
              <a:buFont typeface="Arial" pitchFamily="34" charset="0"/>
              <a:buChar char="•"/>
            </a:pPr>
            <a:r>
              <a:rPr lang="en-NZ" dirty="0" smtClean="0"/>
              <a:t> The indexed file</a:t>
            </a:r>
          </a:p>
          <a:p>
            <a:pPr lvl="1">
              <a:buFont typeface="Arial" pitchFamily="34" charset="0"/>
              <a:buChar char="•"/>
            </a:pPr>
            <a:r>
              <a:rPr lang="en-NZ" dirty="0" smtClean="0"/>
              <a:t> The direct, or hashed, file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The least-complicated form of file organization may be termed the pile. </a:t>
            </a:r>
          </a:p>
          <a:p>
            <a:endParaRPr lang="en-NZ" dirty="0" smtClean="0"/>
          </a:p>
          <a:p>
            <a:r>
              <a:rPr lang="en-NZ" dirty="0" smtClean="0"/>
              <a:t>Data are collected in the order in which they arrive.</a:t>
            </a:r>
          </a:p>
          <a:p>
            <a:pPr lvl="1">
              <a:buFont typeface="Arial" pitchFamily="34" charset="0"/>
              <a:buChar char="•"/>
            </a:pPr>
            <a:r>
              <a:rPr lang="en-NZ" baseline="0" dirty="0" smtClean="0"/>
              <a:t> </a:t>
            </a:r>
            <a:r>
              <a:rPr lang="en-NZ" dirty="0" smtClean="0"/>
              <a:t>Each record consists of one burst of data.</a:t>
            </a:r>
          </a:p>
          <a:p>
            <a:pPr lvl="1">
              <a:buFont typeface="Arial" pitchFamily="34" charset="0"/>
              <a:buNone/>
            </a:pPr>
            <a:endParaRPr lang="en-NZ" dirty="0" smtClean="0"/>
          </a:p>
          <a:p>
            <a:r>
              <a:rPr lang="en-NZ" dirty="0" smtClean="0"/>
              <a:t>The purpose of the pile is simply to accumulate the mass of data and save it.</a:t>
            </a:r>
          </a:p>
          <a:p>
            <a:endParaRPr lang="en-NZ" dirty="0" smtClean="0"/>
          </a:p>
          <a:p>
            <a:r>
              <a:rPr lang="en-NZ" dirty="0" smtClean="0"/>
              <a:t>Records may have different fields, or similar fields in different orders.</a:t>
            </a:r>
          </a:p>
          <a:p>
            <a:pPr lvl="1">
              <a:buFont typeface="Arial" pitchFamily="34" charset="0"/>
              <a:buChar char="•"/>
            </a:pPr>
            <a:r>
              <a:rPr lang="en-NZ" dirty="0" smtClean="0"/>
              <a:t> Thus, each field should be self-describing, including a field name as well as a value.</a:t>
            </a:r>
          </a:p>
          <a:p>
            <a:pPr lvl="1">
              <a:buFont typeface="Arial" pitchFamily="34" charset="0"/>
              <a:buChar char="•"/>
            </a:pPr>
            <a:r>
              <a:rPr lang="en-NZ" dirty="0" smtClean="0"/>
              <a:t> The length of each field must be implicitly indicated by delimiters.</a:t>
            </a:r>
          </a:p>
          <a:p>
            <a:pPr lvl="1">
              <a:buFont typeface="Arial" pitchFamily="34" charset="0"/>
              <a:buChar char="•"/>
            </a:pPr>
            <a:endParaRPr lang="en-NZ" dirty="0" smtClean="0"/>
          </a:p>
          <a:p>
            <a:pPr lvl="0">
              <a:buFont typeface="Arial" pitchFamily="34" charset="0"/>
              <a:buNone/>
            </a:pPr>
            <a:r>
              <a:rPr lang="en-NZ" dirty="0" smtClean="0"/>
              <a:t>Because there is no structure to the pile file, record access is by exhaustive search.</a:t>
            </a:r>
          </a:p>
          <a:p>
            <a:pPr lvl="1">
              <a:buFont typeface="Arial" pitchFamily="34" charset="0"/>
              <a:buChar char="•"/>
            </a:pPr>
            <a:r>
              <a:rPr lang="en-NZ" dirty="0" smtClean="0"/>
              <a:t> ie , to find a record that contains a particular field with a particular value, it is necessary to examine each record in the pile until the desired record is found or the entire file has been searched. </a:t>
            </a:r>
          </a:p>
          <a:p>
            <a:pPr lvl="1">
              <a:buFont typeface="Arial" pitchFamily="34" charset="0"/>
              <a:buChar char="•"/>
            </a:pPr>
            <a:r>
              <a:rPr lang="en-NZ" dirty="0" smtClean="0"/>
              <a:t> to find all records that contain a particular field or contain that field with a particular value, then the entire file must be searched.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The most common form of file structure.</a:t>
            </a:r>
          </a:p>
          <a:p>
            <a:endParaRPr lang="en-NZ" dirty="0" smtClean="0"/>
          </a:p>
          <a:p>
            <a:r>
              <a:rPr lang="en-NZ" dirty="0" smtClean="0"/>
              <a:t>A fixed format is used for records.</a:t>
            </a:r>
          </a:p>
          <a:p>
            <a:endParaRPr lang="en-NZ" dirty="0" smtClean="0"/>
          </a:p>
          <a:p>
            <a:r>
              <a:rPr lang="en-NZ" dirty="0" smtClean="0"/>
              <a:t>All records are of the same length, consisting of the same number of fixed-length fields in a particular order.</a:t>
            </a:r>
          </a:p>
          <a:p>
            <a:pPr lvl="1">
              <a:buFont typeface="Arial" pitchFamily="34" charset="0"/>
              <a:buChar char="•"/>
            </a:pPr>
            <a:r>
              <a:rPr lang="en-NZ" dirty="0" smtClean="0"/>
              <a:t> Because the length and position of each field are known, only the values of fields need to be stored; </a:t>
            </a:r>
          </a:p>
          <a:p>
            <a:pPr lvl="1">
              <a:buFont typeface="Arial" pitchFamily="34" charset="0"/>
              <a:buChar char="•"/>
            </a:pPr>
            <a:r>
              <a:rPr lang="en-NZ" dirty="0" smtClean="0"/>
              <a:t> the field name and length for each field are attributes of the file structure.</a:t>
            </a:r>
          </a:p>
          <a:p>
            <a:pPr lvl="0">
              <a:buFont typeface="Arial" pitchFamily="34" charset="0"/>
              <a:buNone/>
            </a:pPr>
            <a:endParaRPr lang="en-NZ" dirty="0" smtClean="0"/>
          </a:p>
          <a:p>
            <a:pPr lvl="0">
              <a:buFont typeface="Arial" pitchFamily="34" charset="0"/>
              <a:buNone/>
            </a:pPr>
            <a:r>
              <a:rPr lang="en-NZ" dirty="0" smtClean="0"/>
              <a:t>The key field uniquely identifies the record; </a:t>
            </a:r>
          </a:p>
          <a:p>
            <a:pPr lvl="1">
              <a:buFont typeface="Arial" pitchFamily="34" charset="0"/>
              <a:buChar char="•"/>
            </a:pPr>
            <a:r>
              <a:rPr lang="en-NZ" dirty="0" smtClean="0"/>
              <a:t> thus key values for different records are always different. </a:t>
            </a:r>
          </a:p>
          <a:p>
            <a:pPr lvl="1">
              <a:buFont typeface="Arial" pitchFamily="34" charset="0"/>
              <a:buChar char="•"/>
            </a:pPr>
            <a:r>
              <a:rPr lang="en-NZ" dirty="0" smtClean="0"/>
              <a:t> The records are stored in key sequence: alphabetical order for a text key, and numerical order for a numerical key.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The indexed sequential file maintains the key characteristic of the sequential file: </a:t>
            </a:r>
          </a:p>
          <a:p>
            <a:pPr lvl="1">
              <a:buFont typeface="Arial" pitchFamily="34" charset="0"/>
              <a:buChar char="•"/>
            </a:pPr>
            <a:r>
              <a:rPr lang="en-NZ" dirty="0" smtClean="0"/>
              <a:t> records are organized in sequence based on a key field.</a:t>
            </a:r>
          </a:p>
          <a:p>
            <a:pPr lvl="0">
              <a:buFont typeface="Arial" pitchFamily="34" charset="0"/>
              <a:buNone/>
            </a:pPr>
            <a:endParaRPr lang="en-NZ" dirty="0" smtClean="0"/>
          </a:p>
          <a:p>
            <a:pPr lvl="0">
              <a:buFont typeface="Arial" pitchFamily="34" charset="0"/>
              <a:buNone/>
            </a:pPr>
            <a:r>
              <a:rPr lang="en-NZ" dirty="0" smtClean="0"/>
              <a:t>Two features are added: </a:t>
            </a:r>
          </a:p>
          <a:p>
            <a:pPr lvl="1">
              <a:buFont typeface="Arial" pitchFamily="34" charset="0"/>
              <a:buChar char="•"/>
            </a:pPr>
            <a:r>
              <a:rPr lang="en-NZ" dirty="0" smtClean="0"/>
              <a:t> an index to the file to support random access,</a:t>
            </a:r>
          </a:p>
          <a:p>
            <a:pPr lvl="1">
              <a:buFont typeface="Arial" pitchFamily="34" charset="0"/>
              <a:buChar char="•"/>
            </a:pPr>
            <a:r>
              <a:rPr lang="en-NZ" dirty="0" smtClean="0"/>
              <a:t> and an overflow file. </a:t>
            </a:r>
          </a:p>
          <a:p>
            <a:pPr lvl="0">
              <a:buFont typeface="Arial" pitchFamily="34" charset="0"/>
              <a:buNone/>
            </a:pPr>
            <a:endParaRPr lang="en-NZ" dirty="0" smtClean="0"/>
          </a:p>
          <a:p>
            <a:pPr lvl="0">
              <a:buFont typeface="Arial" pitchFamily="34" charset="0"/>
              <a:buNone/>
            </a:pPr>
            <a:r>
              <a:rPr lang="en-NZ" dirty="0" smtClean="0"/>
              <a:t>The index provides a lookup capability to reach quickly the vicinity of a desired record.</a:t>
            </a:r>
          </a:p>
          <a:p>
            <a:pPr lvl="0">
              <a:buFont typeface="Arial" pitchFamily="34" charset="0"/>
              <a:buNone/>
            </a:pPr>
            <a:endParaRPr lang="en-NZ" dirty="0" smtClean="0"/>
          </a:p>
          <a:p>
            <a:pPr lvl="0">
              <a:buFont typeface="Arial" pitchFamily="34" charset="0"/>
              <a:buNone/>
            </a:pPr>
            <a:r>
              <a:rPr lang="en-NZ" dirty="0" smtClean="0"/>
              <a:t>The overflow file is similar to the log file used with a sequential file </a:t>
            </a:r>
          </a:p>
          <a:p>
            <a:pPr lvl="1">
              <a:buFont typeface="Arial" pitchFamily="34" charset="0"/>
              <a:buChar char="•"/>
            </a:pPr>
            <a:r>
              <a:rPr lang="en-NZ" dirty="0" smtClean="0"/>
              <a:t> but is integrated so that a record in the overflow file is located by following a pointer from its predecessor record.</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In the general indexed file, the concept of sequentiality and a single key are abandoned. </a:t>
            </a:r>
          </a:p>
          <a:p>
            <a:endParaRPr lang="en-NZ" dirty="0" smtClean="0"/>
          </a:p>
          <a:p>
            <a:r>
              <a:rPr lang="en-NZ" dirty="0" smtClean="0"/>
              <a:t>Records are accessed only through their indexes. </a:t>
            </a:r>
          </a:p>
          <a:p>
            <a:pPr lvl="1">
              <a:buFont typeface="Arial" pitchFamily="34" charset="0"/>
              <a:buChar char="•"/>
            </a:pPr>
            <a:r>
              <a:rPr lang="en-NZ" dirty="0" smtClean="0"/>
              <a:t> now no restriction on the placement of records as long as a pointer in at least one index refers to that record. </a:t>
            </a:r>
          </a:p>
          <a:p>
            <a:pPr lvl="1">
              <a:buFont typeface="Arial" pitchFamily="34" charset="0"/>
              <a:buChar char="•"/>
            </a:pPr>
            <a:r>
              <a:rPr lang="en-NZ" dirty="0" smtClean="0"/>
              <a:t> variable-length records can be employed.</a:t>
            </a:r>
          </a:p>
          <a:p>
            <a:pPr lvl="1">
              <a:buFont typeface="Arial" pitchFamily="34" charset="0"/>
              <a:buChar char="•"/>
            </a:pPr>
            <a:endParaRPr lang="en-NZ" dirty="0" smtClean="0"/>
          </a:p>
          <a:p>
            <a:r>
              <a:rPr lang="en-NZ" dirty="0" smtClean="0"/>
              <a:t>Two types of indexes are used. </a:t>
            </a:r>
          </a:p>
          <a:p>
            <a:pPr lvl="1">
              <a:buFont typeface="Arial" pitchFamily="34" charset="0"/>
              <a:buChar char="•"/>
            </a:pPr>
            <a:r>
              <a:rPr lang="en-NZ" dirty="0" smtClean="0"/>
              <a:t> An exhaustive index contains one entry for every record in the main file. The index itself is organized as a sequential file for ease of searching.</a:t>
            </a:r>
          </a:p>
          <a:p>
            <a:pPr lvl="1">
              <a:buFont typeface="Arial" pitchFamily="34" charset="0"/>
              <a:buChar char="•"/>
            </a:pPr>
            <a:r>
              <a:rPr lang="en-NZ" dirty="0" smtClean="0"/>
              <a:t>A partial index contains entries to records where the field of interest exists.</a:t>
            </a:r>
          </a:p>
          <a:p>
            <a:pPr lvl="1">
              <a:buFont typeface="Arial" pitchFamily="34" charset="0"/>
              <a:buChar char="•"/>
            </a:pPr>
            <a:endParaRPr lang="en-NZ" dirty="0" smtClean="0"/>
          </a:p>
          <a:p>
            <a:r>
              <a:rPr lang="en-NZ" dirty="0" smtClean="0"/>
              <a:t>When a new record is added to the main file, all of the index files must be updated.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The directory contains information about the files, including attributes, location, and ownership. </a:t>
            </a:r>
          </a:p>
          <a:p>
            <a:pPr lvl="1">
              <a:buFont typeface="Arial" pitchFamily="34" charset="0"/>
              <a:buChar char="•"/>
            </a:pPr>
            <a:r>
              <a:rPr lang="en-NZ" dirty="0" smtClean="0"/>
              <a:t> Much of this information is managed by the operating system. </a:t>
            </a:r>
          </a:p>
          <a:p>
            <a:pPr lvl="0">
              <a:buFont typeface="Arial" pitchFamily="34" charset="0"/>
              <a:buNone/>
            </a:pPr>
            <a:endParaRPr lang="en-NZ" dirty="0" smtClean="0"/>
          </a:p>
          <a:p>
            <a:pPr lvl="0">
              <a:buFont typeface="Arial" pitchFamily="34" charset="0"/>
              <a:buNone/>
            </a:pPr>
            <a:r>
              <a:rPr lang="en-NZ" dirty="0" smtClean="0"/>
              <a:t>The directory is itself a file, accessible by various file management routines.</a:t>
            </a:r>
          </a:p>
          <a:p>
            <a:pPr lvl="1">
              <a:buFont typeface="Arial" pitchFamily="34" charset="0"/>
              <a:buChar char="•"/>
            </a:pPr>
            <a:r>
              <a:rPr lang="en-NZ" dirty="0" smtClean="0"/>
              <a:t> Although some of the information in directories is available to users and applications, this is generally provided indirectly by system routines.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From the user’s point of view, the directory provides a mapping between file names, known to users and applications, and the files themselves.</a:t>
            </a:r>
          </a:p>
          <a:p>
            <a:endParaRPr lang="en-NZ" dirty="0" smtClean="0"/>
          </a:p>
          <a:p>
            <a:r>
              <a:rPr lang="en-NZ" dirty="0" smtClean="0"/>
              <a:t>This, and the following slides, summarises table 12.2</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Records are the logical unit of access of a structured file,</a:t>
            </a:r>
          </a:p>
          <a:p>
            <a:endParaRPr lang="en-NZ" dirty="0" smtClean="0"/>
          </a:p>
          <a:p>
            <a:r>
              <a:rPr lang="en-NZ" dirty="0" smtClean="0"/>
              <a:t>Whereas blocks are the unit of I/O with secondary storage. For I/O to be performed,</a:t>
            </a:r>
          </a:p>
          <a:p>
            <a:r>
              <a:rPr lang="en-NZ" dirty="0" smtClean="0"/>
              <a:t>records must be organized as blocks.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1" dirty="0" smtClean="0"/>
              <a:t>Fixed blocking: </a:t>
            </a:r>
            <a:r>
              <a:rPr lang="en-NZ" dirty="0" smtClean="0"/>
              <a:t>Fixed-length records are used, and an integral number of records are stored in a block. </a:t>
            </a:r>
          </a:p>
          <a:p>
            <a:pPr lvl="1">
              <a:buFont typeface="Arial" pitchFamily="34" charset="0"/>
              <a:buChar char="•"/>
            </a:pPr>
            <a:r>
              <a:rPr lang="en-NZ" dirty="0" smtClean="0"/>
              <a:t> There may be unused space at the end of each block.</a:t>
            </a:r>
          </a:p>
          <a:p>
            <a:pPr lvl="1">
              <a:buFont typeface="Arial" pitchFamily="34" charset="0"/>
              <a:buChar char="•"/>
            </a:pPr>
            <a:r>
              <a:rPr lang="en-NZ" dirty="0" smtClean="0"/>
              <a:t> This is referred to as </a:t>
            </a:r>
            <a:r>
              <a:rPr lang="en-NZ" b="1" dirty="0" smtClean="0"/>
              <a:t>internal fragmentation.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Variable-length records are used and are packed into blocks with no unused space. </a:t>
            </a:r>
          </a:p>
          <a:p>
            <a:endParaRPr lang="en-NZ" dirty="0" smtClean="0"/>
          </a:p>
          <a:p>
            <a:r>
              <a:rPr lang="en-NZ" dirty="0" smtClean="0"/>
              <a:t>Thus, some records must span two blocks, with the continuation indicated by a pointer to the successor block.</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Variable-length records are used, but spanning is not employed.</a:t>
            </a:r>
          </a:p>
          <a:p>
            <a:endParaRPr lang="en-NZ" dirty="0" smtClean="0"/>
          </a:p>
          <a:p>
            <a:r>
              <a:rPr lang="en-NZ" dirty="0" smtClean="0"/>
              <a:t>There is wasted space in most blocks because of the inability to use the remainder of a block if the next record is larger than the remaining unused space.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On secondary storage, a file consists of a collection of blocks.</a:t>
            </a:r>
          </a:p>
          <a:p>
            <a:pPr lvl="1">
              <a:buFont typeface="Arial" pitchFamily="34" charset="0"/>
              <a:buChar char="•"/>
            </a:pPr>
            <a:r>
              <a:rPr lang="en-NZ" dirty="0" smtClean="0"/>
              <a:t> The operating system or file management system is responsible for allocating blocks to files. </a:t>
            </a:r>
          </a:p>
          <a:p>
            <a:pPr lvl="0">
              <a:buFont typeface="Arial" pitchFamily="34" charset="0"/>
              <a:buNone/>
            </a:pPr>
            <a:endParaRPr lang="en-NZ" dirty="0" smtClean="0"/>
          </a:p>
          <a:p>
            <a:pPr lvl="0">
              <a:buFont typeface="Arial" pitchFamily="34" charset="0"/>
              <a:buNone/>
            </a:pPr>
            <a:r>
              <a:rPr lang="en-NZ" dirty="0" smtClean="0"/>
              <a:t>This raises two management issues. </a:t>
            </a:r>
          </a:p>
          <a:p>
            <a:pPr lvl="1">
              <a:buFont typeface="Arial" pitchFamily="34" charset="0"/>
              <a:buChar char="•"/>
            </a:pPr>
            <a:r>
              <a:rPr lang="en-NZ" dirty="0" smtClean="0"/>
              <a:t> First, space on secondary storage must be allocated to files,</a:t>
            </a:r>
          </a:p>
          <a:p>
            <a:pPr lvl="1">
              <a:buFont typeface="Arial" pitchFamily="34" charset="0"/>
              <a:buChar char="•"/>
            </a:pPr>
            <a:r>
              <a:rPr lang="en-NZ" dirty="0" smtClean="0"/>
              <a:t> second, it is necessary to keep track of the space available for allocation.</a:t>
            </a:r>
          </a:p>
          <a:p>
            <a:pPr lvl="1">
              <a:buFont typeface="Arial" pitchFamily="34" charset="0"/>
              <a:buNone/>
            </a:pP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r>
              <a:rPr lang="en-NZ" dirty="0" smtClean="0"/>
              <a:t>When a new file is created, is the maximum space required for the file allocated at once?</a:t>
            </a:r>
          </a:p>
          <a:p>
            <a:pPr marL="228600" indent="-228600">
              <a:buAutoNum type="arabicPeriod"/>
            </a:pPr>
            <a:endParaRPr lang="en-NZ" dirty="0" smtClean="0"/>
          </a:p>
          <a:p>
            <a:r>
              <a:rPr lang="en-NZ" dirty="0" smtClean="0"/>
              <a:t>2. Space is allocated to a file as one or more contiguous units, which we shall refer to as portions.</a:t>
            </a:r>
          </a:p>
          <a:p>
            <a:pPr lvl="1">
              <a:buFont typeface="Arial" pitchFamily="34" charset="0"/>
              <a:buChar char="•"/>
            </a:pPr>
            <a:r>
              <a:rPr lang="en-NZ" dirty="0" smtClean="0"/>
              <a:t> That is, a portion is a contiguous set of allocated blocks.</a:t>
            </a:r>
          </a:p>
          <a:p>
            <a:pPr lvl="1">
              <a:buFont typeface="Arial" pitchFamily="34" charset="0"/>
              <a:buChar char="•"/>
            </a:pPr>
            <a:r>
              <a:rPr lang="en-NZ" dirty="0" smtClean="0"/>
              <a:t> The size of a portion can range from a single block to the entire file.</a:t>
            </a:r>
          </a:p>
          <a:p>
            <a:pPr lvl="1">
              <a:buFont typeface="Arial" pitchFamily="34" charset="0"/>
              <a:buChar char="•"/>
            </a:pPr>
            <a:r>
              <a:rPr lang="en-NZ" baseline="0" dirty="0" smtClean="0"/>
              <a:t> </a:t>
            </a:r>
            <a:r>
              <a:rPr lang="en-NZ" dirty="0" smtClean="0"/>
              <a:t>What size of portion should be used for file allocation?</a:t>
            </a:r>
          </a:p>
          <a:p>
            <a:pPr lvl="1">
              <a:buFont typeface="Arial" pitchFamily="34" charset="0"/>
              <a:buChar char="•"/>
            </a:pPr>
            <a:endParaRPr lang="en-NZ" dirty="0" smtClean="0"/>
          </a:p>
          <a:p>
            <a:r>
              <a:rPr lang="en-NZ" dirty="0" smtClean="0"/>
              <a:t>3. What sort of data structure or table is used to keep track of the portions assigned to a file? </a:t>
            </a:r>
          </a:p>
          <a:p>
            <a:pPr lvl="1">
              <a:buFont typeface="Arial" pitchFamily="34" charset="0"/>
              <a:buChar char="•"/>
            </a:pPr>
            <a:r>
              <a:rPr lang="en-NZ" dirty="0" smtClean="0"/>
              <a:t> An example of such a structure is a file allocation table (FAT), found on DOS and some other systems.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A preallocation policy requires that the maximum size of a file be declared at the time of the file creation request.</a:t>
            </a:r>
          </a:p>
          <a:p>
            <a:endParaRPr lang="en-NZ" dirty="0" smtClean="0"/>
          </a:p>
          <a:p>
            <a:r>
              <a:rPr lang="en-NZ" dirty="0" smtClean="0"/>
              <a:t>Sometimes such as program compilations, the production of summary data files, or the transfer of a file from another system over a communications network, this value can be reliably estimated. </a:t>
            </a:r>
          </a:p>
          <a:p>
            <a:pPr lvl="1">
              <a:buFont typeface="Arial" pitchFamily="34" charset="0"/>
              <a:buChar char="•"/>
            </a:pPr>
            <a:r>
              <a:rPr lang="en-NZ" dirty="0" smtClean="0"/>
              <a:t> But usually it is difficult if not impossible to estimate reliably the maximum potential size of the file. </a:t>
            </a:r>
          </a:p>
          <a:p>
            <a:pPr lvl="1">
              <a:buFont typeface="Arial" pitchFamily="34" charset="0"/>
              <a:buChar char="•"/>
            </a:pPr>
            <a:r>
              <a:rPr lang="en-NZ" dirty="0" smtClean="0"/>
              <a:t> In those cases, users and application programmers would tend to overestimate file size,</a:t>
            </a:r>
            <a:r>
              <a:rPr lang="en-NZ" baseline="0" dirty="0" smtClean="0"/>
              <a:t> leading to wasted space</a:t>
            </a:r>
            <a:endParaRPr lang="en-NZ" dirty="0" smtClean="0"/>
          </a:p>
          <a:p>
            <a:pPr lvl="0">
              <a:buFont typeface="Arial" pitchFamily="34" charset="0"/>
              <a:buNone/>
            </a:pPr>
            <a:endParaRPr lang="en-NZ" dirty="0" smtClean="0"/>
          </a:p>
          <a:p>
            <a:pPr lvl="0">
              <a:buFont typeface="Arial" pitchFamily="34" charset="0"/>
              <a:buNone/>
            </a:pPr>
            <a:r>
              <a:rPr lang="en-NZ" dirty="0" smtClean="0"/>
              <a:t>Thus, there are advantages to the use of dynamic allocation, which allocates space to a file in portions as needed.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At one extreme, a portion large enough to hold the entire file is allocated.</a:t>
            </a:r>
          </a:p>
          <a:p>
            <a:endParaRPr lang="en-NZ" dirty="0" smtClean="0"/>
          </a:p>
          <a:p>
            <a:r>
              <a:rPr lang="en-NZ" dirty="0" smtClean="0"/>
              <a:t>Space on the disk is allocated one block at a time. </a:t>
            </a:r>
          </a:p>
          <a:p>
            <a:endParaRPr lang="en-NZ" dirty="0" smtClean="0"/>
          </a:p>
          <a:p>
            <a:r>
              <a:rPr lang="en-NZ" dirty="0" smtClean="0"/>
              <a:t>In choosing a portion size, there is a tradeoff between efficiency from the point of view of a single file versus overall system efficiency.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A single contiguous set of blocks is allocated to a file at the time of file creation </a:t>
            </a:r>
          </a:p>
          <a:p>
            <a:pPr lvl="1">
              <a:buFont typeface="Arial" pitchFamily="34" charset="0"/>
              <a:buChar char="•"/>
            </a:pPr>
            <a:r>
              <a:rPr lang="en-NZ" dirty="0" smtClean="0"/>
              <a:t> This is a preallocation strategy, using variable-size portions.</a:t>
            </a:r>
          </a:p>
          <a:p>
            <a:pPr lvl="1">
              <a:buFont typeface="Arial" pitchFamily="34" charset="0"/>
              <a:buChar char="•"/>
            </a:pPr>
            <a:endParaRPr lang="en-NZ" dirty="0" smtClean="0"/>
          </a:p>
          <a:p>
            <a:pPr lvl="0">
              <a:buFont typeface="Arial" pitchFamily="34" charset="0"/>
              <a:buNone/>
            </a:pPr>
            <a:r>
              <a:rPr lang="en-NZ" dirty="0" smtClean="0"/>
              <a:t> The file allocation table needs just a single entry for each file, showing the starting block and the length of the file. </a:t>
            </a:r>
          </a:p>
          <a:p>
            <a:pPr lvl="0">
              <a:buFont typeface="Arial" pitchFamily="34" charset="0"/>
              <a:buNone/>
            </a:pPr>
            <a:endParaRPr lang="en-NZ" dirty="0" smtClean="0"/>
          </a:p>
          <a:p>
            <a:pPr lvl="0">
              <a:buFont typeface="Arial" pitchFamily="34" charset="0"/>
              <a:buNone/>
            </a:pPr>
            <a:r>
              <a:rPr lang="en-NZ" dirty="0" smtClean="0"/>
              <a:t>Contiguous allocation is the best from the point of view of the individual sequential file. </a:t>
            </a:r>
          </a:p>
          <a:p>
            <a:pPr lvl="1">
              <a:buFont typeface="Arial" pitchFamily="34" charset="0"/>
              <a:buChar char="•"/>
            </a:pPr>
            <a:r>
              <a:rPr lang="en-NZ" dirty="0" smtClean="0"/>
              <a:t>Multiple blocks can be read in at a time to improve I/O performance for sequential processing.</a:t>
            </a:r>
          </a:p>
          <a:p>
            <a:pPr lvl="1">
              <a:buFont typeface="Arial" pitchFamily="34" charset="0"/>
              <a:buChar char="•"/>
            </a:pPr>
            <a:r>
              <a:rPr lang="en-NZ" dirty="0" smtClean="0"/>
              <a:t>It is also easy to retrieve a single block.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External fragmentation will occur, making it difficult to find contiguous blocks of space of sufficient length. </a:t>
            </a:r>
          </a:p>
          <a:p>
            <a:endParaRPr lang="en-NZ" dirty="0" smtClean="0"/>
          </a:p>
          <a:p>
            <a:r>
              <a:rPr lang="en-NZ" dirty="0" smtClean="0"/>
              <a:t>From time to time, it will be necessary to perform a compaction algorithm to free up additional space on the disk.</a:t>
            </a:r>
          </a:p>
          <a:p>
            <a:endParaRPr lang="en-NZ" dirty="0" smtClean="0"/>
          </a:p>
          <a:p>
            <a:r>
              <a:rPr lang="en-NZ" dirty="0" smtClean="0"/>
              <a:t>Also, with preallocation, it is necessary to declare the size of the file at the time of creation, with the problems mentioned earlier.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Typically, allocation is on an individual block basis.</a:t>
            </a:r>
          </a:p>
          <a:p>
            <a:pPr lvl="1">
              <a:buFont typeface="Arial" pitchFamily="34" charset="0"/>
              <a:buChar char="•"/>
            </a:pPr>
            <a:r>
              <a:rPr lang="en-NZ" dirty="0" smtClean="0"/>
              <a:t>Each block contains a pointer to the next block in the chain.</a:t>
            </a:r>
          </a:p>
          <a:p>
            <a:pPr lvl="1">
              <a:buFont typeface="Arial" pitchFamily="34" charset="0"/>
              <a:buChar char="•"/>
            </a:pPr>
            <a:endParaRPr lang="en-NZ" dirty="0" smtClean="0"/>
          </a:p>
          <a:p>
            <a:pPr lvl="0">
              <a:buFont typeface="Arial" pitchFamily="34" charset="0"/>
              <a:buNone/>
            </a:pPr>
            <a:r>
              <a:rPr lang="en-NZ" dirty="0" smtClean="0"/>
              <a:t>The file allocation table needs just a single entry for each file, showing the starting block and the length of the file.</a:t>
            </a:r>
          </a:p>
          <a:p>
            <a:pPr lvl="0">
              <a:buFont typeface="Arial" pitchFamily="34" charset="0"/>
              <a:buNone/>
            </a:pPr>
            <a:endParaRPr lang="en-NZ" dirty="0" smtClean="0"/>
          </a:p>
          <a:p>
            <a:r>
              <a:rPr lang="en-NZ" dirty="0" smtClean="0"/>
              <a:t>Although preallocation is possible, it is more common simply to allocate blocks as needed.</a:t>
            </a:r>
          </a:p>
          <a:p>
            <a:pPr lvl="1">
              <a:buFont typeface="Arial" pitchFamily="34" charset="0"/>
              <a:buChar char="•"/>
            </a:pPr>
            <a:r>
              <a:rPr lang="en-NZ" dirty="0" smtClean="0"/>
              <a:t> The selection of blocks is now a simple matter: any free block can be added to a chain. </a:t>
            </a:r>
          </a:p>
          <a:p>
            <a:pPr lvl="1">
              <a:buFont typeface="Arial" pitchFamily="34" charset="0"/>
              <a:buChar char="•"/>
            </a:pPr>
            <a:r>
              <a:rPr lang="en-NZ" dirty="0" smtClean="0"/>
              <a:t> There is no external fragmentation to worry about because only one block at a time is needed.</a:t>
            </a:r>
          </a:p>
          <a:p>
            <a:pPr lvl="0">
              <a:buFont typeface="Arial" pitchFamily="34" charset="0"/>
              <a:buNone/>
            </a:pPr>
            <a:endParaRPr lang="en-NZ" dirty="0" smtClean="0"/>
          </a:p>
          <a:p>
            <a:pPr lvl="0">
              <a:buFont typeface="Arial" pitchFamily="34" charset="0"/>
              <a:buNone/>
            </a:pPr>
            <a:r>
              <a:rPr lang="en-NZ" dirty="0" smtClean="0"/>
              <a:t>This type of physical organization is best suited to sequential files that are to be processed sequentially.</a:t>
            </a:r>
          </a:p>
          <a:p>
            <a:pPr lvl="1">
              <a:buFont typeface="Arial" pitchFamily="34" charset="0"/>
              <a:buChar char="•"/>
            </a:pPr>
            <a:r>
              <a:rPr lang="en-NZ" dirty="0" smtClean="0"/>
              <a:t> To select an individual block of a file requires tracing through the chain to the desired block.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One consequence of chaining, is that there is no accommodation of the principle of locality.</a:t>
            </a:r>
          </a:p>
          <a:p>
            <a:endParaRPr lang="en-NZ" dirty="0" smtClean="0"/>
          </a:p>
          <a:p>
            <a:r>
              <a:rPr lang="en-NZ" dirty="0" smtClean="0"/>
              <a:t>If it is necessary to bring in several blocks of a file at a time, as in sequential processing, then a series of accesses to different parts of the disk are required. </a:t>
            </a:r>
          </a:p>
          <a:p>
            <a:pPr lvl="1">
              <a:buFont typeface="Arial" pitchFamily="34" charset="0"/>
              <a:buChar char="•"/>
            </a:pPr>
            <a:r>
              <a:rPr lang="en-NZ" dirty="0" smtClean="0"/>
              <a:t>This is perhaps a more significant effect on a single-user system but may also be of concern on a shared system. </a:t>
            </a:r>
          </a:p>
          <a:p>
            <a:pPr lvl="1">
              <a:buFont typeface="Arial" pitchFamily="34" charset="0"/>
              <a:buChar char="•"/>
            </a:pPr>
            <a:r>
              <a:rPr lang="en-NZ" dirty="0" smtClean="0"/>
              <a:t> To overcome this problem, some systems periodically consolidate files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This addresses many of the problems of contiguous and chained allocation. </a:t>
            </a:r>
          </a:p>
          <a:p>
            <a:endParaRPr lang="en-NZ" dirty="0" smtClean="0"/>
          </a:p>
          <a:p>
            <a:r>
              <a:rPr lang="en-NZ" dirty="0" smtClean="0"/>
              <a:t>In this case, the file allocation table contains a separate one-level index for each file; </a:t>
            </a:r>
          </a:p>
          <a:p>
            <a:pPr lvl="1">
              <a:buFont typeface="Arial" pitchFamily="34" charset="0"/>
              <a:buChar char="•"/>
            </a:pPr>
            <a:r>
              <a:rPr lang="en-NZ" dirty="0" smtClean="0"/>
              <a:t> the index has one entry for each portion allocated to the file.</a:t>
            </a:r>
          </a:p>
          <a:p>
            <a:pPr lvl="0">
              <a:buFont typeface="Arial" pitchFamily="34" charset="0"/>
              <a:buNone/>
            </a:pPr>
            <a:endParaRPr lang="en-NZ" dirty="0" smtClean="0"/>
          </a:p>
          <a:p>
            <a:pPr lvl="0">
              <a:buFont typeface="Arial" pitchFamily="34" charset="0"/>
              <a:buNone/>
            </a:pPr>
            <a:r>
              <a:rPr lang="en-NZ" dirty="0" smtClean="0"/>
              <a:t>Typically, the file indexes are not physically stored as part of the file allocation table. </a:t>
            </a:r>
          </a:p>
          <a:p>
            <a:pPr lvl="1">
              <a:buFont typeface="Arial" pitchFamily="34" charset="0"/>
              <a:buChar char="•"/>
            </a:pPr>
            <a:r>
              <a:rPr lang="en-NZ" dirty="0" smtClean="0"/>
              <a:t> Rather, the file index for a file is kept in a separate block, and the entry for the file in the file allocation table points to that block.</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None/>
            </a:pPr>
            <a:r>
              <a:rPr lang="en-NZ" dirty="0" smtClean="0"/>
              <a:t>Allocation may be on the basis of either</a:t>
            </a:r>
          </a:p>
          <a:p>
            <a:pPr lvl="1">
              <a:buFont typeface="Arial" pitchFamily="34" charset="0"/>
              <a:buChar char="•"/>
            </a:pPr>
            <a:r>
              <a:rPr lang="en-NZ" dirty="0" smtClean="0"/>
              <a:t> fixed-size blocks or </a:t>
            </a:r>
          </a:p>
          <a:p>
            <a:pPr lvl="1">
              <a:buFont typeface="Arial" pitchFamily="34" charset="0"/>
              <a:buChar char="•"/>
            </a:pPr>
            <a:r>
              <a:rPr lang="en-NZ" dirty="0" smtClean="0"/>
              <a:t>variable-size portions </a:t>
            </a:r>
          </a:p>
          <a:p>
            <a:pPr lvl="0">
              <a:buFont typeface="Arial" pitchFamily="34" charset="0"/>
              <a:buNone/>
            </a:pPr>
            <a:endParaRPr lang="en-NZ" dirty="0" smtClean="0"/>
          </a:p>
          <a:p>
            <a:pPr lvl="0">
              <a:buFont typeface="Arial" pitchFamily="34" charset="0"/>
              <a:buNone/>
            </a:pPr>
            <a:r>
              <a:rPr lang="en-NZ" dirty="0" smtClean="0"/>
              <a:t>Allocation by blocks eliminates external fragmentation, </a:t>
            </a:r>
          </a:p>
          <a:p>
            <a:pPr lvl="1">
              <a:buFont typeface="Arial" pitchFamily="34" charset="0"/>
              <a:buChar char="•"/>
            </a:pPr>
            <a:r>
              <a:rPr lang="en-NZ" dirty="0" smtClean="0"/>
              <a:t> whereas allocation by variable-size portions improves locality. </a:t>
            </a:r>
          </a:p>
          <a:p>
            <a:pPr lvl="0">
              <a:buFont typeface="Arial" pitchFamily="34" charset="0"/>
              <a:buNone/>
            </a:pPr>
            <a:endParaRPr lang="en-NZ" dirty="0" smtClean="0"/>
          </a:p>
          <a:p>
            <a:pPr lvl="0">
              <a:buFont typeface="Arial" pitchFamily="34" charset="0"/>
              <a:buNone/>
            </a:pPr>
            <a:r>
              <a:rPr lang="en-NZ" dirty="0" smtClean="0"/>
              <a:t>In either case, file consolidation may be done from time to time. </a:t>
            </a:r>
          </a:p>
          <a:p>
            <a:pPr lvl="1">
              <a:buFont typeface="Arial" pitchFamily="34" charset="0"/>
              <a:buChar char="•"/>
            </a:pPr>
            <a:r>
              <a:rPr lang="en-NZ" dirty="0" smtClean="0"/>
              <a:t> File consolidation reduces the size of the index in the case of variable-size portions, but not in the case of block allocation. </a:t>
            </a:r>
          </a:p>
          <a:p>
            <a:pPr lvl="0">
              <a:buFont typeface="Arial" pitchFamily="34" charset="0"/>
              <a:buNone/>
            </a:pPr>
            <a:endParaRPr lang="en-NZ" dirty="0" smtClean="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Just as the space that is allocated to files must be managed, so the space that is not currently allocated to any file must be managed. </a:t>
            </a:r>
          </a:p>
          <a:p>
            <a:endParaRPr lang="en-NZ" dirty="0" smtClean="0"/>
          </a:p>
          <a:p>
            <a:r>
              <a:rPr lang="en-NZ" dirty="0" smtClean="0"/>
              <a:t>To perform any of the file allocation techniques described previously, it is necessary to know what blocks on the disk are available. </a:t>
            </a:r>
          </a:p>
          <a:p>
            <a:endParaRPr lang="en-NZ" dirty="0" smtClean="0"/>
          </a:p>
          <a:p>
            <a:r>
              <a:rPr lang="en-NZ" dirty="0" smtClean="0"/>
              <a:t>Thus we need a disk allocation table in addition to a file allocation table.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This method uses a vector containing one bit for each block on the disk. </a:t>
            </a:r>
          </a:p>
          <a:p>
            <a:pPr lvl="1">
              <a:buFont typeface="Arial" pitchFamily="34" charset="0"/>
              <a:buChar char="•"/>
            </a:pPr>
            <a:r>
              <a:rPr lang="en-NZ" dirty="0" smtClean="0"/>
              <a:t> Each entry of a 0 corresponds to a free block, and each 1 corresponds to a block in use.</a:t>
            </a:r>
          </a:p>
          <a:p>
            <a:endParaRPr lang="en-NZ" dirty="0" smtClean="0"/>
          </a:p>
          <a:p>
            <a:r>
              <a:rPr lang="en-NZ" dirty="0" smtClean="0"/>
              <a:t>A bit table has the advantage that it is relatively easy to find one or a contiguous group of free blocks. </a:t>
            </a:r>
          </a:p>
          <a:p>
            <a:pPr lvl="1">
              <a:buFont typeface="Arial" pitchFamily="34" charset="0"/>
              <a:buChar char="•"/>
            </a:pPr>
            <a:r>
              <a:rPr lang="en-NZ" dirty="0" smtClean="0"/>
              <a:t> Thus, a bit table works well with any of the file allocation methods outlined. </a:t>
            </a:r>
          </a:p>
          <a:p>
            <a:pPr lvl="1">
              <a:buFont typeface="Arial" pitchFamily="34" charset="0"/>
              <a:buChar char="•"/>
            </a:pPr>
            <a:r>
              <a:rPr lang="en-NZ" dirty="0" smtClean="0"/>
              <a:t> Another advantage is that it is as small as possible.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64</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NZ" dirty="0" smtClean="0"/>
              <a:t>The free portions may be chained together by using a pointer and length value in each free portion. </a:t>
            </a:r>
          </a:p>
          <a:p>
            <a:endParaRPr lang="en-NZ" dirty="0" smtClean="0"/>
          </a:p>
          <a:p>
            <a:r>
              <a:rPr lang="en-NZ" dirty="0" smtClean="0"/>
              <a:t>This method has negligible space overhead because there is no need for a disk allocation table, merely for a pointer to the beginning of the chain and the length of the first portion. </a:t>
            </a:r>
          </a:p>
          <a:p>
            <a:endParaRPr lang="en-NZ" dirty="0" smtClean="0"/>
          </a:p>
          <a:p>
            <a:r>
              <a:rPr lang="en-NZ" dirty="0" smtClean="0"/>
              <a:t>This method is suited to all of the file allocation methods. </a:t>
            </a:r>
          </a:p>
          <a:p>
            <a:pPr lvl="1">
              <a:buFont typeface="Arial" pitchFamily="34" charset="0"/>
              <a:buChar char="•"/>
            </a:pPr>
            <a:r>
              <a:rPr lang="en-NZ" dirty="0" smtClean="0"/>
              <a:t> If allocation is a block at a time, simply choose the free block at the head of the chain and adjust the first pointer or length value. </a:t>
            </a:r>
          </a:p>
          <a:p>
            <a:pPr lvl="1">
              <a:buFont typeface="Arial" pitchFamily="34" charset="0"/>
              <a:buChar char="•"/>
            </a:pPr>
            <a:r>
              <a:rPr lang="en-NZ" dirty="0" smtClean="0"/>
              <a:t> If allocation is by variable-length portion, a first-fit algorithm may be used: The headers from the portions are fetched one at a time to determine the next suitable free portion in the chain. Again, pointer and length values are adjusted.</a:t>
            </a:r>
          </a:p>
          <a:p>
            <a:pPr lvl="1">
              <a:buFont typeface="Arial" pitchFamily="34" charset="0"/>
              <a:buChar char="•"/>
            </a:pPr>
            <a:endParaRPr lang="en-NZ" dirty="0" smtClean="0"/>
          </a:p>
          <a:p>
            <a:r>
              <a:rPr lang="en-NZ" dirty="0" smtClean="0"/>
              <a:t>This method has its own problems.</a:t>
            </a:r>
          </a:p>
          <a:p>
            <a:pPr lvl="1">
              <a:buFont typeface="Arial" pitchFamily="34" charset="0"/>
              <a:buChar char="•"/>
            </a:pPr>
            <a:r>
              <a:rPr lang="en-NZ" dirty="0" smtClean="0"/>
              <a:t> After some use, the disk will become quite fragmented and many portions will be a single block long. </a:t>
            </a:r>
          </a:p>
          <a:p>
            <a:pPr lvl="1">
              <a:buFont typeface="Arial" pitchFamily="34" charset="0"/>
              <a:buChar char="•"/>
            </a:pPr>
            <a:r>
              <a:rPr lang="en-NZ" dirty="0" smtClean="0"/>
              <a:t> Also note that every time you allocate a block, you need to read the block first to recover the pointer to the new first free block before writing data to that block. If many individual blocks need to be allocated at one time for a file operation, this greatly slows file creation</a:t>
            </a:r>
          </a:p>
          <a:p>
            <a:pPr lvl="1">
              <a:buFont typeface="Arial" pitchFamily="34" charset="0"/>
              <a:buChar char="•"/>
            </a:pPr>
            <a:r>
              <a:rPr lang="en-NZ" dirty="0" smtClean="0"/>
              <a:t> Similarly, deleting highly fragmented files is very time consuming.</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The indexing approach treats free space as a file and uses an index table as described under file allocation.</a:t>
            </a:r>
          </a:p>
          <a:p>
            <a:endParaRPr lang="en-NZ" dirty="0" smtClean="0"/>
          </a:p>
          <a:p>
            <a:r>
              <a:rPr lang="en-NZ" dirty="0" smtClean="0"/>
              <a:t>For efficiency, the index should be on the basis of variable-size portions rather than blocks.</a:t>
            </a:r>
          </a:p>
          <a:p>
            <a:pPr lvl="1">
              <a:buFont typeface="Arial" pitchFamily="34" charset="0"/>
              <a:buChar char="•"/>
            </a:pPr>
            <a:r>
              <a:rPr lang="en-NZ" dirty="0" smtClean="0"/>
              <a:t> Thus, there is one entry in the table for every free portion on the disk.</a:t>
            </a:r>
          </a:p>
          <a:p>
            <a:pPr lvl="1">
              <a:buFont typeface="Arial" pitchFamily="34" charset="0"/>
              <a:buChar char="•"/>
            </a:pPr>
            <a:r>
              <a:rPr lang="en-NZ" dirty="0" smtClean="0"/>
              <a:t> This approach provides efficient support for all of the file allocation methods.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66</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In this method, each block is assigned a number sequentially and the list of the numbers of all free blocks is maintained in a reserved portion of</a:t>
            </a:r>
          </a:p>
          <a:p>
            <a:r>
              <a:rPr lang="en-NZ" dirty="0" smtClean="0"/>
              <a:t>the disk. </a:t>
            </a:r>
          </a:p>
          <a:p>
            <a:endParaRPr lang="en-NZ" dirty="0" smtClean="0"/>
          </a:p>
          <a:p>
            <a:r>
              <a:rPr lang="en-NZ" dirty="0" smtClean="0"/>
              <a:t>Depending on the size of the disk, either 24 or 32 bits will be needed to store a single block number, so the size of the free block list is 24 or 32 times the size of the corresponding bit table and thus must be stored on disk rather than in main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The term volume is used somewhat differently by different operating systems and file management systems, but in essence a volume is a logical disk.</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Following successful logon, the user has been granted access to one or a set of hosts and applications. </a:t>
            </a:r>
          </a:p>
          <a:p>
            <a:pPr lvl="1"/>
            <a:endParaRPr lang="en-NZ" dirty="0" smtClean="0"/>
          </a:p>
          <a:p>
            <a:r>
              <a:rPr lang="en-NZ" dirty="0" smtClean="0"/>
              <a:t>Through the user access control procedure, a user can be identified to the system. </a:t>
            </a:r>
          </a:p>
          <a:p>
            <a:pPr lvl="1">
              <a:buFont typeface="Arial" pitchFamily="34" charset="0"/>
              <a:buChar char="•"/>
            </a:pPr>
            <a:r>
              <a:rPr lang="en-NZ" dirty="0" smtClean="0"/>
              <a:t> Associated with each user, there can be a profile that specifies permissible operations and file accesses. </a:t>
            </a:r>
          </a:p>
          <a:p>
            <a:pPr lvl="1">
              <a:buFont typeface="Arial" pitchFamily="34" charset="0"/>
              <a:buChar char="•"/>
            </a:pPr>
            <a:r>
              <a:rPr lang="en-NZ" dirty="0" smtClean="0"/>
              <a:t> The operating system can then enforce rules based on the user profile.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71</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One dimension of the matrix consists of identified subjects that may attempt data access.</a:t>
            </a:r>
          </a:p>
          <a:p>
            <a:pPr lvl="1">
              <a:buFont typeface="Arial" pitchFamily="34" charset="0"/>
              <a:buChar char="•"/>
            </a:pPr>
            <a:r>
              <a:rPr lang="en-NZ" dirty="0" smtClean="0"/>
              <a:t> Typically, this list will consist of individual users or user groups, although access could be controlled for terminals, hosts, or applications instead of or in addition to users. </a:t>
            </a:r>
          </a:p>
          <a:p>
            <a:pPr lvl="0">
              <a:buFont typeface="Arial" pitchFamily="34" charset="0"/>
              <a:buNone/>
            </a:pPr>
            <a:endParaRPr lang="en-NZ" dirty="0" smtClean="0"/>
          </a:p>
          <a:p>
            <a:pPr lvl="0">
              <a:buFont typeface="Arial" pitchFamily="34" charset="0"/>
              <a:buNone/>
            </a:pPr>
            <a:r>
              <a:rPr lang="en-NZ" dirty="0" smtClean="0"/>
              <a:t>The other dimension lists the objects that may be accessed. </a:t>
            </a:r>
          </a:p>
          <a:p>
            <a:pPr lvl="1">
              <a:buFont typeface="Arial" pitchFamily="34" charset="0"/>
              <a:buChar char="•"/>
            </a:pPr>
            <a:r>
              <a:rPr lang="en-NZ" dirty="0" smtClean="0"/>
              <a:t> At the greatest level of detail, objects may be individual data fields.</a:t>
            </a:r>
          </a:p>
          <a:p>
            <a:pPr lvl="1">
              <a:buFont typeface="Arial" pitchFamily="34" charset="0"/>
              <a:buChar char="•"/>
            </a:pPr>
            <a:r>
              <a:rPr lang="en-NZ" dirty="0" smtClean="0"/>
              <a:t> More aggregate groupings, such as records, files, or even the entire database, may also be objects in the matrix. </a:t>
            </a:r>
          </a:p>
          <a:p>
            <a:pPr lvl="0">
              <a:buFont typeface="Arial" pitchFamily="34" charset="0"/>
              <a:buNone/>
            </a:pPr>
            <a:endParaRPr lang="en-NZ" dirty="0" smtClean="0"/>
          </a:p>
          <a:p>
            <a:pPr lvl="0">
              <a:buFont typeface="Arial" pitchFamily="34" charset="0"/>
              <a:buNone/>
            </a:pPr>
            <a:r>
              <a:rPr lang="en-NZ" dirty="0" smtClean="0"/>
              <a:t>Each entry in the matrix indicates the access rights of that subject for that object.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72</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In practice, an access matrix is usually sparse and is implemented by decomposition in one of two ways. The matrix may be decomposed by columns, yielding access control lists </a:t>
            </a:r>
          </a:p>
          <a:p>
            <a:endParaRPr lang="en-NZ" dirty="0" smtClean="0"/>
          </a:p>
          <a:p>
            <a:r>
              <a:rPr lang="en-NZ" dirty="0" smtClean="0"/>
              <a:t>Thus for each object, an access control list lists users and their permitted access rights.</a:t>
            </a:r>
          </a:p>
          <a:p>
            <a:pPr lvl="1">
              <a:buFont typeface="Arial" pitchFamily="34" charset="0"/>
              <a:buChar char="•"/>
            </a:pPr>
            <a:r>
              <a:rPr lang="en-NZ" dirty="0" smtClean="0"/>
              <a:t> The access control list may contain a default, or public, entry.</a:t>
            </a:r>
          </a:p>
          <a:p>
            <a:pPr lvl="1">
              <a:buFont typeface="Arial" pitchFamily="34" charset="0"/>
              <a:buChar char="•"/>
            </a:pPr>
            <a:r>
              <a:rPr lang="en-NZ" dirty="0" smtClean="0"/>
              <a:t> This allows users that are not explicitly listed as having special rights to have a default set of rights. </a:t>
            </a:r>
          </a:p>
          <a:p>
            <a:pPr lvl="0">
              <a:buFont typeface="Arial" pitchFamily="34" charset="0"/>
              <a:buNone/>
            </a:pPr>
            <a:endParaRPr lang="en-NZ" dirty="0" smtClean="0"/>
          </a:p>
          <a:p>
            <a:pPr lvl="0">
              <a:buFont typeface="Arial" pitchFamily="34" charset="0"/>
              <a:buNone/>
            </a:pPr>
            <a:r>
              <a:rPr lang="en-NZ" dirty="0" smtClean="0"/>
              <a:t>Elements of the list may include individual users as well as groups of users.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73</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Decomposition by rows yields capability tickets </a:t>
            </a:r>
          </a:p>
          <a:p>
            <a:endParaRPr lang="en-NZ" dirty="0" smtClean="0"/>
          </a:p>
          <a:p>
            <a:r>
              <a:rPr lang="en-NZ" dirty="0" smtClean="0"/>
              <a:t>A capability ticket specifies authorized objects and operations for a user.</a:t>
            </a:r>
          </a:p>
          <a:p>
            <a:pPr lvl="1">
              <a:buFont typeface="Arial" pitchFamily="34" charset="0"/>
              <a:buChar char="•"/>
            </a:pPr>
            <a:r>
              <a:rPr lang="en-NZ" dirty="0" smtClean="0"/>
              <a:t> Each user has a number of tickets and may be authorized to loan or give them to others.</a:t>
            </a:r>
          </a:p>
          <a:p>
            <a:pPr lvl="0">
              <a:buFont typeface="Arial" pitchFamily="34" charset="0"/>
              <a:buNone/>
            </a:pPr>
            <a:endParaRPr lang="en-NZ" dirty="0" smtClean="0"/>
          </a:p>
          <a:p>
            <a:pPr lvl="0">
              <a:buFont typeface="Arial" pitchFamily="34" charset="0"/>
              <a:buNone/>
            </a:pPr>
            <a:r>
              <a:rPr lang="en-NZ" dirty="0" smtClean="0"/>
              <a:t>Because tickets may be dispersed around the system, they present a greater security problem than access control lists. </a:t>
            </a:r>
          </a:p>
          <a:p>
            <a:pPr lvl="1">
              <a:buFont typeface="Arial" pitchFamily="34" charset="0"/>
              <a:buChar char="•"/>
            </a:pPr>
            <a:r>
              <a:rPr lang="en-NZ" dirty="0" smtClean="0"/>
              <a:t> In particular, the ticket must be </a:t>
            </a:r>
            <a:r>
              <a:rPr lang="en-NZ" dirty="0" err="1" smtClean="0"/>
              <a:t>unforgeable</a:t>
            </a:r>
            <a:r>
              <a:rPr lang="en-NZ" dirty="0" smtClean="0"/>
              <a: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74</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NZ" b="1" dirty="0" smtClean="0"/>
              <a:t>Regular, or ordinary: </a:t>
            </a:r>
            <a:r>
              <a:rPr lang="en-NZ" dirty="0" smtClean="0"/>
              <a:t>Contains arbitrary data in zero or more data blocks.</a:t>
            </a:r>
          </a:p>
          <a:p>
            <a:pPr lvl="1">
              <a:buFont typeface="Arial" pitchFamily="34" charset="0"/>
              <a:buChar char="•"/>
            </a:pPr>
            <a:r>
              <a:rPr lang="en-NZ" dirty="0" smtClean="0"/>
              <a:t> Regular files contain information entered in them by a user, an application program, or a system utility program. </a:t>
            </a:r>
          </a:p>
          <a:p>
            <a:pPr lvl="1">
              <a:buFont typeface="Arial" pitchFamily="34" charset="0"/>
              <a:buChar char="•"/>
            </a:pPr>
            <a:r>
              <a:rPr lang="en-NZ" dirty="0" smtClean="0"/>
              <a:t> The file system does not impose any internal structure to a regular file but treats it as a stream of bytes.</a:t>
            </a:r>
          </a:p>
          <a:p>
            <a:pPr lvl="0">
              <a:buFont typeface="Arial" pitchFamily="34" charset="0"/>
              <a:buNone/>
            </a:pPr>
            <a:endParaRPr lang="en-NZ" dirty="0" smtClean="0"/>
          </a:p>
          <a:p>
            <a:pPr lvl="0">
              <a:buFont typeface="Arial" pitchFamily="34" charset="0"/>
              <a:buNone/>
            </a:pPr>
            <a:r>
              <a:rPr lang="en-NZ" b="1" dirty="0" smtClean="0"/>
              <a:t>Directory: </a:t>
            </a:r>
            <a:r>
              <a:rPr lang="en-NZ" dirty="0" smtClean="0"/>
              <a:t>Contains a list of file names plus pointers to associated </a:t>
            </a:r>
            <a:r>
              <a:rPr lang="en-NZ" dirty="0" err="1" smtClean="0"/>
              <a:t>inodes</a:t>
            </a:r>
            <a:r>
              <a:rPr lang="en-NZ" dirty="0" smtClean="0"/>
              <a:t> (index nodes)</a:t>
            </a:r>
          </a:p>
          <a:p>
            <a:pPr lvl="1">
              <a:buFont typeface="Arial" pitchFamily="34" charset="0"/>
              <a:buChar char="•"/>
            </a:pPr>
            <a:r>
              <a:rPr lang="en-NZ" dirty="0" smtClean="0"/>
              <a:t> Directories are hierarchically organized </a:t>
            </a:r>
          </a:p>
          <a:p>
            <a:pPr lvl="1">
              <a:buFont typeface="Arial" pitchFamily="34" charset="0"/>
              <a:buChar char="•"/>
            </a:pPr>
            <a:r>
              <a:rPr lang="en-NZ" dirty="0" smtClean="0"/>
              <a:t> Directory files are actually ordinary files with special write protection privileges so that only the file system can write into them, while read access is available to user programs.</a:t>
            </a:r>
          </a:p>
          <a:p>
            <a:pPr lvl="1">
              <a:buFont typeface="Arial" pitchFamily="34" charset="0"/>
              <a:buChar char="•"/>
            </a:pPr>
            <a:endParaRPr lang="en-NZ" dirty="0" smtClean="0"/>
          </a:p>
          <a:p>
            <a:pPr lvl="0">
              <a:buFont typeface="Arial" pitchFamily="34" charset="0"/>
              <a:buNone/>
            </a:pPr>
            <a:r>
              <a:rPr lang="en-NZ" b="1" dirty="0" smtClean="0"/>
              <a:t>Special: </a:t>
            </a:r>
            <a:r>
              <a:rPr lang="en-NZ" dirty="0" smtClean="0"/>
              <a:t>Contains no data, but provides a mechanism to map physical devices to file names.</a:t>
            </a:r>
          </a:p>
          <a:p>
            <a:pPr lvl="1">
              <a:buFont typeface="Arial" pitchFamily="34" charset="0"/>
              <a:buChar char="•"/>
            </a:pPr>
            <a:r>
              <a:rPr lang="en-NZ" dirty="0" smtClean="0"/>
              <a:t> The file names are used to access peripheral devices, such as terminals and printers.</a:t>
            </a:r>
          </a:p>
          <a:p>
            <a:pPr lvl="1">
              <a:buFont typeface="Arial" pitchFamily="34" charset="0"/>
              <a:buChar char="•"/>
            </a:pPr>
            <a:r>
              <a:rPr lang="en-NZ" baseline="0" dirty="0" smtClean="0"/>
              <a:t> </a:t>
            </a:r>
            <a:r>
              <a:rPr lang="en-NZ" dirty="0" smtClean="0"/>
              <a:t>Each I/O device is associated with a special file.</a:t>
            </a:r>
          </a:p>
          <a:p>
            <a:pPr lvl="0">
              <a:buFont typeface="Arial" pitchFamily="34" charset="0"/>
              <a:buNone/>
            </a:pPr>
            <a:endParaRPr lang="en-NZ" dirty="0" smtClean="0"/>
          </a:p>
          <a:p>
            <a:pPr lvl="0">
              <a:buFont typeface="Arial" pitchFamily="34" charset="0"/>
              <a:buNone/>
            </a:pPr>
            <a:r>
              <a:rPr lang="en-NZ" b="1" dirty="0" smtClean="0"/>
              <a:t>Named pipes: </a:t>
            </a:r>
            <a:r>
              <a:rPr lang="en-NZ" b="0" dirty="0" smtClean="0"/>
              <a:t>A</a:t>
            </a:r>
            <a:r>
              <a:rPr lang="en-NZ" dirty="0" smtClean="0"/>
              <a:t> pipe is an </a:t>
            </a:r>
            <a:r>
              <a:rPr lang="en-NZ" dirty="0" err="1" smtClean="0"/>
              <a:t>interprocess</a:t>
            </a:r>
            <a:r>
              <a:rPr lang="en-NZ" dirty="0" smtClean="0"/>
              <a:t> communications facility.</a:t>
            </a:r>
          </a:p>
          <a:p>
            <a:pPr lvl="1">
              <a:buFont typeface="Arial" pitchFamily="34" charset="0"/>
              <a:buChar char="•"/>
            </a:pPr>
            <a:r>
              <a:rPr lang="en-NZ" dirty="0" smtClean="0"/>
              <a:t> A pipe file buffers data received in its input so that a process that reads from the pipe’s output receives the data on a first-in-first-out basis.</a:t>
            </a:r>
          </a:p>
          <a:p>
            <a:pPr lvl="1">
              <a:buFont typeface="Arial" pitchFamily="34" charset="0"/>
              <a:buChar char="•"/>
            </a:pPr>
            <a:endParaRPr lang="en-NZ" dirty="0" smtClean="0"/>
          </a:p>
          <a:p>
            <a:pPr lvl="0">
              <a:buFont typeface="Arial" pitchFamily="34" charset="0"/>
              <a:buNone/>
            </a:pPr>
            <a:r>
              <a:rPr lang="en-NZ" b="1" dirty="0" smtClean="0"/>
              <a:t>Links: </a:t>
            </a:r>
            <a:r>
              <a:rPr lang="en-NZ" dirty="0" smtClean="0"/>
              <a:t>A link is an alternative file name for an existing file.</a:t>
            </a:r>
          </a:p>
          <a:p>
            <a:pPr lvl="0">
              <a:buFont typeface="Arial" pitchFamily="34" charset="0"/>
              <a:buNone/>
            </a:pPr>
            <a:endParaRPr lang="en-NZ" dirty="0" smtClean="0"/>
          </a:p>
          <a:p>
            <a:pPr lvl="0">
              <a:buFont typeface="Arial" pitchFamily="34" charset="0"/>
              <a:buNone/>
            </a:pPr>
            <a:r>
              <a:rPr lang="en-NZ" b="1" dirty="0" smtClean="0"/>
              <a:t>Symbolic links: </a:t>
            </a:r>
            <a:r>
              <a:rPr lang="en-NZ" dirty="0" smtClean="0"/>
              <a:t>This is a data file that contains the name of the file it is linked to.</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75</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An </a:t>
            </a:r>
            <a:r>
              <a:rPr lang="en-NZ" dirty="0" err="1" smtClean="0"/>
              <a:t>inode</a:t>
            </a:r>
            <a:r>
              <a:rPr lang="en-NZ" dirty="0" smtClean="0"/>
              <a:t> (index node) is a control structure that contains the key information needed by the operating system for a particular file. </a:t>
            </a:r>
          </a:p>
          <a:p>
            <a:endParaRPr lang="en-NZ" dirty="0" smtClean="0"/>
          </a:p>
          <a:p>
            <a:r>
              <a:rPr lang="en-NZ" dirty="0" smtClean="0"/>
              <a:t>Several file names may be associated with a single </a:t>
            </a:r>
            <a:r>
              <a:rPr lang="en-NZ" dirty="0" err="1" smtClean="0"/>
              <a:t>inode</a:t>
            </a:r>
            <a:r>
              <a:rPr lang="en-NZ" dirty="0" smtClean="0"/>
              <a:t>, </a:t>
            </a:r>
          </a:p>
          <a:p>
            <a:pPr lvl="1">
              <a:buFont typeface="Arial" pitchFamily="34" charset="0"/>
              <a:buChar char="•"/>
            </a:pPr>
            <a:r>
              <a:rPr lang="en-NZ" dirty="0" smtClean="0"/>
              <a:t> but an active </a:t>
            </a:r>
            <a:r>
              <a:rPr lang="en-NZ" dirty="0" err="1" smtClean="0"/>
              <a:t>inode</a:t>
            </a:r>
            <a:r>
              <a:rPr lang="en-NZ" dirty="0" smtClean="0"/>
              <a:t> is associated with exactly one file, and each file is controlled by exactly one </a:t>
            </a:r>
            <a:r>
              <a:rPr lang="en-NZ" dirty="0" err="1" smtClean="0"/>
              <a:t>inode</a:t>
            </a:r>
            <a:r>
              <a:rPr lang="en-NZ" dirty="0" smtClean="0"/>
              <a:t>.</a:t>
            </a:r>
          </a:p>
          <a:p>
            <a:pPr lvl="1">
              <a:buFont typeface="Arial" pitchFamily="34" charset="0"/>
              <a:buChar char="•"/>
            </a:pPr>
            <a:endParaRPr lang="en-NZ" dirty="0" smtClean="0"/>
          </a:p>
          <a:p>
            <a:r>
              <a:rPr lang="en-NZ" dirty="0" smtClean="0"/>
              <a:t>The attributes of the file as well as its permissions and other control information are stored in the </a:t>
            </a:r>
            <a:r>
              <a:rPr lang="en-NZ" dirty="0" err="1" smtClean="0"/>
              <a:t>inode</a:t>
            </a:r>
            <a:r>
              <a:rPr lang="en-NZ" dirty="0" smtClean="0"/>
              <a:t>.</a:t>
            </a:r>
          </a:p>
          <a:p>
            <a:endParaRPr lang="en-NZ" dirty="0" smtClean="0"/>
          </a:p>
          <a:p>
            <a:r>
              <a:rPr lang="en-NZ" dirty="0" smtClean="0"/>
              <a:t>The exact </a:t>
            </a:r>
            <a:r>
              <a:rPr lang="en-NZ" dirty="0" err="1" smtClean="0"/>
              <a:t>inode</a:t>
            </a:r>
            <a:r>
              <a:rPr lang="en-NZ" dirty="0" smtClean="0"/>
              <a:t> structure varies from one UNIX implementation to another.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76</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 The type and access mode of the file</a:t>
            </a:r>
          </a:p>
          <a:p>
            <a:r>
              <a:rPr lang="en-NZ" dirty="0" smtClean="0"/>
              <a:t>• The file’s owner and group-access identifiers</a:t>
            </a:r>
          </a:p>
          <a:p>
            <a:r>
              <a:rPr lang="en-NZ" dirty="0" smtClean="0"/>
              <a:t>• The time that the file was created, when it was most recently read and written, and when its </a:t>
            </a:r>
            <a:r>
              <a:rPr lang="en-NZ" dirty="0" err="1" smtClean="0"/>
              <a:t>inode</a:t>
            </a:r>
            <a:r>
              <a:rPr lang="en-NZ" dirty="0" smtClean="0"/>
              <a:t> was most recently updated by the system</a:t>
            </a:r>
          </a:p>
          <a:p>
            <a:r>
              <a:rPr lang="en-NZ" dirty="0" smtClean="0"/>
              <a:t>• The size of the file in bytes</a:t>
            </a:r>
          </a:p>
          <a:p>
            <a:r>
              <a:rPr lang="en-NZ" dirty="0" smtClean="0"/>
              <a:t>• A sequence of block pointers, explained in the next subsection</a:t>
            </a:r>
          </a:p>
          <a:p>
            <a:r>
              <a:rPr lang="en-NZ" dirty="0" smtClean="0"/>
              <a:t>• The number of physical blocks used by the file, including blocks used to hold indirect pointers and attributes</a:t>
            </a:r>
          </a:p>
          <a:p>
            <a:r>
              <a:rPr lang="en-NZ" dirty="0" smtClean="0"/>
              <a:t>• The number of directory entries the reference the file</a:t>
            </a:r>
          </a:p>
          <a:p>
            <a:r>
              <a:rPr lang="en-NZ" dirty="0" smtClean="0"/>
              <a:t>• The kernel and user </a:t>
            </a:r>
            <a:r>
              <a:rPr lang="en-NZ" dirty="0" err="1" smtClean="0"/>
              <a:t>setable</a:t>
            </a:r>
            <a:r>
              <a:rPr lang="en-NZ" dirty="0" smtClean="0"/>
              <a:t> flags that describe the characteristics of the file</a:t>
            </a:r>
          </a:p>
          <a:p>
            <a:r>
              <a:rPr lang="en-NZ" dirty="0" smtClean="0"/>
              <a:t>• The generation number of the file (a randomly selected number assigned to the </a:t>
            </a:r>
            <a:r>
              <a:rPr lang="en-NZ" dirty="0" err="1" smtClean="0"/>
              <a:t>inode</a:t>
            </a:r>
            <a:r>
              <a:rPr lang="en-NZ" dirty="0" smtClean="0"/>
              <a:t> each time that the latter is allocated to a new file; the generation number is used to detect references to deleted files)</a:t>
            </a:r>
          </a:p>
          <a:p>
            <a:r>
              <a:rPr lang="en-NZ" dirty="0" smtClean="0"/>
              <a:t>• The </a:t>
            </a:r>
            <a:r>
              <a:rPr lang="en-NZ" dirty="0" err="1" smtClean="0"/>
              <a:t>blocksize</a:t>
            </a:r>
            <a:r>
              <a:rPr lang="en-NZ" dirty="0" smtClean="0"/>
              <a:t> of the data blocks referenced by the </a:t>
            </a:r>
            <a:r>
              <a:rPr lang="en-NZ" dirty="0" err="1" smtClean="0"/>
              <a:t>inode</a:t>
            </a:r>
            <a:r>
              <a:rPr lang="en-NZ" dirty="0" smtClean="0"/>
              <a:t> (typically the same</a:t>
            </a:r>
          </a:p>
          <a:p>
            <a:r>
              <a:rPr lang="en-NZ" dirty="0" smtClean="0"/>
              <a:t>as, but sometimes larger than, the file system </a:t>
            </a:r>
            <a:r>
              <a:rPr lang="en-NZ" dirty="0" err="1" smtClean="0"/>
              <a:t>blocksize</a:t>
            </a:r>
            <a:r>
              <a:rPr lang="en-NZ" dirty="0" smtClean="0"/>
              <a:t>)</a:t>
            </a:r>
          </a:p>
          <a:p>
            <a:r>
              <a:rPr lang="en-NZ" dirty="0" smtClean="0"/>
              <a:t>• The size of the extended attribute information</a:t>
            </a:r>
          </a:p>
          <a:p>
            <a:r>
              <a:rPr lang="en-NZ" dirty="0" smtClean="0"/>
              <a:t>• Zero or more extended attribute entries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77</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An </a:t>
            </a:r>
            <a:r>
              <a:rPr lang="en-NZ" dirty="0" err="1" smtClean="0"/>
              <a:t>inode</a:t>
            </a:r>
            <a:r>
              <a:rPr lang="en-NZ" dirty="0" smtClean="0"/>
              <a:t> (index node) is a control structure that contains the key information needed by the operating system for a particular file. </a:t>
            </a:r>
          </a:p>
          <a:p>
            <a:endParaRPr lang="en-NZ" dirty="0" smtClean="0"/>
          </a:p>
          <a:p>
            <a:r>
              <a:rPr lang="en-NZ" dirty="0" smtClean="0"/>
              <a:t>Several file names may be associated with a single </a:t>
            </a:r>
            <a:r>
              <a:rPr lang="en-NZ" dirty="0" err="1" smtClean="0"/>
              <a:t>inode</a:t>
            </a:r>
            <a:r>
              <a:rPr lang="en-NZ" dirty="0" smtClean="0"/>
              <a:t>, </a:t>
            </a:r>
          </a:p>
          <a:p>
            <a:pPr lvl="1">
              <a:buFont typeface="Arial" pitchFamily="34" charset="0"/>
              <a:buChar char="•"/>
            </a:pPr>
            <a:r>
              <a:rPr lang="en-NZ" dirty="0" smtClean="0"/>
              <a:t> but an active </a:t>
            </a:r>
            <a:r>
              <a:rPr lang="en-NZ" dirty="0" err="1" smtClean="0"/>
              <a:t>inode</a:t>
            </a:r>
            <a:r>
              <a:rPr lang="en-NZ" dirty="0" smtClean="0"/>
              <a:t> is associated with exactly one file, and each file is controlled by exactly one </a:t>
            </a:r>
            <a:r>
              <a:rPr lang="en-NZ" dirty="0" err="1" smtClean="0"/>
              <a:t>inode</a:t>
            </a:r>
            <a:r>
              <a:rPr lang="en-NZ" dirty="0" smtClean="0"/>
              <a:t>.</a:t>
            </a:r>
          </a:p>
          <a:p>
            <a:pPr lvl="1">
              <a:buFont typeface="Arial" pitchFamily="34" charset="0"/>
              <a:buChar char="•"/>
            </a:pPr>
            <a:endParaRPr lang="en-NZ" dirty="0" smtClean="0"/>
          </a:p>
          <a:p>
            <a:r>
              <a:rPr lang="en-NZ" dirty="0" smtClean="0"/>
              <a:t>The attributes of the file as well as its permissions and other control information are stored in the </a:t>
            </a:r>
            <a:r>
              <a:rPr lang="en-NZ" dirty="0" err="1" smtClean="0"/>
              <a:t>inode</a:t>
            </a:r>
            <a:r>
              <a:rPr lang="en-NZ" dirty="0" smtClean="0"/>
              <a:t>.</a:t>
            </a:r>
          </a:p>
          <a:p>
            <a:endParaRPr lang="en-NZ" dirty="0" smtClean="0"/>
          </a:p>
          <a:p>
            <a:r>
              <a:rPr lang="en-NZ" dirty="0" smtClean="0"/>
              <a:t>The exact </a:t>
            </a:r>
            <a:r>
              <a:rPr lang="en-NZ" dirty="0" err="1" smtClean="0"/>
              <a:t>inode</a:t>
            </a:r>
            <a:r>
              <a:rPr lang="en-NZ" dirty="0" smtClean="0"/>
              <a:t> structure varies from one UNIX implementation to another.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78</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EF5D2D3F-B0F1-446B-B7CC-19B90EB0017B}"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6FA4F69-47FA-46CC-8030-E13D0EF9E852}"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5"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6" name="Freeform 5"/>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pic>
        <p:nvPicPr>
          <p:cNvPr id="7"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4953000"/>
          </a:xfrm>
          <a:ln>
            <a:noFill/>
          </a:ln>
        </p:spPr>
        <p:txBody>
          <a:bodyPr/>
          <a:lstStyle>
            <a:lvl4pPr>
              <a:defRPr sz="2400"/>
            </a:lvl4pPr>
            <a:lvl5pPr>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60F29AB0-274B-47BE-985F-46164E2F9B8D}"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3238FDB-2D8C-4804-B582-7DB90366B95F}"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6F0B030-1580-4866-BCBB-5B9DCBDFAB68}" type="datetimeFigureOut">
              <a:rPr lang="en-US"/>
              <a:pPr>
                <a:defRPr/>
              </a:pPr>
              <a:t>06-Oct-21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D77EB8B-B6EB-443D-9CB4-B019CEC8F476}"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70FF0F97-1060-4EBF-B543-874A8397FCDC}" type="datetimeFigureOut">
              <a:rPr lang="en-US"/>
              <a:pPr>
                <a:defRPr/>
              </a:pPr>
              <a:t>06-Oct-21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56104A5-FF6A-4891-8FE3-D539A7A66E05}"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848A180-20FC-43E6-ACF2-E4D2D7D4238C}" type="datetimeFigureOut">
              <a:rPr lang="en-US"/>
              <a:pPr>
                <a:defRPr/>
              </a:pPr>
              <a:t>06-Oct-21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7012834-41A2-49E3-8762-B14EE3F5CFB1}"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B242E86-E886-49FE-9E81-CBA74FDF21F4}" type="datetimeFigureOut">
              <a:rPr lang="en-US"/>
              <a:pPr>
                <a:defRPr/>
              </a:pPr>
              <a:t>06-Oct-21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A9A6F0D-A611-4358-861D-7B01E8303898}"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5E854A5-A6D3-4FF2-A83D-4A92E35723B6}" type="datetimeFigureOut">
              <a:rPr lang="en-US"/>
              <a:pPr>
                <a:defRPr/>
              </a:pPr>
              <a:t>06-Oct-21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AB79F47-3AF0-4617-BC60-2E592392BB48}"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BFCA2E3-A4EC-4D3C-A723-C30C7527518B}" type="datetimeFigureOut">
              <a:rPr lang="en-US"/>
              <a:pPr>
                <a:defRPr/>
              </a:pPr>
              <a:t>06-Oct-21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ADF8B95-FD24-4BC4-B430-69A3136D11E0}"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2AEB11F-C391-4BDD-82EB-6F3E13A9F9E1}"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F0D068-AB96-40B8-9FAA-4228627632C0}"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42669FE-0345-4152-A335-E3D8B60CD5FA}"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E7040A0-6A5C-4BDA-AED7-03967CF0473B}"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06-Oct-21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06-Oct-21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06-Oct-21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06-Oct-21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06-Oct-21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06-Oct-21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06-Oct-21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E62B1BE-7229-4612-B077-302E9FB27D58}" type="datetimeFigureOut">
              <a:rPr lang="en-US"/>
              <a:pPr>
                <a:defRPr/>
              </a:pPr>
              <a:t>06-Oct-21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4367C90-D8D8-4A11-9BC3-E7451ACC5E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9" r:id="rId1"/>
    <p:sldLayoutId id="2147483740"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pitchFamily="34" charset="0"/>
        </a:defRPr>
      </a:lvl2pPr>
      <a:lvl3pPr algn="ctr" rtl="0" eaLnBrk="0" fontAlgn="base" hangingPunct="0">
        <a:spcBef>
          <a:spcPct val="0"/>
        </a:spcBef>
        <a:spcAft>
          <a:spcPct val="0"/>
        </a:spcAft>
        <a:defRPr sz="4400">
          <a:solidFill>
            <a:schemeClr val="tx1"/>
          </a:solidFill>
          <a:latin typeface="Arial" pitchFamily="34" charset="0"/>
        </a:defRPr>
      </a:lvl3pPr>
      <a:lvl4pPr algn="ctr" rtl="0" eaLnBrk="0" fontAlgn="base" hangingPunct="0">
        <a:spcBef>
          <a:spcPct val="0"/>
        </a:spcBef>
        <a:spcAft>
          <a:spcPct val="0"/>
        </a:spcAft>
        <a:defRPr sz="4400">
          <a:solidFill>
            <a:schemeClr val="tx1"/>
          </a:solidFill>
          <a:latin typeface="Arial" pitchFamily="34" charset="0"/>
        </a:defRPr>
      </a:lvl4pPr>
      <a:lvl5pPr algn="ctr" rtl="0" eaLnBrk="0" fontAlgn="base" hangingPunct="0">
        <a:spcBef>
          <a:spcPct val="0"/>
        </a:spcBef>
        <a:spcAft>
          <a:spcPct val="0"/>
        </a:spcAft>
        <a:defRPr sz="4400">
          <a:solidFill>
            <a:schemeClr val="tx1"/>
          </a:solidFill>
          <a:latin typeface="Arial" pitchFamily="34" charset="0"/>
        </a:defRPr>
      </a:lvl5pPr>
      <a:lvl6pPr marL="457200" algn="ctr" rtl="0" fontAlgn="base">
        <a:spcBef>
          <a:spcPct val="0"/>
        </a:spcBef>
        <a:spcAft>
          <a:spcPct val="0"/>
        </a:spcAft>
        <a:defRPr sz="4400">
          <a:solidFill>
            <a:schemeClr val="tx1"/>
          </a:solidFill>
          <a:latin typeface="Arial" pitchFamily="34" charset="0"/>
        </a:defRPr>
      </a:lvl6pPr>
      <a:lvl7pPr marL="914400" algn="ctr" rtl="0" fontAlgn="base">
        <a:spcBef>
          <a:spcPct val="0"/>
        </a:spcBef>
        <a:spcAft>
          <a:spcPct val="0"/>
        </a:spcAft>
        <a:defRPr sz="4400">
          <a:solidFill>
            <a:schemeClr val="tx1"/>
          </a:solidFill>
          <a:latin typeface="Arial" pitchFamily="34" charset="0"/>
        </a:defRPr>
      </a:lvl7pPr>
      <a:lvl8pPr marL="1371600" algn="ctr" rtl="0" fontAlgn="base">
        <a:spcBef>
          <a:spcPct val="0"/>
        </a:spcBef>
        <a:spcAft>
          <a:spcPct val="0"/>
        </a:spcAft>
        <a:defRPr sz="4400">
          <a:solidFill>
            <a:schemeClr val="tx1"/>
          </a:solidFill>
          <a:latin typeface="Arial" pitchFamily="34" charset="0"/>
        </a:defRPr>
      </a:lvl8pPr>
      <a:lvl9pPr marL="1828800" algn="ctr" rtl="0" fontAlgn="base">
        <a:spcBef>
          <a:spcPct val="0"/>
        </a:spcBef>
        <a:spcAft>
          <a:spcPct val="0"/>
        </a:spcAft>
        <a:defRPr sz="4400">
          <a:solidFill>
            <a:schemeClr val="tx1"/>
          </a:solidFill>
          <a:latin typeface="Arial"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06-Oct-21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6" descr="transparent.gif"/>
          <p:cNvPicPr>
            <a:picLocks noChangeAspect="1"/>
          </p:cNvPicPr>
          <p:nvPr/>
        </p:nvPicPr>
        <p:blipFill>
          <a:blip r:embed="rId3"/>
          <a:srcRect/>
          <a:stretch>
            <a:fillRect/>
          </a:stretch>
        </p:blipFill>
        <p:spPr bwMode="auto">
          <a:xfrm>
            <a:off x="2057400" y="838200"/>
            <a:ext cx="5494337" cy="4233863"/>
          </a:xfrm>
          <a:prstGeom prst="rect">
            <a:avLst/>
          </a:prstGeom>
          <a:noFill/>
          <a:ln w="9525">
            <a:noFill/>
            <a:miter lim="800000"/>
            <a:headEnd/>
            <a:tailEnd/>
          </a:ln>
        </p:spPr>
      </p:pic>
      <p:sp>
        <p:nvSpPr>
          <p:cNvPr id="4099" name="Title 1"/>
          <p:cNvSpPr>
            <a:spLocks noGrp="1"/>
          </p:cNvSpPr>
          <p:nvPr>
            <p:ph type="ctrTitle"/>
          </p:nvPr>
        </p:nvSpPr>
        <p:spPr/>
        <p:txBody>
          <a:bodyPr/>
          <a:lstStyle/>
          <a:p>
            <a:r>
              <a:rPr lang="en-US" dirty="0" smtClean="0"/>
              <a:t>Chapter 12</a:t>
            </a:r>
            <a:br>
              <a:rPr lang="en-US" dirty="0" smtClean="0"/>
            </a:br>
            <a:r>
              <a:rPr lang="en-US" dirty="0" smtClean="0"/>
              <a:t>File Management</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Files</a:t>
            </a:r>
            <a:endParaRPr lang="en-NZ" dirty="0"/>
          </a:p>
        </p:txBody>
      </p:sp>
      <p:sp>
        <p:nvSpPr>
          <p:cNvPr id="3" name="Content Placeholder 2"/>
          <p:cNvSpPr>
            <a:spLocks noGrp="1"/>
          </p:cNvSpPr>
          <p:nvPr>
            <p:ph idx="1"/>
          </p:nvPr>
        </p:nvSpPr>
        <p:spPr/>
        <p:txBody>
          <a:bodyPr/>
          <a:lstStyle/>
          <a:p>
            <a:pPr algn="just"/>
            <a:r>
              <a:rPr lang="en-NZ" sz="2400" dirty="0" smtClean="0"/>
              <a:t>Files are the </a:t>
            </a:r>
            <a:r>
              <a:rPr lang="en-NZ" sz="2400" dirty="0" smtClean="0">
                <a:solidFill>
                  <a:schemeClr val="accent1"/>
                </a:solidFill>
              </a:rPr>
              <a:t>central element </a:t>
            </a:r>
            <a:r>
              <a:rPr lang="en-NZ" sz="2400" dirty="0" smtClean="0"/>
              <a:t>to most applications</a:t>
            </a:r>
          </a:p>
          <a:p>
            <a:pPr algn="just"/>
            <a:r>
              <a:rPr lang="en-NZ" sz="2400" dirty="0" smtClean="0"/>
              <a:t>The File System is one of the most important part of the OS to a user</a:t>
            </a:r>
          </a:p>
          <a:p>
            <a:pPr algn="just"/>
            <a:endParaRPr lang="en-NZ" sz="2400" dirty="0" smtClean="0"/>
          </a:p>
          <a:p>
            <a:pPr algn="just"/>
            <a:r>
              <a:rPr lang="en-NZ" sz="2400" b="1" dirty="0" smtClean="0">
                <a:solidFill>
                  <a:schemeClr val="accent1"/>
                </a:solidFill>
              </a:rPr>
              <a:t>Desirable properties of files:</a:t>
            </a:r>
          </a:p>
          <a:p>
            <a:pPr lvl="1" algn="just"/>
            <a:r>
              <a:rPr lang="en-NZ" sz="2400" dirty="0" smtClean="0"/>
              <a:t>Long-term existence</a:t>
            </a:r>
          </a:p>
          <a:p>
            <a:pPr lvl="1" algn="just"/>
            <a:r>
              <a:rPr lang="en-NZ" sz="2400" dirty="0" smtClean="0"/>
              <a:t>Sharable between processes</a:t>
            </a:r>
          </a:p>
          <a:p>
            <a:pPr lvl="1" algn="just"/>
            <a:r>
              <a:rPr lang="en-NZ" sz="2400" dirty="0" smtClean="0"/>
              <a:t>Structure</a:t>
            </a:r>
          </a:p>
          <a:p>
            <a:pPr lvl="1" algn="just"/>
            <a:endParaRPr lang="en-NZ" sz="2400"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dirty="0" smtClean="0"/>
              <a:t>File Management System</a:t>
            </a:r>
          </a:p>
        </p:txBody>
      </p:sp>
      <p:sp>
        <p:nvSpPr>
          <p:cNvPr id="4" name="Content Placeholder 3"/>
          <p:cNvSpPr>
            <a:spLocks noGrp="1"/>
          </p:cNvSpPr>
          <p:nvPr>
            <p:ph idx="1"/>
          </p:nvPr>
        </p:nvSpPr>
        <p:spPr/>
        <p:txBody>
          <a:bodyPr/>
          <a:lstStyle/>
          <a:p>
            <a:pPr algn="just"/>
            <a:r>
              <a:rPr lang="en-US" sz="2800" dirty="0" smtClean="0"/>
              <a:t>File management system consists of </a:t>
            </a:r>
            <a:r>
              <a:rPr lang="en-US" sz="2800" dirty="0" smtClean="0">
                <a:solidFill>
                  <a:schemeClr val="accent1"/>
                </a:solidFill>
              </a:rPr>
              <a:t>utility programs</a:t>
            </a:r>
            <a:r>
              <a:rPr lang="en-US" sz="2800" dirty="0" smtClean="0"/>
              <a:t> that run as privileged applications</a:t>
            </a:r>
          </a:p>
          <a:p>
            <a:pPr algn="just"/>
            <a:endParaRPr lang="en-US" sz="2800" dirty="0" smtClean="0"/>
          </a:p>
          <a:p>
            <a:pPr algn="just"/>
            <a:r>
              <a:rPr lang="en-US" sz="2800" dirty="0" smtClean="0"/>
              <a:t>Concerned with </a:t>
            </a:r>
            <a:r>
              <a:rPr lang="en-US" sz="2800" dirty="0" smtClean="0">
                <a:solidFill>
                  <a:schemeClr val="accent1"/>
                </a:solidFill>
              </a:rPr>
              <a:t>secondary storage</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Typical Operations</a:t>
            </a:r>
            <a:endParaRPr lang="en-NZ" dirty="0"/>
          </a:p>
        </p:txBody>
      </p:sp>
      <p:sp>
        <p:nvSpPr>
          <p:cNvPr id="3" name="Content Placeholder 2"/>
          <p:cNvSpPr>
            <a:spLocks noGrp="1"/>
          </p:cNvSpPr>
          <p:nvPr>
            <p:ph idx="1"/>
          </p:nvPr>
        </p:nvSpPr>
        <p:spPr/>
        <p:txBody>
          <a:bodyPr/>
          <a:lstStyle/>
          <a:p>
            <a:pPr algn="just"/>
            <a:r>
              <a:rPr lang="en-NZ" sz="2800" dirty="0" smtClean="0"/>
              <a:t>File systems also provide </a:t>
            </a:r>
            <a:r>
              <a:rPr lang="en-NZ" sz="2800" dirty="0" smtClean="0">
                <a:solidFill>
                  <a:schemeClr val="accent1"/>
                </a:solidFill>
              </a:rPr>
              <a:t>functions</a:t>
            </a:r>
            <a:r>
              <a:rPr lang="en-NZ" sz="2800" dirty="0" smtClean="0"/>
              <a:t> which can be performed on files, typically:</a:t>
            </a:r>
          </a:p>
          <a:p>
            <a:pPr lvl="1" algn="just"/>
            <a:r>
              <a:rPr lang="en-NZ" dirty="0" smtClean="0"/>
              <a:t>Create</a:t>
            </a:r>
          </a:p>
          <a:p>
            <a:pPr lvl="1" algn="just"/>
            <a:r>
              <a:rPr lang="en-NZ" dirty="0" smtClean="0"/>
              <a:t>Delete</a:t>
            </a:r>
          </a:p>
          <a:p>
            <a:pPr lvl="1" algn="just"/>
            <a:r>
              <a:rPr lang="en-NZ" dirty="0" smtClean="0"/>
              <a:t>Open</a:t>
            </a:r>
          </a:p>
          <a:p>
            <a:pPr lvl="1" algn="just"/>
            <a:r>
              <a:rPr lang="en-NZ" dirty="0" smtClean="0"/>
              <a:t>Close</a:t>
            </a:r>
          </a:p>
          <a:p>
            <a:pPr lvl="1" algn="just"/>
            <a:r>
              <a:rPr lang="en-NZ" dirty="0" smtClean="0"/>
              <a:t>Read</a:t>
            </a:r>
          </a:p>
          <a:p>
            <a:pPr lvl="1" algn="just"/>
            <a:r>
              <a:rPr lang="en-NZ" dirty="0" smtClean="0"/>
              <a:t>Write</a:t>
            </a:r>
            <a:endParaRPr lang="en-NZ"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Terms</a:t>
            </a:r>
            <a:endParaRPr lang="en-NZ" dirty="0"/>
          </a:p>
        </p:txBody>
      </p:sp>
      <p:sp>
        <p:nvSpPr>
          <p:cNvPr id="3" name="Content Placeholder 2"/>
          <p:cNvSpPr>
            <a:spLocks noGrp="1"/>
          </p:cNvSpPr>
          <p:nvPr>
            <p:ph idx="1"/>
          </p:nvPr>
        </p:nvSpPr>
        <p:spPr/>
        <p:txBody>
          <a:bodyPr/>
          <a:lstStyle/>
          <a:p>
            <a:pPr algn="just"/>
            <a:r>
              <a:rPr lang="en-NZ" sz="2800" dirty="0" smtClean="0">
                <a:solidFill>
                  <a:schemeClr val="accent1"/>
                </a:solidFill>
              </a:rPr>
              <a:t>Four terms </a:t>
            </a:r>
            <a:r>
              <a:rPr lang="en-NZ" sz="2800" dirty="0" smtClean="0"/>
              <a:t>are in common use when discussing files:</a:t>
            </a:r>
          </a:p>
          <a:p>
            <a:pPr algn="just"/>
            <a:endParaRPr lang="en-NZ" sz="2800" dirty="0" smtClean="0"/>
          </a:p>
          <a:p>
            <a:pPr lvl="1" algn="just"/>
            <a:r>
              <a:rPr lang="en-NZ" dirty="0" smtClean="0"/>
              <a:t>Field</a:t>
            </a:r>
          </a:p>
          <a:p>
            <a:pPr lvl="1" algn="just"/>
            <a:r>
              <a:rPr lang="en-NZ" dirty="0" smtClean="0"/>
              <a:t>Record</a:t>
            </a:r>
          </a:p>
          <a:p>
            <a:pPr lvl="1" algn="just"/>
            <a:r>
              <a:rPr lang="en-NZ" dirty="0" smtClean="0"/>
              <a:t>File</a:t>
            </a:r>
          </a:p>
          <a:p>
            <a:pPr lvl="1" algn="just"/>
            <a:r>
              <a:rPr lang="en-NZ" dirty="0" smtClean="0"/>
              <a:t>Database</a:t>
            </a:r>
            <a:endParaRPr lang="en-NZ"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Fields and Records</a:t>
            </a:r>
            <a:endParaRPr lang="en-US" dirty="0"/>
          </a:p>
        </p:txBody>
      </p:sp>
      <p:sp>
        <p:nvSpPr>
          <p:cNvPr id="3" name="Content Placeholder 2"/>
          <p:cNvSpPr>
            <a:spLocks noGrp="1"/>
          </p:cNvSpPr>
          <p:nvPr>
            <p:ph idx="1"/>
          </p:nvPr>
        </p:nvSpPr>
        <p:spPr/>
        <p:txBody>
          <a:bodyPr/>
          <a:lstStyle/>
          <a:p>
            <a:pPr algn="just"/>
            <a:r>
              <a:rPr lang="en-US" sz="2800" b="1" dirty="0" smtClean="0">
                <a:solidFill>
                  <a:schemeClr val="accent1"/>
                </a:solidFill>
              </a:rPr>
              <a:t>Fields</a:t>
            </a:r>
          </a:p>
          <a:p>
            <a:pPr lvl="1" algn="just"/>
            <a:r>
              <a:rPr lang="en-US" dirty="0" smtClean="0"/>
              <a:t>Basic element of data</a:t>
            </a:r>
          </a:p>
          <a:p>
            <a:pPr lvl="1" algn="just"/>
            <a:r>
              <a:rPr lang="en-US" dirty="0" smtClean="0"/>
              <a:t>Contains a single value</a:t>
            </a:r>
          </a:p>
          <a:p>
            <a:pPr lvl="1" algn="just"/>
            <a:r>
              <a:rPr lang="en-US" dirty="0" smtClean="0"/>
              <a:t>Characterized by its length and data type</a:t>
            </a:r>
          </a:p>
          <a:p>
            <a:pPr algn="just"/>
            <a:endParaRPr lang="en-US" sz="2800" dirty="0" smtClean="0"/>
          </a:p>
          <a:p>
            <a:pPr algn="just"/>
            <a:r>
              <a:rPr lang="en-US" sz="2800" b="1" dirty="0" smtClean="0">
                <a:solidFill>
                  <a:schemeClr val="accent1"/>
                </a:solidFill>
              </a:rPr>
              <a:t>Records</a:t>
            </a:r>
          </a:p>
          <a:p>
            <a:pPr lvl="1" algn="just"/>
            <a:r>
              <a:rPr lang="en-US" dirty="0" smtClean="0"/>
              <a:t>Collection of related fields</a:t>
            </a:r>
          </a:p>
          <a:p>
            <a:pPr lvl="1" algn="just"/>
            <a:r>
              <a:rPr lang="en-US" dirty="0" smtClean="0"/>
              <a:t>Treated as a unit</a:t>
            </a:r>
          </a:p>
          <a:p>
            <a:pPr algn="just">
              <a:buNone/>
            </a:pPr>
            <a:endParaRPr lang="en-US" sz="2800" dirty="0" smtClean="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and Database</a:t>
            </a:r>
            <a:endParaRPr lang="en-US" dirty="0"/>
          </a:p>
        </p:txBody>
      </p:sp>
      <p:sp>
        <p:nvSpPr>
          <p:cNvPr id="3" name="Content Placeholder 2"/>
          <p:cNvSpPr>
            <a:spLocks noGrp="1"/>
          </p:cNvSpPr>
          <p:nvPr>
            <p:ph idx="1"/>
          </p:nvPr>
        </p:nvSpPr>
        <p:spPr/>
        <p:txBody>
          <a:bodyPr/>
          <a:lstStyle/>
          <a:p>
            <a:pPr algn="just"/>
            <a:r>
              <a:rPr lang="en-US" sz="2800" b="1" dirty="0" smtClean="0">
                <a:solidFill>
                  <a:schemeClr val="accent1"/>
                </a:solidFill>
              </a:rPr>
              <a:t>File</a:t>
            </a:r>
          </a:p>
          <a:p>
            <a:pPr lvl="1" algn="just"/>
            <a:r>
              <a:rPr lang="en-US" dirty="0" smtClean="0"/>
              <a:t>Have file names</a:t>
            </a:r>
          </a:p>
          <a:p>
            <a:pPr lvl="1" algn="just"/>
            <a:r>
              <a:rPr lang="en-US" dirty="0" smtClean="0"/>
              <a:t>Is a collection of similar records</a:t>
            </a:r>
          </a:p>
          <a:p>
            <a:pPr lvl="1" algn="just"/>
            <a:r>
              <a:rPr lang="en-US" dirty="0" smtClean="0"/>
              <a:t>Treated as a single entity</a:t>
            </a:r>
          </a:p>
          <a:p>
            <a:pPr lvl="1" algn="just"/>
            <a:r>
              <a:rPr lang="en-US" dirty="0" smtClean="0"/>
              <a:t>May implement access control mechanisms</a:t>
            </a:r>
            <a:endParaRPr lang="en-US" sz="2800" dirty="0" smtClean="0"/>
          </a:p>
          <a:p>
            <a:pPr algn="just"/>
            <a:r>
              <a:rPr lang="en-US" sz="2800" b="1" dirty="0" smtClean="0">
                <a:solidFill>
                  <a:schemeClr val="accent1"/>
                </a:solidFill>
              </a:rPr>
              <a:t>Database</a:t>
            </a:r>
          </a:p>
          <a:p>
            <a:pPr lvl="1" algn="just"/>
            <a:r>
              <a:rPr lang="en-US" dirty="0" smtClean="0"/>
              <a:t>Collection of related data</a:t>
            </a:r>
          </a:p>
          <a:p>
            <a:pPr lvl="1" algn="just"/>
            <a:r>
              <a:rPr lang="en-US" dirty="0" smtClean="0"/>
              <a:t>Relationships exist among elements</a:t>
            </a:r>
          </a:p>
          <a:p>
            <a:pPr lvl="1" algn="just"/>
            <a:r>
              <a:rPr lang="en-US" dirty="0" smtClean="0"/>
              <a:t>Consists of one or more files</a:t>
            </a:r>
          </a:p>
          <a:p>
            <a:pPr lvl="1" algn="just"/>
            <a:endParaRPr lang="en-US" dirty="0" smtClean="0"/>
          </a:p>
          <a:p>
            <a:pPr algn="just"/>
            <a:endParaRPr lang="en-US" sz="2800"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 for a File Management System</a:t>
            </a:r>
            <a:endParaRPr lang="en-US" dirty="0"/>
          </a:p>
        </p:txBody>
      </p:sp>
      <p:sp>
        <p:nvSpPr>
          <p:cNvPr id="3" name="Content Placeholder 2"/>
          <p:cNvSpPr>
            <a:spLocks noGrp="1"/>
          </p:cNvSpPr>
          <p:nvPr>
            <p:ph idx="1"/>
          </p:nvPr>
        </p:nvSpPr>
        <p:spPr/>
        <p:txBody>
          <a:bodyPr/>
          <a:lstStyle/>
          <a:p>
            <a:pPr algn="just"/>
            <a:r>
              <a:rPr lang="en-US" sz="2800" dirty="0" smtClean="0"/>
              <a:t>Meet the </a:t>
            </a:r>
            <a:r>
              <a:rPr lang="en-US" sz="2800" dirty="0" smtClean="0">
                <a:solidFill>
                  <a:schemeClr val="accent1"/>
                </a:solidFill>
              </a:rPr>
              <a:t>data management </a:t>
            </a:r>
            <a:r>
              <a:rPr lang="en-US" sz="2800" dirty="0" smtClean="0"/>
              <a:t>needs of the user</a:t>
            </a:r>
          </a:p>
          <a:p>
            <a:pPr algn="just"/>
            <a:r>
              <a:rPr lang="en-US" sz="2800" dirty="0" smtClean="0"/>
              <a:t>Guarantee that the data in the file are </a:t>
            </a:r>
            <a:r>
              <a:rPr lang="en-US" sz="2800" dirty="0" smtClean="0">
                <a:solidFill>
                  <a:schemeClr val="accent1"/>
                </a:solidFill>
              </a:rPr>
              <a:t>valid</a:t>
            </a:r>
          </a:p>
          <a:p>
            <a:pPr algn="just"/>
            <a:r>
              <a:rPr lang="en-US" sz="2800" dirty="0" smtClean="0"/>
              <a:t>Optimize </a:t>
            </a:r>
            <a:r>
              <a:rPr lang="en-US" sz="2800" dirty="0" smtClean="0">
                <a:solidFill>
                  <a:schemeClr val="accent1"/>
                </a:solidFill>
              </a:rPr>
              <a:t>performance</a:t>
            </a:r>
          </a:p>
          <a:p>
            <a:pPr algn="just"/>
            <a:r>
              <a:rPr lang="en-US" sz="2800" dirty="0" smtClean="0"/>
              <a:t>Provide </a:t>
            </a:r>
            <a:r>
              <a:rPr lang="en-US" sz="2800" dirty="0" smtClean="0">
                <a:solidFill>
                  <a:schemeClr val="accent1"/>
                </a:solidFill>
              </a:rPr>
              <a:t>I/O support </a:t>
            </a:r>
            <a:r>
              <a:rPr lang="en-US" sz="2800" dirty="0" smtClean="0"/>
              <a:t>for a variety of storage device types</a:t>
            </a:r>
          </a:p>
          <a:p>
            <a:pPr algn="just"/>
            <a:r>
              <a:rPr lang="en-NZ" sz="2800" dirty="0" smtClean="0"/>
              <a:t>Provide a standardized set of </a:t>
            </a:r>
            <a:r>
              <a:rPr lang="en-NZ" sz="2800" dirty="0" smtClean="0">
                <a:solidFill>
                  <a:schemeClr val="accent1"/>
                </a:solidFill>
              </a:rPr>
              <a:t>I/O interface routines</a:t>
            </a:r>
            <a:r>
              <a:rPr lang="en-NZ" sz="2800" dirty="0" smtClean="0"/>
              <a:t> to user processes</a:t>
            </a:r>
          </a:p>
          <a:p>
            <a:pPr algn="just"/>
            <a:r>
              <a:rPr lang="en-NZ" sz="2800" dirty="0" smtClean="0"/>
              <a:t>Provide I/O support for </a:t>
            </a:r>
            <a:r>
              <a:rPr lang="en-NZ" sz="2800" dirty="0" smtClean="0">
                <a:solidFill>
                  <a:schemeClr val="accent1"/>
                </a:solidFill>
              </a:rPr>
              <a:t>multiple users </a:t>
            </a:r>
            <a:r>
              <a:rPr lang="en-NZ" sz="2800" dirty="0" smtClean="0"/>
              <a:t>(if needed)</a:t>
            </a:r>
          </a:p>
          <a:p>
            <a:pPr algn="just"/>
            <a:r>
              <a:rPr lang="en-NZ" sz="2800" dirty="0" smtClean="0">
                <a:solidFill>
                  <a:schemeClr val="accent1"/>
                </a:solidFill>
              </a:rPr>
              <a:t>Minimize</a:t>
            </a:r>
            <a:r>
              <a:rPr lang="en-NZ" sz="2800" dirty="0" smtClean="0"/>
              <a:t> lost or destroyed data</a:t>
            </a:r>
          </a:p>
          <a:p>
            <a:pPr algn="just">
              <a:buNone/>
            </a:pPr>
            <a:endParaRPr lang="en-US" sz="2800" dirty="0" smtClean="0"/>
          </a:p>
          <a:p>
            <a:pPr algn="just"/>
            <a:endParaRPr lang="en-US" sz="2800"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Requirements for a </a:t>
            </a:r>
            <a:br>
              <a:rPr lang="en-NZ" dirty="0" smtClean="0"/>
            </a:br>
            <a:r>
              <a:rPr lang="en-NZ" dirty="0" smtClean="0"/>
              <a:t>general purpose system</a:t>
            </a:r>
          </a:p>
        </p:txBody>
      </p:sp>
      <p:sp>
        <p:nvSpPr>
          <p:cNvPr id="3" name="Content Placeholder 2"/>
          <p:cNvSpPr>
            <a:spLocks noGrp="1"/>
          </p:cNvSpPr>
          <p:nvPr>
            <p:ph idx="1"/>
          </p:nvPr>
        </p:nvSpPr>
        <p:spPr>
          <a:xfrm>
            <a:off x="457200" y="1828800"/>
            <a:ext cx="8229600" cy="4953000"/>
          </a:xfrm>
        </p:spPr>
        <p:txBody>
          <a:bodyPr/>
          <a:lstStyle/>
          <a:p>
            <a:pPr marL="514350" indent="-514350" algn="just">
              <a:buFont typeface="+mj-lt"/>
              <a:buAutoNum type="arabicPeriod"/>
            </a:pPr>
            <a:r>
              <a:rPr lang="en-US" sz="2800" dirty="0" smtClean="0"/>
              <a:t>Each user should be able to </a:t>
            </a:r>
            <a:r>
              <a:rPr lang="en-US" sz="2800" dirty="0" smtClean="0">
                <a:solidFill>
                  <a:schemeClr val="accent1"/>
                </a:solidFill>
              </a:rPr>
              <a:t>create, delete, read, write and modify</a:t>
            </a:r>
            <a:r>
              <a:rPr lang="en-US" sz="2800" dirty="0" smtClean="0"/>
              <a:t> files</a:t>
            </a:r>
          </a:p>
          <a:p>
            <a:pPr marL="514350" indent="-514350" algn="just">
              <a:buFont typeface="+mj-lt"/>
              <a:buAutoNum type="arabicPeriod"/>
            </a:pPr>
            <a:r>
              <a:rPr lang="en-US" sz="2800" dirty="0" smtClean="0"/>
              <a:t>Each user may have </a:t>
            </a:r>
            <a:r>
              <a:rPr lang="en-US" sz="2800" dirty="0" smtClean="0">
                <a:solidFill>
                  <a:schemeClr val="accent1"/>
                </a:solidFill>
              </a:rPr>
              <a:t>controlled access </a:t>
            </a:r>
            <a:r>
              <a:rPr lang="en-US" sz="2800" dirty="0" smtClean="0"/>
              <a:t>to other users’ files</a:t>
            </a:r>
          </a:p>
          <a:p>
            <a:pPr marL="514350" indent="-514350" algn="just">
              <a:buFont typeface="+mj-lt"/>
              <a:buAutoNum type="arabicPeriod"/>
            </a:pPr>
            <a:r>
              <a:rPr lang="en-US" sz="2800" dirty="0" smtClean="0"/>
              <a:t>Each user </a:t>
            </a:r>
            <a:r>
              <a:rPr lang="en-US" sz="2800" dirty="0" smtClean="0">
                <a:solidFill>
                  <a:schemeClr val="accent1"/>
                </a:solidFill>
              </a:rPr>
              <a:t>may control </a:t>
            </a:r>
            <a:r>
              <a:rPr lang="en-US" sz="2800" dirty="0" smtClean="0"/>
              <a:t>what type of </a:t>
            </a:r>
            <a:r>
              <a:rPr lang="en-US" sz="2800" dirty="0" smtClean="0">
                <a:solidFill>
                  <a:schemeClr val="accent1"/>
                </a:solidFill>
              </a:rPr>
              <a:t>accesses</a:t>
            </a:r>
            <a:r>
              <a:rPr lang="en-US" sz="2800" dirty="0" smtClean="0"/>
              <a:t> are allowed to the users’ files</a:t>
            </a:r>
          </a:p>
          <a:p>
            <a:pPr marL="514350" indent="-514350" algn="just">
              <a:buFont typeface="+mj-lt"/>
              <a:buAutoNum type="arabicPeriod"/>
            </a:pPr>
            <a:r>
              <a:rPr lang="en-US" sz="2800" dirty="0" smtClean="0"/>
              <a:t>Each user should be able to </a:t>
            </a:r>
            <a:r>
              <a:rPr lang="en-US" sz="2800" dirty="0" smtClean="0">
                <a:solidFill>
                  <a:schemeClr val="accent1"/>
                </a:solidFill>
              </a:rPr>
              <a:t>restructure</a:t>
            </a:r>
            <a:r>
              <a:rPr lang="en-US" sz="2800" dirty="0" smtClean="0"/>
              <a:t> the user’s files in a appropriate form</a:t>
            </a:r>
          </a:p>
          <a:p>
            <a:pPr algn="just"/>
            <a:endParaRPr lang="en-US" sz="2800" dirty="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cont.</a:t>
            </a:r>
            <a:endParaRPr lang="en-US" dirty="0"/>
          </a:p>
        </p:txBody>
      </p:sp>
      <p:sp>
        <p:nvSpPr>
          <p:cNvPr id="3" name="Content Placeholder 2"/>
          <p:cNvSpPr>
            <a:spLocks noGrp="1"/>
          </p:cNvSpPr>
          <p:nvPr>
            <p:ph idx="1"/>
          </p:nvPr>
        </p:nvSpPr>
        <p:spPr/>
        <p:txBody>
          <a:bodyPr/>
          <a:lstStyle/>
          <a:p>
            <a:pPr marL="514350" indent="-514350" algn="just">
              <a:buFont typeface="+mj-lt"/>
              <a:buAutoNum type="arabicPeriod" startAt="5"/>
            </a:pPr>
            <a:r>
              <a:rPr lang="en-US" sz="2800" dirty="0" smtClean="0"/>
              <a:t>Each user should be able to </a:t>
            </a:r>
            <a:r>
              <a:rPr lang="en-US" sz="2800" dirty="0" smtClean="0">
                <a:solidFill>
                  <a:schemeClr val="accent1"/>
                </a:solidFill>
              </a:rPr>
              <a:t>move data </a:t>
            </a:r>
            <a:r>
              <a:rPr lang="en-US" sz="2800" dirty="0" smtClean="0"/>
              <a:t>between files</a:t>
            </a:r>
          </a:p>
          <a:p>
            <a:pPr marL="514350" indent="-514350" algn="just">
              <a:buFont typeface="+mj-lt"/>
              <a:buAutoNum type="arabicPeriod" startAt="5"/>
            </a:pPr>
            <a:r>
              <a:rPr lang="en-US" sz="2800" dirty="0" smtClean="0"/>
              <a:t>Each user should be able to </a:t>
            </a:r>
            <a:r>
              <a:rPr lang="en-US" sz="2800" dirty="0" smtClean="0">
                <a:solidFill>
                  <a:schemeClr val="accent1"/>
                </a:solidFill>
              </a:rPr>
              <a:t>back up and recover</a:t>
            </a:r>
            <a:r>
              <a:rPr lang="en-US" sz="2800" dirty="0" smtClean="0"/>
              <a:t> the user’s files in case of damage</a:t>
            </a:r>
          </a:p>
          <a:p>
            <a:pPr marL="514350" indent="-514350" algn="just">
              <a:buFont typeface="+mj-lt"/>
              <a:buAutoNum type="arabicPeriod" startAt="5"/>
            </a:pPr>
            <a:r>
              <a:rPr lang="en-US" sz="2800" dirty="0" smtClean="0"/>
              <a:t>Each user should be able to access the user’s files by using </a:t>
            </a:r>
            <a:r>
              <a:rPr lang="en-US" sz="2800" dirty="0" smtClean="0">
                <a:solidFill>
                  <a:schemeClr val="accent1"/>
                </a:solidFill>
              </a:rPr>
              <a:t>symbolic names</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4000" dirty="0" smtClean="0"/>
              <a:t>File System Architecture</a:t>
            </a:r>
            <a:endParaRPr lang="en-US" sz="4000" dirty="0"/>
          </a:p>
        </p:txBody>
      </p:sp>
      <p:pic>
        <p:nvPicPr>
          <p:cNvPr id="4" name="Content Placeholder 3" descr="Fig12_01.gif"/>
          <p:cNvPicPr>
            <a:picLocks noGrp="1" noChangeAspect="1"/>
          </p:cNvPicPr>
          <p:nvPr>
            <p:ph idx="1"/>
          </p:nvPr>
        </p:nvPicPr>
        <p:blipFill>
          <a:blip r:embed="rId3"/>
          <a:stretch>
            <a:fillRect/>
          </a:stretch>
        </p:blipFill>
        <p:spPr>
          <a:xfrm>
            <a:off x="76200" y="990600"/>
            <a:ext cx="8915400" cy="5562600"/>
          </a:xfrm>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Drivers</a:t>
            </a:r>
            <a:endParaRPr lang="en-US" dirty="0"/>
          </a:p>
        </p:txBody>
      </p:sp>
      <p:sp>
        <p:nvSpPr>
          <p:cNvPr id="3" name="Content Placeholder 2"/>
          <p:cNvSpPr>
            <a:spLocks noGrp="1"/>
          </p:cNvSpPr>
          <p:nvPr>
            <p:ph idx="1"/>
          </p:nvPr>
        </p:nvSpPr>
        <p:spPr/>
        <p:txBody>
          <a:bodyPr/>
          <a:lstStyle/>
          <a:p>
            <a:pPr algn="just"/>
            <a:r>
              <a:rPr lang="en-US" sz="2800" dirty="0" smtClean="0"/>
              <a:t>Lowest level</a:t>
            </a:r>
          </a:p>
          <a:p>
            <a:pPr algn="just"/>
            <a:r>
              <a:rPr lang="en-US" sz="2800" dirty="0" smtClean="0">
                <a:solidFill>
                  <a:schemeClr val="accent1"/>
                </a:solidFill>
              </a:rPr>
              <a:t>Communicates</a:t>
            </a:r>
            <a:r>
              <a:rPr lang="en-US" sz="2800" dirty="0" smtClean="0"/>
              <a:t> directly with </a:t>
            </a:r>
            <a:r>
              <a:rPr lang="en-US" sz="2800" dirty="0" smtClean="0">
                <a:solidFill>
                  <a:schemeClr val="accent1"/>
                </a:solidFill>
              </a:rPr>
              <a:t>peripheral devices</a:t>
            </a:r>
          </a:p>
          <a:p>
            <a:pPr algn="just"/>
            <a:r>
              <a:rPr lang="en-US" sz="2800" dirty="0" smtClean="0"/>
              <a:t>Responsible for </a:t>
            </a:r>
            <a:r>
              <a:rPr lang="en-US" sz="2800" dirty="0" smtClean="0">
                <a:solidFill>
                  <a:schemeClr val="accent1"/>
                </a:solidFill>
              </a:rPr>
              <a:t>starting I/O </a:t>
            </a:r>
            <a:r>
              <a:rPr lang="en-US" sz="2800" dirty="0" smtClean="0"/>
              <a:t>operations on a device</a:t>
            </a:r>
          </a:p>
          <a:p>
            <a:pPr algn="just"/>
            <a:r>
              <a:rPr lang="en-US" sz="2800" dirty="0" smtClean="0"/>
              <a:t>Processes the </a:t>
            </a:r>
            <a:r>
              <a:rPr lang="en-US" sz="2800" dirty="0" smtClean="0">
                <a:solidFill>
                  <a:schemeClr val="accent1"/>
                </a:solidFill>
              </a:rPr>
              <a:t>completion of an I/O </a:t>
            </a:r>
            <a:r>
              <a:rPr lang="en-US" sz="2800" dirty="0" smtClean="0"/>
              <a:t>request</a:t>
            </a:r>
          </a:p>
          <a:p>
            <a:pPr algn="just"/>
            <a:endParaRPr lang="en-US" sz="2800"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File System</a:t>
            </a:r>
            <a:endParaRPr lang="en-US" dirty="0"/>
          </a:p>
        </p:txBody>
      </p:sp>
      <p:sp>
        <p:nvSpPr>
          <p:cNvPr id="3" name="Content Placeholder 2"/>
          <p:cNvSpPr>
            <a:spLocks noGrp="1"/>
          </p:cNvSpPr>
          <p:nvPr>
            <p:ph idx="1"/>
          </p:nvPr>
        </p:nvSpPr>
        <p:spPr/>
        <p:txBody>
          <a:bodyPr/>
          <a:lstStyle/>
          <a:p>
            <a:pPr algn="just"/>
            <a:r>
              <a:rPr lang="en-US" sz="2800" dirty="0" smtClean="0"/>
              <a:t>Also known as </a:t>
            </a:r>
            <a:r>
              <a:rPr lang="en-US" sz="2800" dirty="0" smtClean="0">
                <a:solidFill>
                  <a:schemeClr val="accent1"/>
                </a:solidFill>
              </a:rPr>
              <a:t>Physical I/O</a:t>
            </a:r>
          </a:p>
          <a:p>
            <a:pPr algn="just"/>
            <a:r>
              <a:rPr lang="en-US" sz="2800" dirty="0" smtClean="0"/>
              <a:t>Primary interface with the environment outside the computer system</a:t>
            </a:r>
          </a:p>
          <a:p>
            <a:pPr algn="just"/>
            <a:r>
              <a:rPr lang="en-US" sz="2800" dirty="0" smtClean="0"/>
              <a:t>Deals with </a:t>
            </a:r>
            <a:r>
              <a:rPr lang="en-US" sz="2800" dirty="0" smtClean="0">
                <a:solidFill>
                  <a:schemeClr val="accent1"/>
                </a:solidFill>
              </a:rPr>
              <a:t>exchanging blocks </a:t>
            </a:r>
            <a:r>
              <a:rPr lang="en-US" sz="2800" dirty="0" smtClean="0"/>
              <a:t>of data</a:t>
            </a:r>
          </a:p>
          <a:p>
            <a:pPr algn="just"/>
            <a:r>
              <a:rPr lang="en-US" sz="2800" dirty="0" smtClean="0"/>
              <a:t>Concerned with the </a:t>
            </a:r>
            <a:r>
              <a:rPr lang="en-US" sz="2800" dirty="0" smtClean="0">
                <a:solidFill>
                  <a:schemeClr val="accent1"/>
                </a:solidFill>
              </a:rPr>
              <a:t>placement</a:t>
            </a:r>
            <a:r>
              <a:rPr lang="en-US" sz="2800" dirty="0" smtClean="0"/>
              <a:t> of blocks</a:t>
            </a:r>
          </a:p>
          <a:p>
            <a:pPr algn="just"/>
            <a:r>
              <a:rPr lang="en-US" sz="2800" dirty="0" smtClean="0"/>
              <a:t>Concerned with </a:t>
            </a:r>
            <a:r>
              <a:rPr lang="en-US" sz="2800" dirty="0" smtClean="0">
                <a:solidFill>
                  <a:schemeClr val="accent1"/>
                </a:solidFill>
              </a:rPr>
              <a:t>buffering </a:t>
            </a:r>
            <a:r>
              <a:rPr lang="en-US" sz="2800" dirty="0" smtClean="0"/>
              <a:t>blocks in main memory</a:t>
            </a:r>
          </a:p>
          <a:p>
            <a:pPr algn="just"/>
            <a:endParaRPr lang="en-US" sz="2800"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Basic I/O Supervisor</a:t>
            </a:r>
            <a:endParaRPr lang="en-NZ" dirty="0"/>
          </a:p>
        </p:txBody>
      </p:sp>
      <p:sp>
        <p:nvSpPr>
          <p:cNvPr id="3" name="Content Placeholder 2"/>
          <p:cNvSpPr>
            <a:spLocks noGrp="1"/>
          </p:cNvSpPr>
          <p:nvPr>
            <p:ph idx="1"/>
          </p:nvPr>
        </p:nvSpPr>
        <p:spPr/>
        <p:txBody>
          <a:bodyPr/>
          <a:lstStyle/>
          <a:p>
            <a:pPr algn="just"/>
            <a:r>
              <a:rPr lang="en-NZ" sz="2800" dirty="0" smtClean="0"/>
              <a:t>Responsible for all file </a:t>
            </a:r>
            <a:r>
              <a:rPr lang="en-NZ" sz="2800" dirty="0" smtClean="0">
                <a:solidFill>
                  <a:schemeClr val="accent1"/>
                </a:solidFill>
              </a:rPr>
              <a:t>I/O initiation and termination</a:t>
            </a:r>
            <a:r>
              <a:rPr lang="en-NZ" sz="2800" dirty="0" smtClean="0"/>
              <a:t>.</a:t>
            </a:r>
          </a:p>
          <a:p>
            <a:pPr algn="just"/>
            <a:r>
              <a:rPr lang="en-NZ" sz="2800" dirty="0" smtClean="0"/>
              <a:t>Control structures deal with</a:t>
            </a:r>
          </a:p>
          <a:p>
            <a:pPr lvl="1" algn="just">
              <a:buFont typeface="Arial" pitchFamily="34" charset="0"/>
              <a:buChar char="•"/>
            </a:pPr>
            <a:r>
              <a:rPr lang="en-NZ" dirty="0" smtClean="0"/>
              <a:t>Device I/O, </a:t>
            </a:r>
          </a:p>
          <a:p>
            <a:pPr lvl="1" algn="just">
              <a:buFont typeface="Arial" pitchFamily="34" charset="0"/>
              <a:buChar char="•"/>
            </a:pPr>
            <a:r>
              <a:rPr lang="en-NZ" dirty="0" smtClean="0"/>
              <a:t>Scheduling,</a:t>
            </a:r>
          </a:p>
          <a:p>
            <a:pPr lvl="1" algn="just">
              <a:buFont typeface="Arial" pitchFamily="34" charset="0"/>
              <a:buChar char="•"/>
            </a:pPr>
            <a:r>
              <a:rPr lang="en-NZ" dirty="0" smtClean="0"/>
              <a:t>File status.</a:t>
            </a:r>
          </a:p>
          <a:p>
            <a:pPr algn="just">
              <a:buFont typeface="Arial" pitchFamily="34" charset="0"/>
              <a:buChar char="•"/>
            </a:pPr>
            <a:r>
              <a:rPr lang="en-NZ" sz="2800" dirty="0" smtClean="0"/>
              <a:t>Selects and schedules I/O with the device</a:t>
            </a:r>
          </a:p>
          <a:p>
            <a:pPr algn="just"/>
            <a:endParaRPr lang="en-NZ" sz="2800"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I/O</a:t>
            </a:r>
            <a:endParaRPr lang="en-US" dirty="0"/>
          </a:p>
        </p:txBody>
      </p:sp>
      <p:sp>
        <p:nvSpPr>
          <p:cNvPr id="3" name="Content Placeholder 2"/>
          <p:cNvSpPr>
            <a:spLocks noGrp="1"/>
          </p:cNvSpPr>
          <p:nvPr>
            <p:ph idx="1"/>
          </p:nvPr>
        </p:nvSpPr>
        <p:spPr/>
        <p:txBody>
          <a:bodyPr/>
          <a:lstStyle/>
          <a:p>
            <a:pPr algn="just"/>
            <a:r>
              <a:rPr lang="en-US" sz="2800" dirty="0" smtClean="0">
                <a:solidFill>
                  <a:schemeClr val="accent1"/>
                </a:solidFill>
              </a:rPr>
              <a:t>Interface</a:t>
            </a:r>
            <a:r>
              <a:rPr lang="en-US" sz="2800" dirty="0" smtClean="0"/>
              <a:t> between program’s logical commands and physical details of disk</a:t>
            </a:r>
          </a:p>
          <a:p>
            <a:pPr algn="just"/>
            <a:r>
              <a:rPr lang="en-US" sz="2800" dirty="0" smtClean="0">
                <a:solidFill>
                  <a:schemeClr val="accent1"/>
                </a:solidFill>
              </a:rPr>
              <a:t>Physical I/O </a:t>
            </a:r>
            <a:r>
              <a:rPr lang="en-US" sz="2800" dirty="0" smtClean="0"/>
              <a:t>deals with </a:t>
            </a:r>
            <a:r>
              <a:rPr lang="en-US" sz="2800" dirty="0" smtClean="0">
                <a:solidFill>
                  <a:schemeClr val="accent1"/>
                </a:solidFill>
              </a:rPr>
              <a:t>blocks</a:t>
            </a:r>
            <a:r>
              <a:rPr lang="en-US" sz="2800" dirty="0" smtClean="0"/>
              <a:t> while </a:t>
            </a:r>
            <a:r>
              <a:rPr lang="en-US" sz="2800" dirty="0" smtClean="0">
                <a:solidFill>
                  <a:schemeClr val="accent1"/>
                </a:solidFill>
              </a:rPr>
              <a:t>logical I/O </a:t>
            </a:r>
            <a:r>
              <a:rPr lang="en-US" sz="2800" dirty="0" smtClean="0"/>
              <a:t>deals with </a:t>
            </a:r>
            <a:r>
              <a:rPr lang="en-US" sz="2800" dirty="0" smtClean="0">
                <a:solidFill>
                  <a:schemeClr val="accent1"/>
                </a:solidFill>
              </a:rPr>
              <a:t>records</a:t>
            </a:r>
          </a:p>
          <a:p>
            <a:pPr algn="just"/>
            <a:r>
              <a:rPr lang="en-US" sz="2800" dirty="0" smtClean="0"/>
              <a:t>Enables users and applications to access records</a:t>
            </a:r>
          </a:p>
          <a:p>
            <a:pPr algn="just"/>
            <a:r>
              <a:rPr lang="en-US" sz="2800" dirty="0" smtClean="0"/>
              <a:t>Maintains basic data about file</a:t>
            </a:r>
          </a:p>
          <a:p>
            <a:pPr algn="just"/>
            <a:endParaRPr lang="en-US" sz="2800" dirty="0" smtClean="0"/>
          </a:p>
          <a:p>
            <a:pPr algn="just"/>
            <a:endParaRPr lang="en-US" sz="2800"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Method</a:t>
            </a:r>
            <a:endParaRPr lang="en-US" dirty="0"/>
          </a:p>
        </p:txBody>
      </p:sp>
      <p:sp>
        <p:nvSpPr>
          <p:cNvPr id="3" name="Content Placeholder 2"/>
          <p:cNvSpPr>
            <a:spLocks noGrp="1"/>
          </p:cNvSpPr>
          <p:nvPr>
            <p:ph idx="1"/>
          </p:nvPr>
        </p:nvSpPr>
        <p:spPr/>
        <p:txBody>
          <a:bodyPr/>
          <a:lstStyle/>
          <a:p>
            <a:pPr algn="just"/>
            <a:r>
              <a:rPr lang="en-US" sz="2800" dirty="0" smtClean="0">
                <a:solidFill>
                  <a:schemeClr val="accent1"/>
                </a:solidFill>
              </a:rPr>
              <a:t>Closest to the user</a:t>
            </a:r>
          </a:p>
          <a:p>
            <a:pPr algn="just"/>
            <a:r>
              <a:rPr lang="en-US" sz="2800" dirty="0" smtClean="0"/>
              <a:t>Reflect different </a:t>
            </a:r>
            <a:r>
              <a:rPr lang="en-US" sz="2800" dirty="0" smtClean="0">
                <a:solidFill>
                  <a:schemeClr val="accent1"/>
                </a:solidFill>
              </a:rPr>
              <a:t>file structures</a:t>
            </a:r>
          </a:p>
          <a:p>
            <a:pPr algn="just"/>
            <a:r>
              <a:rPr lang="en-NZ" sz="2800" dirty="0" smtClean="0"/>
              <a:t>Provides a </a:t>
            </a:r>
            <a:r>
              <a:rPr lang="en-NZ" sz="2800" dirty="0" smtClean="0">
                <a:solidFill>
                  <a:schemeClr val="accent1"/>
                </a:solidFill>
              </a:rPr>
              <a:t>standard interface </a:t>
            </a:r>
            <a:r>
              <a:rPr lang="en-NZ" sz="2800" dirty="0" smtClean="0"/>
              <a:t>between applications and the file systems and devices that hold the data</a:t>
            </a:r>
            <a:endParaRPr lang="en-US" sz="2800" dirty="0" smtClean="0"/>
          </a:p>
          <a:p>
            <a:pPr algn="just"/>
            <a:r>
              <a:rPr lang="en-US" sz="2800" dirty="0" smtClean="0"/>
              <a:t>Access method varies depending on the ways to access and process data for the device.</a:t>
            </a:r>
          </a:p>
          <a:p>
            <a:pPr algn="just"/>
            <a:endParaRPr lang="en-US" sz="2800"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487362"/>
          </a:xfrm>
        </p:spPr>
        <p:txBody>
          <a:bodyPr/>
          <a:lstStyle/>
          <a:p>
            <a:r>
              <a:rPr lang="en-US" sz="4000" dirty="0" smtClean="0"/>
              <a:t>Elements of File Management</a:t>
            </a:r>
            <a:endParaRPr lang="en-US" sz="4000" dirty="0"/>
          </a:p>
        </p:txBody>
      </p:sp>
      <p:pic>
        <p:nvPicPr>
          <p:cNvPr id="4" name="Content Placeholder 3" descr="Fig12_02.gif"/>
          <p:cNvPicPr>
            <a:picLocks noGrp="1" noChangeAspect="1"/>
          </p:cNvPicPr>
          <p:nvPr>
            <p:ph idx="1"/>
          </p:nvPr>
        </p:nvPicPr>
        <p:blipFill>
          <a:blip r:embed="rId3"/>
          <a:stretch>
            <a:fillRect/>
          </a:stretch>
        </p:blipFill>
        <p:spPr>
          <a:xfrm>
            <a:off x="0" y="914400"/>
            <a:ext cx="9143999" cy="5943600"/>
          </a:xfrm>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File Management</a:t>
            </a:r>
            <a:endParaRPr lang="en-US" dirty="0"/>
          </a:p>
        </p:txBody>
      </p:sp>
      <p:sp>
        <p:nvSpPr>
          <p:cNvPr id="3" name="Content Placeholder 2"/>
          <p:cNvSpPr>
            <a:spLocks noGrp="1"/>
          </p:cNvSpPr>
          <p:nvPr>
            <p:ph idx="1"/>
          </p:nvPr>
        </p:nvSpPr>
        <p:spPr/>
        <p:txBody>
          <a:bodyPr/>
          <a:lstStyle/>
          <a:p>
            <a:pPr algn="just"/>
            <a:r>
              <a:rPr lang="en-US" sz="2200" dirty="0" smtClean="0">
                <a:solidFill>
                  <a:schemeClr val="tx2"/>
                </a:solidFill>
              </a:rPr>
              <a:t>Directory Management:</a:t>
            </a:r>
          </a:p>
          <a:p>
            <a:pPr lvl="1" algn="just"/>
            <a:r>
              <a:rPr lang="en-US" sz="2200" dirty="0" smtClean="0"/>
              <a:t>Load file from directory to perform any operation</a:t>
            </a:r>
          </a:p>
          <a:p>
            <a:pPr algn="just"/>
            <a:r>
              <a:rPr lang="en-US" sz="2200" dirty="0" smtClean="0">
                <a:solidFill>
                  <a:schemeClr val="tx2"/>
                </a:solidFill>
              </a:rPr>
              <a:t>Access Control</a:t>
            </a:r>
          </a:p>
          <a:p>
            <a:pPr lvl="1" algn="just"/>
            <a:r>
              <a:rPr lang="en-US" sz="2200" dirty="0" smtClean="0"/>
              <a:t>Verify User access rights </a:t>
            </a:r>
          </a:p>
          <a:p>
            <a:pPr algn="just"/>
            <a:r>
              <a:rPr lang="en-US" sz="2200" dirty="0" smtClean="0">
                <a:solidFill>
                  <a:schemeClr val="tx2"/>
                </a:solidFill>
              </a:rPr>
              <a:t>Access method </a:t>
            </a:r>
          </a:p>
          <a:p>
            <a:pPr lvl="1" algn="just"/>
            <a:r>
              <a:rPr lang="en-US" sz="2200" dirty="0" smtClean="0"/>
              <a:t>translates user commands to file manipulation commands</a:t>
            </a:r>
          </a:p>
          <a:p>
            <a:pPr algn="just"/>
            <a:r>
              <a:rPr lang="en-US" sz="2200" dirty="0" smtClean="0">
                <a:solidFill>
                  <a:schemeClr val="tx2"/>
                </a:solidFill>
              </a:rPr>
              <a:t>Blocking</a:t>
            </a:r>
          </a:p>
          <a:p>
            <a:pPr lvl="1" algn="just"/>
            <a:r>
              <a:rPr lang="en-US" sz="2200" dirty="0" smtClean="0"/>
              <a:t>I/O is performed on block by block basis</a:t>
            </a:r>
          </a:p>
          <a:p>
            <a:pPr algn="just"/>
            <a:r>
              <a:rPr lang="en-US" sz="2200" dirty="0" smtClean="0">
                <a:solidFill>
                  <a:schemeClr val="tx2"/>
                </a:solidFill>
              </a:rPr>
              <a:t>Scheduling</a:t>
            </a:r>
          </a:p>
          <a:p>
            <a:pPr lvl="1" algn="just"/>
            <a:r>
              <a:rPr lang="en-US" sz="2200" dirty="0" smtClean="0"/>
              <a:t>Needed for optimum performance</a:t>
            </a:r>
          </a:p>
          <a:p>
            <a:pPr algn="just"/>
            <a:r>
              <a:rPr lang="en-US" sz="2200" dirty="0" smtClean="0">
                <a:solidFill>
                  <a:schemeClr val="tx2"/>
                </a:solidFill>
              </a:rPr>
              <a:t>Free Space Management</a:t>
            </a:r>
          </a:p>
          <a:p>
            <a:pPr lvl="1" algn="just"/>
            <a:endParaRPr lang="en-US" sz="2200" dirty="0" smtClean="0"/>
          </a:p>
          <a:p>
            <a:pPr algn="just"/>
            <a:endParaRPr lang="en-US" sz="2200"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Organization</a:t>
            </a:r>
            <a:endParaRPr lang="en-US" dirty="0"/>
          </a:p>
        </p:txBody>
      </p:sp>
      <p:sp>
        <p:nvSpPr>
          <p:cNvPr id="3" name="Content Placeholder 2"/>
          <p:cNvSpPr>
            <a:spLocks noGrp="1"/>
          </p:cNvSpPr>
          <p:nvPr>
            <p:ph idx="1"/>
          </p:nvPr>
        </p:nvSpPr>
        <p:spPr/>
        <p:txBody>
          <a:bodyPr/>
          <a:lstStyle/>
          <a:p>
            <a:pPr algn="just"/>
            <a:r>
              <a:rPr lang="en-US" sz="2800" dirty="0" smtClean="0"/>
              <a:t>File Management Referring to the </a:t>
            </a:r>
            <a:r>
              <a:rPr lang="en-US" sz="2800" dirty="0" smtClean="0">
                <a:solidFill>
                  <a:schemeClr val="accent1"/>
                </a:solidFill>
              </a:rPr>
              <a:t>logical structure</a:t>
            </a:r>
            <a:r>
              <a:rPr lang="en-US" sz="2800" dirty="0" smtClean="0"/>
              <a:t> of records</a:t>
            </a:r>
          </a:p>
          <a:p>
            <a:pPr lvl="1" algn="just"/>
            <a:r>
              <a:rPr lang="en-US" dirty="0" smtClean="0"/>
              <a:t>Physical organization discussed later</a:t>
            </a:r>
          </a:p>
          <a:p>
            <a:pPr algn="just"/>
            <a:endParaRPr lang="en-US" sz="2800" dirty="0" smtClean="0"/>
          </a:p>
          <a:p>
            <a:pPr algn="just"/>
            <a:r>
              <a:rPr lang="en-US" sz="2800" dirty="0" smtClean="0"/>
              <a:t>Determined by the </a:t>
            </a:r>
            <a:r>
              <a:rPr lang="en-US" sz="2800" b="1" i="1" dirty="0" smtClean="0"/>
              <a:t>way</a:t>
            </a:r>
            <a:r>
              <a:rPr lang="en-US" sz="2800" i="1" dirty="0" smtClean="0"/>
              <a:t> </a:t>
            </a:r>
            <a:r>
              <a:rPr lang="en-US" sz="2800" dirty="0" smtClean="0"/>
              <a:t>in which files are accessed</a:t>
            </a:r>
            <a:endParaRPr lang="en-US" sz="28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Criteria for </a:t>
            </a:r>
            <a:br>
              <a:rPr lang="en-US" dirty="0" smtClean="0"/>
            </a:br>
            <a:r>
              <a:rPr lang="en-US" dirty="0" smtClean="0"/>
              <a:t>File Organization</a:t>
            </a:r>
            <a:endParaRPr lang="en-US" dirty="0"/>
          </a:p>
        </p:txBody>
      </p:sp>
      <p:sp>
        <p:nvSpPr>
          <p:cNvPr id="3" name="Content Placeholder 2"/>
          <p:cNvSpPr>
            <a:spLocks noGrp="1"/>
          </p:cNvSpPr>
          <p:nvPr>
            <p:ph idx="1"/>
          </p:nvPr>
        </p:nvSpPr>
        <p:spPr/>
        <p:txBody>
          <a:bodyPr/>
          <a:lstStyle/>
          <a:p>
            <a:pPr algn="just"/>
            <a:r>
              <a:rPr lang="en-US" sz="2800" dirty="0" smtClean="0">
                <a:solidFill>
                  <a:schemeClr val="tx2"/>
                </a:solidFill>
              </a:rPr>
              <a:t>Important criteria </a:t>
            </a:r>
            <a:r>
              <a:rPr lang="en-US" sz="2800" dirty="0" smtClean="0"/>
              <a:t>include:</a:t>
            </a:r>
          </a:p>
          <a:p>
            <a:pPr lvl="1" algn="just"/>
            <a:r>
              <a:rPr lang="en-US" dirty="0" smtClean="0"/>
              <a:t>Short access time</a:t>
            </a:r>
          </a:p>
          <a:p>
            <a:pPr lvl="1" algn="just"/>
            <a:r>
              <a:rPr lang="en-US" dirty="0" smtClean="0"/>
              <a:t>Ease of update</a:t>
            </a:r>
          </a:p>
          <a:p>
            <a:pPr lvl="1" algn="just"/>
            <a:r>
              <a:rPr lang="en-US" dirty="0" smtClean="0"/>
              <a:t>Economy of storage</a:t>
            </a:r>
          </a:p>
          <a:p>
            <a:pPr lvl="1" algn="just"/>
            <a:r>
              <a:rPr lang="en-US" dirty="0" smtClean="0"/>
              <a:t>Simple maintenance</a:t>
            </a:r>
          </a:p>
          <a:p>
            <a:pPr lvl="1" algn="just"/>
            <a:r>
              <a:rPr lang="en-US" dirty="0" smtClean="0"/>
              <a:t>Reliability</a:t>
            </a:r>
          </a:p>
          <a:p>
            <a:pPr lvl="1" algn="just"/>
            <a:endParaRPr lang="en-US" dirty="0" smtClean="0"/>
          </a:p>
          <a:p>
            <a:pPr algn="just"/>
            <a:r>
              <a:rPr lang="en-US" sz="2800" dirty="0" smtClean="0"/>
              <a:t>Priority will differ depending on the use (e.g. read-only CD vs Hard Drive)</a:t>
            </a:r>
            <a:endParaRPr lang="en-US" dirty="0" smtClean="0"/>
          </a:p>
          <a:p>
            <a:pPr algn="just"/>
            <a:endParaRPr lang="en-US" sz="2800"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File Organisation Types</a:t>
            </a:r>
            <a:endParaRPr lang="en-NZ" dirty="0"/>
          </a:p>
        </p:txBody>
      </p:sp>
      <p:sp>
        <p:nvSpPr>
          <p:cNvPr id="3" name="Content Placeholder 2"/>
          <p:cNvSpPr>
            <a:spLocks noGrp="1"/>
          </p:cNvSpPr>
          <p:nvPr>
            <p:ph idx="1"/>
          </p:nvPr>
        </p:nvSpPr>
        <p:spPr/>
        <p:txBody>
          <a:bodyPr/>
          <a:lstStyle/>
          <a:p>
            <a:r>
              <a:rPr lang="en-NZ" sz="2800" dirty="0" smtClean="0"/>
              <a:t>Many exist, but usually</a:t>
            </a:r>
            <a:r>
              <a:rPr lang="en-NZ" sz="2800" dirty="0" smtClean="0">
                <a:solidFill>
                  <a:schemeClr val="tx2"/>
                </a:solidFill>
              </a:rPr>
              <a:t> variations </a:t>
            </a:r>
            <a:r>
              <a:rPr lang="en-NZ" sz="2800" dirty="0" smtClean="0"/>
              <a:t>of:</a:t>
            </a:r>
          </a:p>
          <a:p>
            <a:endParaRPr lang="en-NZ" sz="2800" dirty="0" smtClean="0"/>
          </a:p>
          <a:p>
            <a:pPr lvl="1"/>
            <a:r>
              <a:rPr lang="en-NZ" dirty="0" smtClean="0"/>
              <a:t>Pile</a:t>
            </a:r>
          </a:p>
          <a:p>
            <a:pPr lvl="1"/>
            <a:r>
              <a:rPr lang="en-NZ" dirty="0" smtClean="0"/>
              <a:t>Sequential file</a:t>
            </a:r>
          </a:p>
          <a:p>
            <a:pPr lvl="1"/>
            <a:r>
              <a:rPr lang="en-NZ" dirty="0" smtClean="0"/>
              <a:t>Indexed sequential file</a:t>
            </a:r>
          </a:p>
          <a:p>
            <a:pPr lvl="1"/>
            <a:r>
              <a:rPr lang="en-NZ" dirty="0" smtClean="0"/>
              <a:t>Indexed file</a:t>
            </a:r>
          </a:p>
          <a:p>
            <a:pPr lvl="1"/>
            <a:r>
              <a:rPr lang="en-NZ" dirty="0" smtClean="0"/>
              <a:t>Direct, or hashed, file</a:t>
            </a:r>
          </a:p>
          <a:p>
            <a:pPr lvl="1"/>
            <a:endParaRPr lang="en-NZ"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Pile</a:t>
            </a:r>
          </a:p>
        </p:txBody>
      </p:sp>
      <p:sp>
        <p:nvSpPr>
          <p:cNvPr id="3" name="Content Placeholder 2"/>
          <p:cNvSpPr>
            <a:spLocks noGrp="1"/>
          </p:cNvSpPr>
          <p:nvPr>
            <p:ph idx="1"/>
          </p:nvPr>
        </p:nvSpPr>
        <p:spPr>
          <a:xfrm>
            <a:off x="304800" y="1447800"/>
            <a:ext cx="6248400" cy="4953000"/>
          </a:xfrm>
        </p:spPr>
        <p:txBody>
          <a:bodyPr/>
          <a:lstStyle/>
          <a:p>
            <a:pPr algn="just"/>
            <a:r>
              <a:rPr lang="en-US" sz="2800" dirty="0" smtClean="0"/>
              <a:t>Simplest form of organization</a:t>
            </a:r>
          </a:p>
          <a:p>
            <a:pPr algn="just"/>
            <a:r>
              <a:rPr lang="en-US" sz="2800" dirty="0" smtClean="0"/>
              <a:t>Data are collected in the order they arrive</a:t>
            </a:r>
          </a:p>
          <a:p>
            <a:pPr lvl="1" algn="just"/>
            <a:r>
              <a:rPr lang="en-US" dirty="0" smtClean="0">
                <a:solidFill>
                  <a:schemeClr val="accent1"/>
                </a:solidFill>
              </a:rPr>
              <a:t>No structure</a:t>
            </a:r>
          </a:p>
          <a:p>
            <a:pPr algn="just"/>
            <a:r>
              <a:rPr lang="en-US" sz="2800" dirty="0" smtClean="0">
                <a:solidFill>
                  <a:schemeClr val="accent1"/>
                </a:solidFill>
              </a:rPr>
              <a:t>Purpose </a:t>
            </a:r>
            <a:r>
              <a:rPr lang="en-US" sz="2800" dirty="0" smtClean="0"/>
              <a:t>is to accumulate a mass of data and save it</a:t>
            </a:r>
          </a:p>
          <a:p>
            <a:pPr algn="just"/>
            <a:r>
              <a:rPr lang="en-US" sz="2800" dirty="0" smtClean="0"/>
              <a:t>Variable length records, variable number of fields</a:t>
            </a:r>
          </a:p>
          <a:p>
            <a:pPr algn="just"/>
            <a:r>
              <a:rPr lang="en-US" sz="2800" dirty="0" smtClean="0"/>
              <a:t>Record access is by </a:t>
            </a:r>
            <a:r>
              <a:rPr lang="en-US" sz="2800" dirty="0" smtClean="0">
                <a:solidFill>
                  <a:schemeClr val="tx2"/>
                </a:solidFill>
              </a:rPr>
              <a:t>exhaustive search</a:t>
            </a:r>
            <a:endParaRPr lang="en-US" sz="2800" dirty="0">
              <a:solidFill>
                <a:schemeClr val="tx2"/>
              </a:solidFill>
            </a:endParaRPr>
          </a:p>
        </p:txBody>
      </p:sp>
      <p:pic>
        <p:nvPicPr>
          <p:cNvPr id="4" name="Content Placeholder 3" descr="Fig12_03a.gif"/>
          <p:cNvPicPr>
            <a:picLocks noChangeAspect="1"/>
          </p:cNvPicPr>
          <p:nvPr/>
        </p:nvPicPr>
        <p:blipFill>
          <a:blip r:embed="rId3"/>
          <a:stretch>
            <a:fillRect/>
          </a:stretch>
        </p:blipFill>
        <p:spPr bwMode="auto">
          <a:xfrm>
            <a:off x="6558413" y="1295401"/>
            <a:ext cx="2585586" cy="4343399"/>
          </a:xfrm>
          <a:prstGeom prst="rect">
            <a:avLst/>
          </a:prstGeom>
          <a:noFill/>
          <a:ln w="9525">
            <a:noFill/>
            <a:miter lim="800000"/>
            <a:headEnd/>
            <a:tailEnd/>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Sequential File</a:t>
            </a:r>
          </a:p>
        </p:txBody>
      </p:sp>
      <p:sp>
        <p:nvSpPr>
          <p:cNvPr id="3" name="Content Placeholder 2"/>
          <p:cNvSpPr>
            <a:spLocks noGrp="1"/>
          </p:cNvSpPr>
          <p:nvPr>
            <p:ph idx="1"/>
          </p:nvPr>
        </p:nvSpPr>
        <p:spPr>
          <a:xfrm>
            <a:off x="381000" y="1600200"/>
            <a:ext cx="5486400" cy="4953000"/>
          </a:xfrm>
        </p:spPr>
        <p:txBody>
          <a:bodyPr/>
          <a:lstStyle/>
          <a:p>
            <a:pPr algn="just"/>
            <a:r>
              <a:rPr lang="en-US" sz="2800" dirty="0" smtClean="0">
                <a:solidFill>
                  <a:schemeClr val="tx2"/>
                </a:solidFill>
              </a:rPr>
              <a:t>Most common </a:t>
            </a:r>
            <a:r>
              <a:rPr lang="en-US" sz="2800" dirty="0" smtClean="0"/>
              <a:t>form</a:t>
            </a:r>
          </a:p>
          <a:p>
            <a:pPr algn="just"/>
            <a:r>
              <a:rPr lang="en-US" sz="2800" dirty="0" smtClean="0">
                <a:solidFill>
                  <a:schemeClr val="tx2"/>
                </a:solidFill>
              </a:rPr>
              <a:t>Fixed format </a:t>
            </a:r>
            <a:r>
              <a:rPr lang="en-US" sz="2800" dirty="0" smtClean="0"/>
              <a:t>used for records with fixed length</a:t>
            </a:r>
          </a:p>
          <a:p>
            <a:pPr algn="just"/>
            <a:r>
              <a:rPr lang="en-US" sz="2800" dirty="0" smtClean="0"/>
              <a:t>All fields the same (order and length)</a:t>
            </a:r>
          </a:p>
          <a:p>
            <a:pPr algn="just"/>
            <a:r>
              <a:rPr lang="en-US" sz="2800" dirty="0" smtClean="0"/>
              <a:t>Field names and lengths are attributes of the file</a:t>
            </a:r>
          </a:p>
          <a:p>
            <a:pPr algn="just"/>
            <a:r>
              <a:rPr lang="en-US" sz="2800" dirty="0" smtClean="0">
                <a:solidFill>
                  <a:schemeClr val="tx2"/>
                </a:solidFill>
              </a:rPr>
              <a:t>Key field </a:t>
            </a:r>
            <a:r>
              <a:rPr lang="en-US" sz="2800" dirty="0" smtClean="0"/>
              <a:t>is used</a:t>
            </a:r>
          </a:p>
          <a:p>
            <a:pPr lvl="1" algn="just"/>
            <a:r>
              <a:rPr lang="en-US" sz="2400" dirty="0" smtClean="0"/>
              <a:t>Uniquely identifies the record</a:t>
            </a:r>
          </a:p>
          <a:p>
            <a:pPr lvl="1" algn="just"/>
            <a:r>
              <a:rPr lang="en-US" sz="2400" dirty="0" smtClean="0"/>
              <a:t>Records are stored in key sequence</a:t>
            </a:r>
          </a:p>
          <a:p>
            <a:pPr algn="just"/>
            <a:endParaRPr lang="en-US" sz="2800" dirty="0" smtClean="0"/>
          </a:p>
        </p:txBody>
      </p:sp>
      <p:pic>
        <p:nvPicPr>
          <p:cNvPr id="4" name="Content Placeholder 3" descr="Fig12_03b.gif"/>
          <p:cNvPicPr>
            <a:picLocks noChangeAspect="1"/>
          </p:cNvPicPr>
          <p:nvPr/>
        </p:nvPicPr>
        <p:blipFill>
          <a:blip r:embed="rId3"/>
          <a:stretch>
            <a:fillRect/>
          </a:stretch>
        </p:blipFill>
        <p:spPr bwMode="auto">
          <a:xfrm>
            <a:off x="5943600" y="1524000"/>
            <a:ext cx="3120081" cy="4876800"/>
          </a:xfrm>
          <a:prstGeom prst="rect">
            <a:avLst/>
          </a:prstGeom>
          <a:noFill/>
          <a:ln w="9525">
            <a:noFill/>
            <a:miter lim="800000"/>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Sequential File</a:t>
            </a:r>
            <a:endParaRPr lang="en-US" dirty="0"/>
          </a:p>
        </p:txBody>
      </p:sp>
      <p:sp>
        <p:nvSpPr>
          <p:cNvPr id="3" name="Content Placeholder 2"/>
          <p:cNvSpPr>
            <a:spLocks noGrp="1"/>
          </p:cNvSpPr>
          <p:nvPr>
            <p:ph idx="1"/>
          </p:nvPr>
        </p:nvSpPr>
        <p:spPr/>
        <p:txBody>
          <a:bodyPr/>
          <a:lstStyle/>
          <a:p>
            <a:pPr algn="just"/>
            <a:r>
              <a:rPr lang="en-US" sz="2800" dirty="0" smtClean="0">
                <a:solidFill>
                  <a:schemeClr val="tx2"/>
                </a:solidFill>
              </a:rPr>
              <a:t>Works poorly </a:t>
            </a:r>
            <a:r>
              <a:rPr lang="en-US" sz="2800" dirty="0" smtClean="0"/>
              <a:t>when queries are made for individual records</a:t>
            </a:r>
          </a:p>
          <a:p>
            <a:pPr lvl="1" algn="just"/>
            <a:r>
              <a:rPr lang="en-US" dirty="0" smtClean="0"/>
              <a:t>For very large sequential file</a:t>
            </a:r>
          </a:p>
          <a:p>
            <a:pPr algn="just"/>
            <a:r>
              <a:rPr lang="en-US" sz="2800" dirty="0" smtClean="0">
                <a:solidFill>
                  <a:schemeClr val="tx2"/>
                </a:solidFill>
              </a:rPr>
              <a:t>Additions/Insertions</a:t>
            </a:r>
            <a:r>
              <a:rPr lang="en-US" sz="2800" dirty="0" smtClean="0"/>
              <a:t> are also </a:t>
            </a:r>
            <a:r>
              <a:rPr lang="en-US" sz="2800" dirty="0" smtClean="0">
                <a:solidFill>
                  <a:schemeClr val="tx2"/>
                </a:solidFill>
              </a:rPr>
              <a:t>difficult</a:t>
            </a:r>
          </a:p>
          <a:p>
            <a:pPr lvl="1" algn="just"/>
            <a:r>
              <a:rPr lang="en-US" dirty="0" smtClean="0"/>
              <a:t>New records are placed in a separate pile file called </a:t>
            </a:r>
            <a:r>
              <a:rPr lang="en-US" dirty="0" smtClean="0">
                <a:solidFill>
                  <a:schemeClr val="tx2"/>
                </a:solidFill>
              </a:rPr>
              <a:t>log file</a:t>
            </a:r>
          </a:p>
          <a:p>
            <a:pPr lvl="2" algn="just"/>
            <a:r>
              <a:rPr lang="en-US" sz="2800" dirty="0" smtClean="0"/>
              <a:t>And merged later in batch mode</a:t>
            </a:r>
          </a:p>
          <a:p>
            <a:pPr algn="just"/>
            <a:r>
              <a:rPr lang="en-US" sz="2800" dirty="0" smtClean="0">
                <a:solidFill>
                  <a:schemeClr val="tx2"/>
                </a:solidFill>
              </a:rPr>
              <a:t>Solution?</a:t>
            </a:r>
          </a:p>
          <a:p>
            <a:pPr lvl="1" algn="just"/>
            <a:r>
              <a:rPr lang="en-US" dirty="0" smtClean="0"/>
              <a:t>Using linked list</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Sequential File</a:t>
            </a:r>
          </a:p>
        </p:txBody>
      </p:sp>
      <p:sp>
        <p:nvSpPr>
          <p:cNvPr id="3" name="Content Placeholder 2"/>
          <p:cNvSpPr>
            <a:spLocks noGrp="1"/>
          </p:cNvSpPr>
          <p:nvPr>
            <p:ph idx="1"/>
          </p:nvPr>
        </p:nvSpPr>
        <p:spPr>
          <a:xfrm>
            <a:off x="304800" y="1371600"/>
            <a:ext cx="4876800" cy="5105400"/>
          </a:xfrm>
        </p:spPr>
        <p:txBody>
          <a:bodyPr/>
          <a:lstStyle/>
          <a:p>
            <a:pPr algn="just"/>
            <a:r>
              <a:rPr lang="en-NZ" sz="2800" dirty="0" smtClean="0"/>
              <a:t>Maintains the key characteristic of the sequential file: </a:t>
            </a:r>
          </a:p>
          <a:p>
            <a:pPr lvl="1" algn="just">
              <a:buFont typeface="Arial" pitchFamily="34" charset="0"/>
              <a:buChar char="•"/>
            </a:pPr>
            <a:r>
              <a:rPr lang="en-NZ" dirty="0" smtClean="0">
                <a:solidFill>
                  <a:schemeClr val="tx2"/>
                </a:solidFill>
              </a:rPr>
              <a:t>Records</a:t>
            </a:r>
            <a:r>
              <a:rPr lang="en-NZ" dirty="0" smtClean="0"/>
              <a:t> are organized in </a:t>
            </a:r>
            <a:r>
              <a:rPr lang="en-NZ" dirty="0" smtClean="0">
                <a:solidFill>
                  <a:schemeClr val="tx2"/>
                </a:solidFill>
              </a:rPr>
              <a:t>sequence</a:t>
            </a:r>
            <a:r>
              <a:rPr lang="en-NZ" dirty="0" smtClean="0"/>
              <a:t> based on a key field.</a:t>
            </a:r>
          </a:p>
          <a:p>
            <a:pPr algn="just"/>
            <a:r>
              <a:rPr lang="en-NZ" sz="2800" b="1" dirty="0" smtClean="0">
                <a:solidFill>
                  <a:schemeClr val="tx2"/>
                </a:solidFill>
              </a:rPr>
              <a:t>Two features </a:t>
            </a:r>
            <a:r>
              <a:rPr lang="en-NZ" sz="2800" dirty="0" smtClean="0"/>
              <a:t>are added: </a:t>
            </a:r>
          </a:p>
          <a:p>
            <a:pPr lvl="1" algn="just">
              <a:buFont typeface="Arial" pitchFamily="34" charset="0"/>
              <a:buChar char="•"/>
            </a:pPr>
            <a:r>
              <a:rPr lang="en-NZ" b="1" dirty="0" smtClean="0"/>
              <a:t>An index </a:t>
            </a:r>
            <a:r>
              <a:rPr lang="en-NZ" dirty="0" smtClean="0"/>
              <a:t>to the file to support random access,</a:t>
            </a:r>
          </a:p>
          <a:p>
            <a:pPr lvl="1" algn="just">
              <a:buFont typeface="Arial" pitchFamily="34" charset="0"/>
              <a:buChar char="•"/>
            </a:pPr>
            <a:r>
              <a:rPr lang="en-NZ" dirty="0" smtClean="0"/>
              <a:t>and an </a:t>
            </a:r>
            <a:r>
              <a:rPr lang="en-NZ" b="1" dirty="0" smtClean="0"/>
              <a:t>overflow file</a:t>
            </a:r>
            <a:r>
              <a:rPr lang="en-NZ" dirty="0" smtClean="0"/>
              <a:t>. </a:t>
            </a:r>
          </a:p>
          <a:p>
            <a:pPr algn="just"/>
            <a:endParaRPr lang="en-US" sz="2800" dirty="0" smtClean="0"/>
          </a:p>
        </p:txBody>
      </p:sp>
      <p:pic>
        <p:nvPicPr>
          <p:cNvPr id="4" name="Content Placeholder 3" descr="Fig12_03c.gif"/>
          <p:cNvPicPr>
            <a:picLocks noChangeAspect="1"/>
          </p:cNvPicPr>
          <p:nvPr/>
        </p:nvPicPr>
        <p:blipFill>
          <a:blip r:embed="rId3"/>
          <a:stretch>
            <a:fillRect/>
          </a:stretch>
        </p:blipFill>
        <p:spPr bwMode="auto">
          <a:xfrm>
            <a:off x="5216979" y="1333500"/>
            <a:ext cx="3927021" cy="5143500"/>
          </a:xfrm>
          <a:prstGeom prst="rect">
            <a:avLst/>
          </a:prstGeom>
          <a:noFill/>
          <a:ln w="9525">
            <a:noFill/>
            <a:miter lim="800000"/>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Sequential File</a:t>
            </a:r>
            <a:endParaRPr lang="en-US" dirty="0"/>
          </a:p>
        </p:txBody>
      </p:sp>
      <p:sp>
        <p:nvSpPr>
          <p:cNvPr id="3" name="Content Placeholder 2"/>
          <p:cNvSpPr>
            <a:spLocks noGrp="1"/>
          </p:cNvSpPr>
          <p:nvPr>
            <p:ph idx="1"/>
          </p:nvPr>
        </p:nvSpPr>
        <p:spPr/>
        <p:txBody>
          <a:bodyPr/>
          <a:lstStyle/>
          <a:p>
            <a:pPr algn="just"/>
            <a:r>
              <a:rPr lang="en-US" sz="2800" b="1" u="sng" dirty="0" smtClean="0">
                <a:solidFill>
                  <a:schemeClr val="tx2"/>
                </a:solidFill>
              </a:rPr>
              <a:t>Index file:</a:t>
            </a:r>
          </a:p>
          <a:p>
            <a:pPr lvl="1" algn="just"/>
            <a:r>
              <a:rPr lang="en-US" dirty="0" smtClean="0"/>
              <a:t>Simple </a:t>
            </a:r>
            <a:r>
              <a:rPr lang="en-US" dirty="0" smtClean="0">
                <a:solidFill>
                  <a:schemeClr val="tx2"/>
                </a:solidFill>
              </a:rPr>
              <a:t>sequential file </a:t>
            </a:r>
            <a:r>
              <a:rPr lang="en-US" dirty="0" smtClean="0"/>
              <a:t>where each record contains two fields</a:t>
            </a:r>
          </a:p>
          <a:p>
            <a:pPr lvl="2" algn="just"/>
            <a:r>
              <a:rPr lang="en-US" sz="2800" dirty="0" smtClean="0"/>
              <a:t>Key – same as key in main file</a:t>
            </a:r>
          </a:p>
          <a:p>
            <a:pPr lvl="2" algn="just"/>
            <a:r>
              <a:rPr lang="en-US" sz="2800" dirty="0" smtClean="0"/>
              <a:t>Pointer to main file</a:t>
            </a:r>
          </a:p>
          <a:p>
            <a:pPr algn="just"/>
            <a:r>
              <a:rPr lang="en-US" sz="2800" b="1" u="sng" dirty="0" smtClean="0">
                <a:solidFill>
                  <a:schemeClr val="tx2"/>
                </a:solidFill>
              </a:rPr>
              <a:t>Overflow file:</a:t>
            </a:r>
          </a:p>
          <a:p>
            <a:pPr lvl="1" algn="just"/>
            <a:r>
              <a:rPr lang="en-US" dirty="0" smtClean="0"/>
              <a:t>Similar to log file but it is integrated with the main file</a:t>
            </a:r>
          </a:p>
          <a:p>
            <a:pPr lvl="2" algn="just"/>
            <a:r>
              <a:rPr lang="en-US" sz="2800" dirty="0" smtClean="0"/>
              <a:t>A Record in overflow file can be located by following its predecessor </a:t>
            </a:r>
            <a:endParaRPr lang="en-US" sz="2800"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Sequential File</a:t>
            </a:r>
            <a:endParaRPr lang="en-US" dirty="0"/>
          </a:p>
        </p:txBody>
      </p:sp>
      <p:sp>
        <p:nvSpPr>
          <p:cNvPr id="3" name="Content Placeholder 2"/>
          <p:cNvSpPr>
            <a:spLocks noGrp="1"/>
          </p:cNvSpPr>
          <p:nvPr>
            <p:ph idx="1"/>
          </p:nvPr>
        </p:nvSpPr>
        <p:spPr/>
        <p:txBody>
          <a:bodyPr/>
          <a:lstStyle/>
          <a:p>
            <a:pPr algn="just"/>
            <a:r>
              <a:rPr lang="en-US" sz="2800" b="1" dirty="0" smtClean="0">
                <a:solidFill>
                  <a:schemeClr val="tx2"/>
                </a:solidFill>
              </a:rPr>
              <a:t>Addition Operation:</a:t>
            </a:r>
          </a:p>
          <a:p>
            <a:pPr lvl="1" algn="just"/>
            <a:r>
              <a:rPr lang="en-US" dirty="0" smtClean="0"/>
              <a:t>New record is added to overflow file</a:t>
            </a:r>
          </a:p>
          <a:p>
            <a:pPr lvl="1" algn="just"/>
            <a:r>
              <a:rPr lang="en-US" dirty="0" smtClean="0"/>
              <a:t>Record in the main file that precedes new record is updated to contain a pointer to the new record</a:t>
            </a:r>
          </a:p>
          <a:p>
            <a:pPr lvl="1" algn="just"/>
            <a:r>
              <a:rPr lang="en-US" dirty="0" smtClean="0"/>
              <a:t>If the preceding record is in the overflow file itself, then its pointer is updated</a:t>
            </a:r>
          </a:p>
          <a:p>
            <a:pPr algn="just"/>
            <a:r>
              <a:rPr lang="en-US" sz="2800" dirty="0" smtClean="0"/>
              <a:t>Main file is merged with overflow file in batch mode</a:t>
            </a:r>
            <a:endParaRPr lang="en-US" sz="2800"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Sequential File</a:t>
            </a:r>
            <a:endParaRPr lang="en-US" dirty="0"/>
          </a:p>
        </p:txBody>
      </p:sp>
      <p:sp>
        <p:nvSpPr>
          <p:cNvPr id="3" name="Content Placeholder 2"/>
          <p:cNvSpPr>
            <a:spLocks noGrp="1"/>
          </p:cNvSpPr>
          <p:nvPr>
            <p:ph idx="1"/>
          </p:nvPr>
        </p:nvSpPr>
        <p:spPr/>
        <p:txBody>
          <a:bodyPr/>
          <a:lstStyle/>
          <a:p>
            <a:pPr algn="just"/>
            <a:r>
              <a:rPr lang="en-US" sz="2800" u="sng" dirty="0" smtClean="0">
                <a:solidFill>
                  <a:schemeClr val="tx2"/>
                </a:solidFill>
              </a:rPr>
              <a:t>Advantages:</a:t>
            </a:r>
          </a:p>
          <a:p>
            <a:pPr lvl="1" algn="just"/>
            <a:r>
              <a:rPr lang="en-US" dirty="0" smtClean="0"/>
              <a:t>Reduced access time</a:t>
            </a:r>
          </a:p>
          <a:p>
            <a:pPr lvl="1" algn="just"/>
            <a:r>
              <a:rPr lang="en-US" dirty="0" smtClean="0"/>
              <a:t>Can be improved further by using multiple levels of indexing</a:t>
            </a:r>
          </a:p>
          <a:p>
            <a:pPr algn="just"/>
            <a:endParaRPr lang="en-US" sz="2800" dirty="0" smtClean="0"/>
          </a:p>
          <a:p>
            <a:pPr algn="just"/>
            <a:r>
              <a:rPr lang="en-US" sz="2800" u="sng" dirty="0" smtClean="0">
                <a:solidFill>
                  <a:schemeClr val="tx2"/>
                </a:solidFill>
              </a:rPr>
              <a:t>Issues:</a:t>
            </a:r>
          </a:p>
          <a:p>
            <a:pPr lvl="1" algn="just"/>
            <a:r>
              <a:rPr lang="en-US" dirty="0" smtClean="0"/>
              <a:t>When the file is searched using a criteria other than the key, this approach won’t work</a:t>
            </a:r>
            <a:endParaRPr 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File</a:t>
            </a:r>
          </a:p>
        </p:txBody>
      </p:sp>
      <p:sp>
        <p:nvSpPr>
          <p:cNvPr id="3" name="Content Placeholder 2"/>
          <p:cNvSpPr>
            <a:spLocks noGrp="1"/>
          </p:cNvSpPr>
          <p:nvPr>
            <p:ph idx="1"/>
          </p:nvPr>
        </p:nvSpPr>
        <p:spPr>
          <a:xfrm>
            <a:off x="457200" y="1371600"/>
            <a:ext cx="6096000" cy="5181600"/>
          </a:xfrm>
        </p:spPr>
        <p:txBody>
          <a:bodyPr/>
          <a:lstStyle/>
          <a:p>
            <a:pPr algn="just"/>
            <a:r>
              <a:rPr lang="en-US" sz="2800" dirty="0" smtClean="0"/>
              <a:t>Uses </a:t>
            </a:r>
            <a:r>
              <a:rPr lang="en-US" sz="2800" dirty="0" smtClean="0">
                <a:solidFill>
                  <a:schemeClr val="tx2"/>
                </a:solidFill>
              </a:rPr>
              <a:t>multiple indexes </a:t>
            </a:r>
            <a:r>
              <a:rPr lang="en-US" sz="2800" dirty="0" smtClean="0"/>
              <a:t>for different key fields</a:t>
            </a:r>
          </a:p>
          <a:p>
            <a:pPr lvl="1" algn="just"/>
            <a:r>
              <a:rPr lang="en-US" dirty="0" smtClean="0"/>
              <a:t>May contain an </a:t>
            </a:r>
            <a:r>
              <a:rPr lang="en-US" dirty="0" smtClean="0">
                <a:solidFill>
                  <a:schemeClr val="tx2"/>
                </a:solidFill>
              </a:rPr>
              <a:t>exhaustive index </a:t>
            </a:r>
            <a:r>
              <a:rPr lang="en-US" dirty="0" smtClean="0"/>
              <a:t>that contains one entry for every record in the main file</a:t>
            </a:r>
          </a:p>
          <a:p>
            <a:pPr lvl="1" algn="just"/>
            <a:r>
              <a:rPr lang="en-US" dirty="0" smtClean="0"/>
              <a:t>May contain a </a:t>
            </a:r>
            <a:r>
              <a:rPr lang="en-US" dirty="0" smtClean="0">
                <a:solidFill>
                  <a:schemeClr val="tx2"/>
                </a:solidFill>
              </a:rPr>
              <a:t>partial index </a:t>
            </a:r>
            <a:r>
              <a:rPr lang="en-US" dirty="0" smtClean="0"/>
              <a:t>that contains records based on field of interest</a:t>
            </a:r>
          </a:p>
          <a:p>
            <a:pPr algn="just"/>
            <a:r>
              <a:rPr lang="en-NZ" sz="2800" dirty="0" smtClean="0"/>
              <a:t>When a new record is </a:t>
            </a:r>
            <a:r>
              <a:rPr lang="en-NZ" sz="2800" dirty="0" smtClean="0">
                <a:solidFill>
                  <a:schemeClr val="tx2"/>
                </a:solidFill>
              </a:rPr>
              <a:t>added</a:t>
            </a:r>
            <a:r>
              <a:rPr lang="en-NZ" sz="2800" dirty="0" smtClean="0"/>
              <a:t> to the main file, all of the index files must be updated.</a:t>
            </a:r>
          </a:p>
        </p:txBody>
      </p:sp>
      <p:pic>
        <p:nvPicPr>
          <p:cNvPr id="4" name="Content Placeholder 3" descr="Fig12_03d.gif"/>
          <p:cNvPicPr>
            <a:picLocks noChangeAspect="1"/>
          </p:cNvPicPr>
          <p:nvPr/>
        </p:nvPicPr>
        <p:blipFill>
          <a:blip r:embed="rId3"/>
          <a:stretch>
            <a:fillRect/>
          </a:stretch>
        </p:blipFill>
        <p:spPr bwMode="auto">
          <a:xfrm>
            <a:off x="6488404" y="1219200"/>
            <a:ext cx="2655596" cy="3581400"/>
          </a:xfrm>
          <a:prstGeom prst="rect">
            <a:avLst/>
          </a:prstGeom>
          <a:noFill/>
          <a:ln w="9525">
            <a:noFill/>
            <a:miter lim="800000"/>
            <a:headEnd/>
            <a:tailEnd/>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File</a:t>
            </a:r>
            <a:endParaRPr lang="en-US" dirty="0"/>
          </a:p>
        </p:txBody>
      </p:sp>
      <p:sp>
        <p:nvSpPr>
          <p:cNvPr id="3" name="Content Placeholder 2"/>
          <p:cNvSpPr>
            <a:spLocks noGrp="1"/>
          </p:cNvSpPr>
          <p:nvPr>
            <p:ph idx="1"/>
          </p:nvPr>
        </p:nvSpPr>
        <p:spPr/>
        <p:txBody>
          <a:bodyPr/>
          <a:lstStyle/>
          <a:p>
            <a:pPr algn="just"/>
            <a:r>
              <a:rPr lang="en-US" sz="2800" dirty="0" smtClean="0"/>
              <a:t>This structure can be helpful when the information is required on time</a:t>
            </a:r>
          </a:p>
          <a:p>
            <a:pPr lvl="1" algn="just"/>
            <a:r>
              <a:rPr lang="en-US" dirty="0" smtClean="0"/>
              <a:t>E.g. Booking information systems</a:t>
            </a:r>
            <a:endParaRPr 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Direct/Hashed File</a:t>
            </a:r>
            <a:endParaRPr lang="en-US" dirty="0"/>
          </a:p>
        </p:txBody>
      </p:sp>
      <p:sp>
        <p:nvSpPr>
          <p:cNvPr id="3" name="Content Placeholder 2"/>
          <p:cNvSpPr>
            <a:spLocks noGrp="1"/>
          </p:cNvSpPr>
          <p:nvPr>
            <p:ph idx="1"/>
          </p:nvPr>
        </p:nvSpPr>
        <p:spPr/>
        <p:txBody>
          <a:bodyPr/>
          <a:lstStyle/>
          <a:p>
            <a:pPr algn="just"/>
            <a:r>
              <a:rPr lang="en-US" sz="2800" dirty="0" smtClean="0"/>
              <a:t>Directly access a block at a known address</a:t>
            </a:r>
          </a:p>
          <a:p>
            <a:pPr algn="just"/>
            <a:r>
              <a:rPr lang="en-US" sz="2800" dirty="0" smtClean="0"/>
              <a:t>Key field required for each record</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Directory: Contents</a:t>
            </a:r>
            <a:endParaRPr lang="en-US" dirty="0"/>
          </a:p>
        </p:txBody>
      </p:sp>
      <p:sp>
        <p:nvSpPr>
          <p:cNvPr id="3" name="Content Placeholder 2"/>
          <p:cNvSpPr>
            <a:spLocks noGrp="1"/>
          </p:cNvSpPr>
          <p:nvPr>
            <p:ph idx="1"/>
          </p:nvPr>
        </p:nvSpPr>
        <p:spPr/>
        <p:txBody>
          <a:bodyPr/>
          <a:lstStyle/>
          <a:p>
            <a:pPr algn="just"/>
            <a:r>
              <a:rPr lang="en-US" sz="2800" dirty="0" smtClean="0"/>
              <a:t>Contains </a:t>
            </a:r>
            <a:r>
              <a:rPr lang="en-US" sz="2800" dirty="0" smtClean="0">
                <a:solidFill>
                  <a:schemeClr val="tx2"/>
                </a:solidFill>
              </a:rPr>
              <a:t>information about files</a:t>
            </a:r>
          </a:p>
          <a:p>
            <a:pPr lvl="1" algn="just"/>
            <a:r>
              <a:rPr lang="en-US" dirty="0" smtClean="0"/>
              <a:t>Attributes</a:t>
            </a:r>
          </a:p>
          <a:p>
            <a:pPr lvl="1" algn="just"/>
            <a:r>
              <a:rPr lang="en-US" dirty="0" smtClean="0"/>
              <a:t>Location</a:t>
            </a:r>
          </a:p>
          <a:p>
            <a:pPr lvl="1" algn="just"/>
            <a:r>
              <a:rPr lang="en-US" dirty="0" smtClean="0"/>
              <a:t>Ownership</a:t>
            </a:r>
          </a:p>
          <a:p>
            <a:pPr algn="just"/>
            <a:r>
              <a:rPr lang="en-US" sz="2800" dirty="0" smtClean="0"/>
              <a:t>Directory </a:t>
            </a:r>
            <a:r>
              <a:rPr lang="en-US" sz="2800" dirty="0" smtClean="0">
                <a:solidFill>
                  <a:schemeClr val="tx2"/>
                </a:solidFill>
              </a:rPr>
              <a:t>itself is a file </a:t>
            </a:r>
            <a:r>
              <a:rPr lang="en-US" sz="2800" dirty="0" smtClean="0"/>
              <a:t>owned by the operating system</a:t>
            </a:r>
          </a:p>
          <a:p>
            <a:pPr algn="just"/>
            <a:r>
              <a:rPr lang="en-US" sz="2800" dirty="0" smtClean="0"/>
              <a:t>Provides mapping between file names and the files themselves</a:t>
            </a:r>
          </a:p>
          <a:p>
            <a:pPr algn="just"/>
            <a:endParaRPr lang="en-US" sz="280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p:spPr>
        <p:txBody>
          <a:bodyPr/>
          <a:lstStyle/>
          <a:p>
            <a:r>
              <a:rPr lang="en-US" dirty="0" smtClean="0"/>
              <a:t>Directory Elements: </a:t>
            </a:r>
            <a:br>
              <a:rPr lang="en-US" dirty="0" smtClean="0"/>
            </a:br>
            <a:r>
              <a:rPr lang="en-US" dirty="0" smtClean="0"/>
              <a:t>Basic Information</a:t>
            </a:r>
            <a:endParaRPr lang="en-US" dirty="0"/>
          </a:p>
        </p:txBody>
      </p:sp>
      <p:sp>
        <p:nvSpPr>
          <p:cNvPr id="5" name="Content Placeholder 4"/>
          <p:cNvSpPr>
            <a:spLocks noGrp="1"/>
          </p:cNvSpPr>
          <p:nvPr>
            <p:ph idx="1"/>
          </p:nvPr>
        </p:nvSpPr>
        <p:spPr/>
        <p:txBody>
          <a:bodyPr/>
          <a:lstStyle/>
          <a:p>
            <a:pPr algn="just"/>
            <a:r>
              <a:rPr lang="en-NZ" sz="2800" dirty="0" smtClean="0">
                <a:solidFill>
                  <a:schemeClr val="tx2"/>
                </a:solidFill>
              </a:rPr>
              <a:t>File Name</a:t>
            </a:r>
          </a:p>
          <a:p>
            <a:pPr lvl="1" algn="just"/>
            <a:r>
              <a:rPr lang="en-NZ" dirty="0" smtClean="0"/>
              <a:t>Name as chosen by creator (user or program).</a:t>
            </a:r>
          </a:p>
          <a:p>
            <a:pPr lvl="1" algn="just"/>
            <a:r>
              <a:rPr lang="en-NZ" dirty="0" smtClean="0"/>
              <a:t>Must be unique within a specific directory.</a:t>
            </a:r>
          </a:p>
          <a:p>
            <a:pPr algn="just"/>
            <a:r>
              <a:rPr lang="en-NZ" sz="2800" dirty="0" smtClean="0">
                <a:solidFill>
                  <a:schemeClr val="tx2"/>
                </a:solidFill>
              </a:rPr>
              <a:t>File type</a:t>
            </a:r>
          </a:p>
          <a:p>
            <a:pPr algn="just"/>
            <a:r>
              <a:rPr lang="en-NZ" sz="2800" dirty="0" smtClean="0">
                <a:solidFill>
                  <a:schemeClr val="tx2"/>
                </a:solidFill>
              </a:rPr>
              <a:t>File Organisation</a:t>
            </a:r>
          </a:p>
          <a:p>
            <a:pPr lvl="1" algn="just"/>
            <a:r>
              <a:rPr lang="en-NZ" dirty="0" smtClean="0"/>
              <a:t>For systems that support different organizations</a:t>
            </a:r>
          </a:p>
          <a:p>
            <a:pPr lvl="1" algn="just"/>
            <a:endParaRPr lang="en-NZ"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Directory </a:t>
            </a:r>
            <a:r>
              <a:rPr lang="en-US" dirty="0" smtClean="0"/>
              <a:t>Elements</a:t>
            </a:r>
            <a:r>
              <a:rPr lang="en-NZ" dirty="0" smtClean="0"/>
              <a:t>: </a:t>
            </a:r>
            <a:br>
              <a:rPr lang="en-NZ" dirty="0" smtClean="0"/>
            </a:br>
            <a:r>
              <a:rPr lang="en-NZ" dirty="0" smtClean="0"/>
              <a:t>Address Information</a:t>
            </a:r>
            <a:endParaRPr lang="en-NZ" dirty="0"/>
          </a:p>
        </p:txBody>
      </p:sp>
      <p:sp>
        <p:nvSpPr>
          <p:cNvPr id="3" name="Content Placeholder 2"/>
          <p:cNvSpPr>
            <a:spLocks noGrp="1"/>
          </p:cNvSpPr>
          <p:nvPr>
            <p:ph idx="1"/>
          </p:nvPr>
        </p:nvSpPr>
        <p:spPr/>
        <p:txBody>
          <a:bodyPr/>
          <a:lstStyle/>
          <a:p>
            <a:pPr algn="just"/>
            <a:r>
              <a:rPr lang="en-NZ" sz="2800" dirty="0" smtClean="0">
                <a:solidFill>
                  <a:schemeClr val="tx2"/>
                </a:solidFill>
              </a:rPr>
              <a:t>Volume</a:t>
            </a:r>
          </a:p>
          <a:p>
            <a:pPr lvl="1" algn="just"/>
            <a:r>
              <a:rPr lang="en-NZ" dirty="0" smtClean="0"/>
              <a:t>Indicates device on which file is stored</a:t>
            </a:r>
          </a:p>
          <a:p>
            <a:pPr algn="just"/>
            <a:r>
              <a:rPr lang="en-NZ" sz="2800" dirty="0" smtClean="0">
                <a:solidFill>
                  <a:schemeClr val="tx2"/>
                </a:solidFill>
              </a:rPr>
              <a:t>Starting Address</a:t>
            </a:r>
          </a:p>
          <a:p>
            <a:pPr algn="just"/>
            <a:r>
              <a:rPr lang="en-NZ" sz="2800" dirty="0" smtClean="0">
                <a:solidFill>
                  <a:schemeClr val="tx2"/>
                </a:solidFill>
              </a:rPr>
              <a:t>Size Used </a:t>
            </a:r>
          </a:p>
          <a:p>
            <a:pPr lvl="1" algn="just"/>
            <a:r>
              <a:rPr lang="en-NZ" dirty="0" smtClean="0"/>
              <a:t>Current size of the file in bytes, words, or blocks</a:t>
            </a:r>
          </a:p>
          <a:p>
            <a:pPr algn="just"/>
            <a:r>
              <a:rPr lang="en-NZ" sz="2800" dirty="0" smtClean="0">
                <a:solidFill>
                  <a:schemeClr val="tx2"/>
                </a:solidFill>
              </a:rPr>
              <a:t>Size Allocated </a:t>
            </a:r>
          </a:p>
          <a:p>
            <a:pPr lvl="1" algn="just"/>
            <a:r>
              <a:rPr lang="en-NZ" dirty="0" smtClean="0"/>
              <a:t>The maximum size of the file</a:t>
            </a:r>
            <a:endParaRPr lang="en-NZ"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Directory</a:t>
            </a:r>
            <a:r>
              <a:rPr lang="en-US" dirty="0" smtClean="0"/>
              <a:t> Elements</a:t>
            </a:r>
            <a:r>
              <a:rPr lang="en-NZ" dirty="0" smtClean="0"/>
              <a:t>: </a:t>
            </a:r>
            <a:br>
              <a:rPr lang="en-NZ" dirty="0" smtClean="0"/>
            </a:br>
            <a:r>
              <a:rPr lang="en-NZ" dirty="0" smtClean="0"/>
              <a:t>Access Control Information</a:t>
            </a:r>
            <a:endParaRPr lang="en-NZ" dirty="0"/>
          </a:p>
        </p:txBody>
      </p:sp>
      <p:sp>
        <p:nvSpPr>
          <p:cNvPr id="3" name="Content Placeholder 2"/>
          <p:cNvSpPr>
            <a:spLocks noGrp="1"/>
          </p:cNvSpPr>
          <p:nvPr>
            <p:ph idx="1"/>
          </p:nvPr>
        </p:nvSpPr>
        <p:spPr/>
        <p:txBody>
          <a:bodyPr/>
          <a:lstStyle/>
          <a:p>
            <a:pPr algn="just"/>
            <a:r>
              <a:rPr lang="en-NZ" sz="2800" dirty="0" smtClean="0">
                <a:solidFill>
                  <a:schemeClr val="tx2"/>
                </a:solidFill>
              </a:rPr>
              <a:t>Owner </a:t>
            </a:r>
          </a:p>
          <a:p>
            <a:pPr lvl="1" algn="just"/>
            <a:r>
              <a:rPr lang="en-NZ" dirty="0" smtClean="0"/>
              <a:t>The owner may be able to grant/deny access to other users and to change these privileges.</a:t>
            </a:r>
          </a:p>
          <a:p>
            <a:pPr algn="just"/>
            <a:r>
              <a:rPr lang="en-NZ" sz="2800" dirty="0" smtClean="0">
                <a:solidFill>
                  <a:schemeClr val="tx2"/>
                </a:solidFill>
              </a:rPr>
              <a:t>Access Information</a:t>
            </a:r>
          </a:p>
          <a:p>
            <a:pPr lvl="1" algn="just"/>
            <a:r>
              <a:rPr lang="en-NZ" dirty="0" smtClean="0"/>
              <a:t>May include the user’s name and password for each authorized user.</a:t>
            </a:r>
          </a:p>
          <a:p>
            <a:pPr algn="just"/>
            <a:r>
              <a:rPr lang="en-NZ" sz="2800" dirty="0" smtClean="0">
                <a:solidFill>
                  <a:schemeClr val="tx2"/>
                </a:solidFill>
              </a:rPr>
              <a:t>Permitted Actions </a:t>
            </a:r>
          </a:p>
          <a:p>
            <a:pPr lvl="1" algn="just"/>
            <a:r>
              <a:rPr lang="en-NZ" dirty="0" smtClean="0"/>
              <a:t>Controls reading, writing, executing, transmitting over a network</a:t>
            </a:r>
            <a:endParaRPr lang="en-NZ"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Directory </a:t>
            </a:r>
            <a:r>
              <a:rPr lang="en-US" dirty="0" smtClean="0"/>
              <a:t>Elements</a:t>
            </a:r>
            <a:r>
              <a:rPr lang="en-NZ" dirty="0" smtClean="0"/>
              <a:t>: </a:t>
            </a:r>
            <a:br>
              <a:rPr lang="en-NZ" dirty="0" smtClean="0"/>
            </a:br>
            <a:r>
              <a:rPr lang="en-NZ" dirty="0" smtClean="0"/>
              <a:t>Usage Information</a:t>
            </a:r>
            <a:endParaRPr lang="en-NZ" dirty="0"/>
          </a:p>
        </p:txBody>
      </p:sp>
      <p:sp>
        <p:nvSpPr>
          <p:cNvPr id="3" name="Content Placeholder 2"/>
          <p:cNvSpPr>
            <a:spLocks noGrp="1"/>
          </p:cNvSpPr>
          <p:nvPr>
            <p:ph idx="1"/>
          </p:nvPr>
        </p:nvSpPr>
        <p:spPr/>
        <p:txBody>
          <a:bodyPr/>
          <a:lstStyle/>
          <a:p>
            <a:r>
              <a:rPr lang="en-NZ" sz="2800" dirty="0" smtClean="0"/>
              <a:t>Date Created</a:t>
            </a:r>
          </a:p>
          <a:p>
            <a:r>
              <a:rPr lang="en-NZ" sz="2800" dirty="0" smtClean="0"/>
              <a:t>Identity of Creator </a:t>
            </a:r>
          </a:p>
          <a:p>
            <a:r>
              <a:rPr lang="en-NZ" sz="2800" dirty="0" smtClean="0"/>
              <a:t>Date Last Read Access</a:t>
            </a:r>
          </a:p>
          <a:p>
            <a:r>
              <a:rPr lang="en-NZ" sz="2800" dirty="0" smtClean="0"/>
              <a:t>Identity of Last Reader</a:t>
            </a:r>
          </a:p>
          <a:p>
            <a:r>
              <a:rPr lang="en-NZ" sz="2800" dirty="0" smtClean="0"/>
              <a:t>Date Last Modified</a:t>
            </a:r>
          </a:p>
          <a:p>
            <a:r>
              <a:rPr lang="en-NZ" sz="2800" dirty="0" smtClean="0"/>
              <a:t>Identity of Last Modifier</a:t>
            </a:r>
          </a:p>
          <a:p>
            <a:r>
              <a:rPr lang="en-NZ" sz="2800" dirty="0" smtClean="0"/>
              <a:t>Date of Last Backup</a:t>
            </a:r>
          </a:p>
          <a:p>
            <a:r>
              <a:rPr lang="en-NZ" sz="2800" dirty="0" smtClean="0"/>
              <a:t>Current Usage </a:t>
            </a:r>
          </a:p>
          <a:p>
            <a:pPr lvl="1"/>
            <a:r>
              <a:rPr lang="en-NZ" sz="2400" dirty="0" smtClean="0"/>
              <a:t>Current activity, locks, etc</a:t>
            </a:r>
            <a:endParaRPr lang="en-NZ" sz="2800"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Blocks and records</a:t>
            </a:r>
            <a:endParaRPr lang="en-NZ" dirty="0"/>
          </a:p>
        </p:txBody>
      </p:sp>
      <p:sp>
        <p:nvSpPr>
          <p:cNvPr id="3" name="Content Placeholder 2"/>
          <p:cNvSpPr>
            <a:spLocks noGrp="1"/>
          </p:cNvSpPr>
          <p:nvPr>
            <p:ph idx="1"/>
          </p:nvPr>
        </p:nvSpPr>
        <p:spPr/>
        <p:txBody>
          <a:bodyPr/>
          <a:lstStyle/>
          <a:p>
            <a:pPr algn="just"/>
            <a:r>
              <a:rPr lang="en-NZ" sz="2800" dirty="0" smtClean="0">
                <a:solidFill>
                  <a:schemeClr val="tx2"/>
                </a:solidFill>
              </a:rPr>
              <a:t>Records</a:t>
            </a:r>
            <a:r>
              <a:rPr lang="en-NZ" sz="2800" dirty="0" smtClean="0"/>
              <a:t> are the </a:t>
            </a:r>
            <a:r>
              <a:rPr lang="en-NZ" sz="2800" dirty="0" smtClean="0">
                <a:solidFill>
                  <a:schemeClr val="tx2"/>
                </a:solidFill>
              </a:rPr>
              <a:t>logical unit </a:t>
            </a:r>
            <a:r>
              <a:rPr lang="en-NZ" sz="2800" dirty="0" smtClean="0"/>
              <a:t>of access of a structured file</a:t>
            </a:r>
          </a:p>
          <a:p>
            <a:pPr lvl="1" algn="just"/>
            <a:r>
              <a:rPr lang="en-NZ" dirty="0" smtClean="0"/>
              <a:t>But </a:t>
            </a:r>
            <a:r>
              <a:rPr lang="en-NZ" dirty="0" smtClean="0">
                <a:solidFill>
                  <a:schemeClr val="tx2"/>
                </a:solidFill>
              </a:rPr>
              <a:t>blocks</a:t>
            </a:r>
            <a:r>
              <a:rPr lang="en-NZ" dirty="0" smtClean="0"/>
              <a:t> are the </a:t>
            </a:r>
            <a:r>
              <a:rPr lang="en-NZ" dirty="0" smtClean="0">
                <a:solidFill>
                  <a:schemeClr val="tx2"/>
                </a:solidFill>
              </a:rPr>
              <a:t>unit for I/O </a:t>
            </a:r>
            <a:r>
              <a:rPr lang="en-NZ" dirty="0" smtClean="0"/>
              <a:t>with secondary storage</a:t>
            </a:r>
          </a:p>
          <a:p>
            <a:pPr algn="just"/>
            <a:r>
              <a:rPr lang="en-NZ" sz="2800" dirty="0" smtClean="0"/>
              <a:t>Records must be organized as blocks to perform I/O operation</a:t>
            </a:r>
            <a:endParaRPr lang="en-NZ" dirty="0" smtClean="0"/>
          </a:p>
          <a:p>
            <a:pPr algn="just"/>
            <a:r>
              <a:rPr lang="en-NZ" sz="2800" b="1" dirty="0" smtClean="0">
                <a:solidFill>
                  <a:schemeClr val="tx2"/>
                </a:solidFill>
              </a:rPr>
              <a:t>Three approaches </a:t>
            </a:r>
            <a:r>
              <a:rPr lang="en-NZ" sz="2800" dirty="0" smtClean="0"/>
              <a:t>are common</a:t>
            </a:r>
          </a:p>
          <a:p>
            <a:pPr lvl="1" algn="just"/>
            <a:r>
              <a:rPr lang="en-NZ" dirty="0" smtClean="0"/>
              <a:t>Fixed length blocking</a:t>
            </a:r>
          </a:p>
          <a:p>
            <a:pPr lvl="1" algn="just"/>
            <a:r>
              <a:rPr lang="en-NZ" dirty="0" smtClean="0"/>
              <a:t>Variable length spanned blocking</a:t>
            </a:r>
          </a:p>
          <a:p>
            <a:pPr lvl="1" algn="just"/>
            <a:r>
              <a:rPr lang="en-NZ" dirty="0" smtClean="0"/>
              <a:t>Variable-length unspanned blocking</a:t>
            </a:r>
          </a:p>
          <a:p>
            <a:pPr lvl="1" algn="just"/>
            <a:endParaRPr lang="en-NZ"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Deciding factors for Blocks</a:t>
            </a:r>
            <a:endParaRPr lang="en-US" dirty="0"/>
          </a:p>
        </p:txBody>
      </p:sp>
      <p:sp>
        <p:nvSpPr>
          <p:cNvPr id="3" name="Content Placeholder 2"/>
          <p:cNvSpPr>
            <a:spLocks noGrp="1"/>
          </p:cNvSpPr>
          <p:nvPr>
            <p:ph idx="1"/>
          </p:nvPr>
        </p:nvSpPr>
        <p:spPr/>
        <p:txBody>
          <a:bodyPr/>
          <a:lstStyle/>
          <a:p>
            <a:pPr algn="just"/>
            <a:r>
              <a:rPr lang="en-US" sz="2800" dirty="0" smtClean="0">
                <a:solidFill>
                  <a:schemeClr val="tx2"/>
                </a:solidFill>
              </a:rPr>
              <a:t>Fixed length </a:t>
            </a:r>
            <a:r>
              <a:rPr lang="en-US" sz="2800" dirty="0" smtClean="0"/>
              <a:t>or </a:t>
            </a:r>
            <a:r>
              <a:rPr lang="en-US" sz="2800" dirty="0" smtClean="0">
                <a:solidFill>
                  <a:schemeClr val="tx2"/>
                </a:solidFill>
              </a:rPr>
              <a:t>Variable Length</a:t>
            </a:r>
            <a:r>
              <a:rPr lang="en-US" sz="2800" dirty="0" smtClean="0"/>
              <a:t>?</a:t>
            </a:r>
          </a:p>
          <a:p>
            <a:pPr lvl="1" algn="just"/>
            <a:r>
              <a:rPr lang="en-US" dirty="0" smtClean="0"/>
              <a:t>Fixed length simplifies I/O and organization</a:t>
            </a:r>
          </a:p>
          <a:p>
            <a:pPr algn="just"/>
            <a:r>
              <a:rPr lang="en-US" sz="2800" dirty="0" smtClean="0">
                <a:solidFill>
                  <a:schemeClr val="tx2"/>
                </a:solidFill>
              </a:rPr>
              <a:t>Size of block </a:t>
            </a:r>
            <a:r>
              <a:rPr lang="en-US" sz="2800" dirty="0" smtClean="0"/>
              <a:t>Large or Small?</a:t>
            </a:r>
          </a:p>
          <a:p>
            <a:pPr lvl="1" algn="just"/>
            <a:r>
              <a:rPr lang="en-US" dirty="0" smtClean="0">
                <a:solidFill>
                  <a:schemeClr val="tx2"/>
                </a:solidFill>
              </a:rPr>
              <a:t>Large size </a:t>
            </a:r>
            <a:r>
              <a:rPr lang="en-US" dirty="0" smtClean="0"/>
              <a:t>will result in more records passed in one I/O operation (Good for sequential access)</a:t>
            </a:r>
          </a:p>
          <a:p>
            <a:pPr lvl="1" algn="just"/>
            <a:r>
              <a:rPr lang="en-US" dirty="0" smtClean="0">
                <a:solidFill>
                  <a:schemeClr val="tx2"/>
                </a:solidFill>
              </a:rPr>
              <a:t>Small size </a:t>
            </a:r>
            <a:r>
              <a:rPr lang="en-US" dirty="0" smtClean="0"/>
              <a:t>will be useful in absence of locality of reference (For random access) </a:t>
            </a:r>
          </a:p>
          <a:p>
            <a:pPr lvl="1" algn="just"/>
            <a:endParaRPr 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Fixed Blocking</a:t>
            </a:r>
          </a:p>
        </p:txBody>
      </p:sp>
      <p:sp>
        <p:nvSpPr>
          <p:cNvPr id="3" name="Content Placeholder 2"/>
          <p:cNvSpPr>
            <a:spLocks noGrp="1"/>
          </p:cNvSpPr>
          <p:nvPr>
            <p:ph idx="1"/>
          </p:nvPr>
        </p:nvSpPr>
        <p:spPr/>
        <p:txBody>
          <a:bodyPr/>
          <a:lstStyle/>
          <a:p>
            <a:pPr algn="just"/>
            <a:r>
              <a:rPr lang="en-NZ" sz="2800" dirty="0" smtClean="0">
                <a:solidFill>
                  <a:schemeClr val="tx2"/>
                </a:solidFill>
              </a:rPr>
              <a:t>Fixed-length records </a:t>
            </a:r>
            <a:r>
              <a:rPr lang="en-NZ" sz="2800" dirty="0" smtClean="0"/>
              <a:t>are used</a:t>
            </a:r>
          </a:p>
          <a:p>
            <a:pPr algn="just"/>
            <a:r>
              <a:rPr lang="en-NZ" sz="2800" dirty="0" smtClean="0"/>
              <a:t>Similar to paging</a:t>
            </a:r>
          </a:p>
          <a:p>
            <a:pPr algn="just"/>
            <a:r>
              <a:rPr lang="en-NZ" sz="2800" dirty="0" smtClean="0"/>
              <a:t>An integral number of records are stored in a block. </a:t>
            </a:r>
          </a:p>
          <a:p>
            <a:pPr algn="just"/>
            <a:r>
              <a:rPr lang="en-NZ" sz="2800" dirty="0" smtClean="0"/>
              <a:t>Unused space at the end of a block is </a:t>
            </a:r>
            <a:r>
              <a:rPr lang="en-NZ" sz="2800" b="1" i="1" dirty="0" smtClean="0"/>
              <a:t>internal fragmentation</a:t>
            </a:r>
            <a:endParaRPr lang="en-NZ" sz="2800" dirty="0" smtClean="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Fixed Blocking</a:t>
            </a:r>
            <a:endParaRPr lang="en-US" dirty="0"/>
          </a:p>
        </p:txBody>
      </p:sp>
      <p:pic>
        <p:nvPicPr>
          <p:cNvPr id="4" name="Content Placeholder 3" descr="Fig12_06a.gif"/>
          <p:cNvPicPr>
            <a:picLocks noGrp="1" noChangeAspect="1"/>
          </p:cNvPicPr>
          <p:nvPr>
            <p:ph idx="1"/>
          </p:nvPr>
        </p:nvPicPr>
        <p:blipFill>
          <a:blip r:embed="rId3"/>
          <a:stretch>
            <a:fillRect/>
          </a:stretch>
        </p:blipFill>
        <p:spPr>
          <a:xfrm>
            <a:off x="457200" y="1552240"/>
            <a:ext cx="8229600" cy="2410160"/>
          </a:xfrm>
        </p:spPr>
      </p:pic>
      <p:pic>
        <p:nvPicPr>
          <p:cNvPr id="5" name="Picture 4" descr="Fig12_06d.gif"/>
          <p:cNvPicPr>
            <a:picLocks noChangeAspect="1"/>
          </p:cNvPicPr>
          <p:nvPr/>
        </p:nvPicPr>
        <p:blipFill>
          <a:blip r:embed="rId4"/>
          <a:stretch>
            <a:fillRect/>
          </a:stretch>
        </p:blipFill>
        <p:spPr>
          <a:xfrm>
            <a:off x="528637" y="4038600"/>
            <a:ext cx="8086725" cy="1600200"/>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Variable Length </a:t>
            </a:r>
            <a:br>
              <a:rPr lang="en-NZ" dirty="0" smtClean="0"/>
            </a:br>
            <a:r>
              <a:rPr lang="en-NZ" dirty="0" smtClean="0"/>
              <a:t>Spanned Blocking</a:t>
            </a:r>
            <a:endParaRPr lang="en-NZ" dirty="0"/>
          </a:p>
        </p:txBody>
      </p:sp>
      <p:sp>
        <p:nvSpPr>
          <p:cNvPr id="3" name="Content Placeholder 2"/>
          <p:cNvSpPr>
            <a:spLocks noGrp="1"/>
          </p:cNvSpPr>
          <p:nvPr>
            <p:ph idx="1"/>
          </p:nvPr>
        </p:nvSpPr>
        <p:spPr/>
        <p:txBody>
          <a:bodyPr/>
          <a:lstStyle/>
          <a:p>
            <a:pPr algn="just"/>
            <a:r>
              <a:rPr lang="en-NZ" sz="2800" dirty="0" smtClean="0">
                <a:solidFill>
                  <a:schemeClr val="tx2"/>
                </a:solidFill>
              </a:rPr>
              <a:t>Variable-length records </a:t>
            </a:r>
            <a:r>
              <a:rPr lang="en-NZ" sz="2800" dirty="0" smtClean="0"/>
              <a:t>are used </a:t>
            </a:r>
          </a:p>
          <a:p>
            <a:pPr algn="just"/>
            <a:r>
              <a:rPr lang="en-NZ" sz="2800" dirty="0" smtClean="0"/>
              <a:t>Blocks are packed together with no unused space</a:t>
            </a:r>
          </a:p>
          <a:p>
            <a:pPr algn="just"/>
            <a:r>
              <a:rPr lang="en-NZ" sz="2800" dirty="0" smtClean="0"/>
              <a:t>Some records may </a:t>
            </a:r>
            <a:r>
              <a:rPr lang="en-NZ" sz="2800" dirty="0" smtClean="0">
                <a:solidFill>
                  <a:schemeClr val="tx2"/>
                </a:solidFill>
              </a:rPr>
              <a:t>span</a:t>
            </a:r>
            <a:r>
              <a:rPr lang="en-NZ" sz="2800" dirty="0" smtClean="0"/>
              <a:t> multiple blocks</a:t>
            </a:r>
          </a:p>
          <a:p>
            <a:pPr lvl="1" algn="just"/>
            <a:r>
              <a:rPr lang="en-NZ" dirty="0" smtClean="0"/>
              <a:t>Continuation is indicated by a pointer to the successor block</a:t>
            </a:r>
          </a:p>
          <a:p>
            <a:pPr algn="just"/>
            <a:r>
              <a:rPr lang="en-NZ" sz="2800" dirty="0" smtClean="0"/>
              <a:t>Record size not limited to block size</a:t>
            </a:r>
            <a:endParaRPr lang="en-NZ" sz="2800"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Blocking: </a:t>
            </a:r>
            <a:br>
              <a:rPr lang="en-US" dirty="0" smtClean="0"/>
            </a:br>
            <a:r>
              <a:rPr lang="en-US" dirty="0" smtClean="0"/>
              <a:t>Spanned</a:t>
            </a:r>
            <a:endParaRPr lang="en-US" dirty="0"/>
          </a:p>
        </p:txBody>
      </p:sp>
      <p:pic>
        <p:nvPicPr>
          <p:cNvPr id="4" name="Content Placeholder 3" descr="Fig12_06b.gif"/>
          <p:cNvPicPr>
            <a:picLocks noGrp="1" noChangeAspect="1"/>
          </p:cNvPicPr>
          <p:nvPr>
            <p:ph idx="1"/>
          </p:nvPr>
        </p:nvPicPr>
        <p:blipFill>
          <a:blip r:embed="rId3"/>
          <a:stretch>
            <a:fillRect/>
          </a:stretch>
        </p:blipFill>
        <p:spPr>
          <a:xfrm>
            <a:off x="747712" y="1447800"/>
            <a:ext cx="7648575" cy="2428875"/>
          </a:xfrm>
        </p:spPr>
      </p:pic>
      <p:pic>
        <p:nvPicPr>
          <p:cNvPr id="5" name="Picture 4" descr="Fig12_06d.gif"/>
          <p:cNvPicPr>
            <a:picLocks noChangeAspect="1"/>
          </p:cNvPicPr>
          <p:nvPr/>
        </p:nvPicPr>
        <p:blipFill>
          <a:blip r:embed="rId4"/>
          <a:stretch>
            <a:fillRect/>
          </a:stretch>
        </p:blipFill>
        <p:spPr>
          <a:xfrm>
            <a:off x="528637" y="3886200"/>
            <a:ext cx="8086725" cy="160020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Variable-length </a:t>
            </a:r>
            <a:br>
              <a:rPr lang="en-NZ" dirty="0" smtClean="0"/>
            </a:br>
            <a:r>
              <a:rPr lang="en-NZ" dirty="0" smtClean="0"/>
              <a:t>unspanned blocking</a:t>
            </a:r>
            <a:endParaRPr lang="en-NZ" dirty="0"/>
          </a:p>
        </p:txBody>
      </p:sp>
      <p:sp>
        <p:nvSpPr>
          <p:cNvPr id="3" name="Content Placeholder 2"/>
          <p:cNvSpPr>
            <a:spLocks noGrp="1"/>
          </p:cNvSpPr>
          <p:nvPr>
            <p:ph idx="1"/>
          </p:nvPr>
        </p:nvSpPr>
        <p:spPr/>
        <p:txBody>
          <a:bodyPr/>
          <a:lstStyle/>
          <a:p>
            <a:pPr algn="just"/>
            <a:r>
              <a:rPr lang="en-NZ" sz="2800" dirty="0" smtClean="0"/>
              <a:t>Uses variable length records without spanning</a:t>
            </a:r>
          </a:p>
          <a:p>
            <a:pPr algn="just"/>
            <a:r>
              <a:rPr lang="en-NZ" sz="2800" dirty="0" smtClean="0"/>
              <a:t>Wasted space in most blocks </a:t>
            </a:r>
          </a:p>
          <a:p>
            <a:pPr lvl="1" algn="just"/>
            <a:r>
              <a:rPr lang="en-NZ" sz="2400" dirty="0" smtClean="0"/>
              <a:t>because of the inability to use the remainder of a block if the next record is larger than the remaining unused space.</a:t>
            </a:r>
            <a:endParaRPr lang="en-NZ" sz="24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Blocking: </a:t>
            </a:r>
            <a:br>
              <a:rPr lang="en-US" dirty="0" smtClean="0"/>
            </a:br>
            <a:r>
              <a:rPr lang="en-US" dirty="0" smtClean="0"/>
              <a:t>Unspanned</a:t>
            </a:r>
            <a:endParaRPr lang="en-US" dirty="0"/>
          </a:p>
        </p:txBody>
      </p:sp>
      <p:pic>
        <p:nvPicPr>
          <p:cNvPr id="4" name="Content Placeholder 3" descr="Fig12_06c.gif"/>
          <p:cNvPicPr>
            <a:picLocks noGrp="1" noChangeAspect="1"/>
          </p:cNvPicPr>
          <p:nvPr>
            <p:ph idx="1"/>
          </p:nvPr>
        </p:nvPicPr>
        <p:blipFill>
          <a:blip r:embed="rId3"/>
          <a:stretch>
            <a:fillRect/>
          </a:stretch>
        </p:blipFill>
        <p:spPr>
          <a:xfrm>
            <a:off x="457200" y="1676400"/>
            <a:ext cx="8229600" cy="4127699"/>
          </a:xfr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Record Blocking</a:t>
            </a:r>
            <a:endParaRPr lang="en-US" dirty="0"/>
          </a:p>
        </p:txBody>
      </p:sp>
      <p:sp>
        <p:nvSpPr>
          <p:cNvPr id="3" name="Content Placeholder 2"/>
          <p:cNvSpPr>
            <a:spLocks noGrp="1"/>
          </p:cNvSpPr>
          <p:nvPr>
            <p:ph idx="1"/>
          </p:nvPr>
        </p:nvSpPr>
        <p:spPr/>
        <p:txBody>
          <a:bodyPr/>
          <a:lstStyle/>
          <a:p>
            <a:pPr algn="just"/>
            <a:r>
              <a:rPr lang="en-US" sz="2800" dirty="0" smtClean="0">
                <a:solidFill>
                  <a:schemeClr val="tx2"/>
                </a:solidFill>
              </a:rPr>
              <a:t>Fixed blocking </a:t>
            </a:r>
            <a:r>
              <a:rPr lang="en-US" sz="2800" dirty="0" smtClean="0"/>
              <a:t>is common for sequential files with fixed length records</a:t>
            </a:r>
          </a:p>
          <a:p>
            <a:pPr algn="just"/>
            <a:r>
              <a:rPr lang="en-US" sz="2800" dirty="0" smtClean="0">
                <a:solidFill>
                  <a:schemeClr val="tx2"/>
                </a:solidFill>
              </a:rPr>
              <a:t>Variable length spanned blocking </a:t>
            </a:r>
            <a:r>
              <a:rPr lang="en-US" sz="2800" dirty="0" smtClean="0"/>
              <a:t>is efficient for storage, does not limit record size</a:t>
            </a:r>
          </a:p>
          <a:p>
            <a:pPr lvl="1" algn="just"/>
            <a:r>
              <a:rPr lang="en-US" dirty="0" smtClean="0"/>
              <a:t>But difficult in implementation</a:t>
            </a:r>
          </a:p>
          <a:p>
            <a:pPr algn="just"/>
            <a:r>
              <a:rPr lang="en-US" sz="2800" dirty="0" smtClean="0">
                <a:solidFill>
                  <a:schemeClr val="tx2"/>
                </a:solidFill>
              </a:rPr>
              <a:t>Variable length </a:t>
            </a:r>
            <a:r>
              <a:rPr lang="en-US" sz="2800" dirty="0" err="1" smtClean="0">
                <a:solidFill>
                  <a:schemeClr val="tx2"/>
                </a:solidFill>
              </a:rPr>
              <a:t>unspanned</a:t>
            </a:r>
            <a:r>
              <a:rPr lang="en-US" sz="2800" dirty="0" smtClean="0">
                <a:solidFill>
                  <a:schemeClr val="tx2"/>
                </a:solidFill>
              </a:rPr>
              <a:t> blocking </a:t>
            </a:r>
            <a:r>
              <a:rPr lang="en-US" sz="2800" dirty="0" smtClean="0"/>
              <a:t>results in wasted space and limits record size to size of block</a:t>
            </a:r>
            <a:endParaRPr lang="en-US" sz="280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Secondary Storage Management</a:t>
            </a:r>
            <a:endParaRPr lang="en-US" dirty="0"/>
          </a:p>
        </p:txBody>
      </p:sp>
      <p:sp>
        <p:nvSpPr>
          <p:cNvPr id="3" name="Content Placeholder 2"/>
          <p:cNvSpPr>
            <a:spLocks noGrp="1"/>
          </p:cNvSpPr>
          <p:nvPr>
            <p:ph idx="1"/>
          </p:nvPr>
        </p:nvSpPr>
        <p:spPr/>
        <p:txBody>
          <a:bodyPr/>
          <a:lstStyle/>
          <a:p>
            <a:pPr algn="just"/>
            <a:r>
              <a:rPr lang="en-US" sz="2800" dirty="0" smtClean="0"/>
              <a:t>Files are stored on </a:t>
            </a:r>
            <a:r>
              <a:rPr lang="en-US" sz="2800" dirty="0" smtClean="0">
                <a:solidFill>
                  <a:schemeClr val="tx2"/>
                </a:solidFill>
              </a:rPr>
              <a:t>secondary storage </a:t>
            </a:r>
            <a:r>
              <a:rPr lang="en-US" sz="2800" dirty="0" smtClean="0"/>
              <a:t>as a collection of</a:t>
            </a:r>
            <a:r>
              <a:rPr lang="en-US" sz="2800" dirty="0" smtClean="0">
                <a:solidFill>
                  <a:schemeClr val="tx2"/>
                </a:solidFill>
              </a:rPr>
              <a:t> blocks</a:t>
            </a:r>
          </a:p>
          <a:p>
            <a:pPr algn="just"/>
            <a:r>
              <a:rPr lang="en-US" sz="2800" dirty="0" smtClean="0"/>
              <a:t>The Operating System is responsible for allocating blocks to files</a:t>
            </a:r>
          </a:p>
          <a:p>
            <a:pPr algn="just"/>
            <a:r>
              <a:rPr lang="en-US" sz="2800" b="1" dirty="0" smtClean="0">
                <a:solidFill>
                  <a:schemeClr val="tx2"/>
                </a:solidFill>
              </a:rPr>
              <a:t>Two related issues</a:t>
            </a:r>
          </a:p>
          <a:p>
            <a:pPr lvl="1" algn="just"/>
            <a:r>
              <a:rPr lang="en-US" dirty="0" smtClean="0"/>
              <a:t>Space must be allocated to files (Allocation)</a:t>
            </a:r>
          </a:p>
          <a:p>
            <a:pPr lvl="1" algn="just"/>
            <a:r>
              <a:rPr lang="en-US" dirty="0" smtClean="0"/>
              <a:t>Must keep track of the space available for allocation (Free Space Management)</a:t>
            </a:r>
          </a:p>
          <a:p>
            <a:pPr algn="just"/>
            <a:endParaRPr lang="en-US" sz="2800"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File allocation issues</a:t>
            </a:r>
            <a:endParaRPr lang="en-NZ" dirty="0"/>
          </a:p>
        </p:txBody>
      </p:sp>
      <p:sp>
        <p:nvSpPr>
          <p:cNvPr id="3" name="Content Placeholder 2"/>
          <p:cNvSpPr>
            <a:spLocks noGrp="1"/>
          </p:cNvSpPr>
          <p:nvPr>
            <p:ph idx="1"/>
          </p:nvPr>
        </p:nvSpPr>
        <p:spPr/>
        <p:txBody>
          <a:bodyPr/>
          <a:lstStyle/>
          <a:p>
            <a:pPr marL="514350" indent="-514350" algn="just">
              <a:buFont typeface="+mj-lt"/>
              <a:buAutoNum type="arabicPeriod"/>
            </a:pPr>
            <a:r>
              <a:rPr lang="en-NZ" sz="2800" dirty="0" smtClean="0"/>
              <a:t>When a file is created – is the </a:t>
            </a:r>
            <a:r>
              <a:rPr lang="en-NZ" sz="2800" dirty="0" smtClean="0">
                <a:solidFill>
                  <a:schemeClr val="tx2"/>
                </a:solidFill>
              </a:rPr>
              <a:t>maximum space </a:t>
            </a:r>
            <a:r>
              <a:rPr lang="en-NZ" sz="2800" dirty="0" smtClean="0"/>
              <a:t>allocated at once?</a:t>
            </a:r>
          </a:p>
          <a:p>
            <a:pPr marL="514350" indent="-514350" algn="just">
              <a:buFont typeface="+mj-lt"/>
              <a:buAutoNum type="arabicPeriod"/>
            </a:pPr>
            <a:r>
              <a:rPr lang="en-NZ" sz="2800" dirty="0" smtClean="0"/>
              <a:t>What size should be the ‘</a:t>
            </a:r>
            <a:r>
              <a:rPr lang="en-NZ" sz="2800" dirty="0" smtClean="0">
                <a:solidFill>
                  <a:schemeClr val="tx2"/>
                </a:solidFill>
              </a:rPr>
              <a:t>portion</a:t>
            </a:r>
            <a:r>
              <a:rPr lang="en-NZ" sz="2800" dirty="0" smtClean="0"/>
              <a:t>’ size allocated to a file?</a:t>
            </a:r>
          </a:p>
          <a:p>
            <a:pPr marL="914400" lvl="1" indent="-514350" algn="just"/>
            <a:r>
              <a:rPr lang="en-NZ" dirty="0" smtClean="0"/>
              <a:t>Contiguous set of blocks or</a:t>
            </a:r>
          </a:p>
          <a:p>
            <a:pPr marL="914400" lvl="1" indent="-514350" algn="just"/>
            <a:r>
              <a:rPr lang="en-NZ" dirty="0" smtClean="0"/>
              <a:t>One block at a time</a:t>
            </a:r>
          </a:p>
          <a:p>
            <a:pPr marL="514350" indent="-514350" algn="just">
              <a:buFont typeface="+mj-lt"/>
              <a:buAutoNum type="arabicPeriod"/>
            </a:pPr>
            <a:r>
              <a:rPr lang="en-NZ" sz="2800" dirty="0" smtClean="0"/>
              <a:t>Which </a:t>
            </a:r>
            <a:r>
              <a:rPr lang="en-NZ" sz="2800" dirty="0" smtClean="0">
                <a:solidFill>
                  <a:schemeClr val="tx2"/>
                </a:solidFill>
              </a:rPr>
              <a:t>data structure </a:t>
            </a:r>
            <a:r>
              <a:rPr lang="en-NZ" sz="2800" dirty="0" smtClean="0"/>
              <a:t>should be used to keep track of the file portions?</a:t>
            </a:r>
          </a:p>
          <a:p>
            <a:pPr algn="just"/>
            <a:endParaRPr lang="en-NZ" sz="28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Preallocation vs </a:t>
            </a:r>
            <a:br>
              <a:rPr lang="en-US" dirty="0" smtClean="0"/>
            </a:br>
            <a:r>
              <a:rPr lang="en-US" dirty="0" smtClean="0"/>
              <a:t>Dynamic Allocation</a:t>
            </a:r>
            <a:endParaRPr lang="en-US" dirty="0"/>
          </a:p>
        </p:txBody>
      </p:sp>
      <p:sp>
        <p:nvSpPr>
          <p:cNvPr id="3" name="Content Placeholder 2"/>
          <p:cNvSpPr>
            <a:spLocks noGrp="1"/>
          </p:cNvSpPr>
          <p:nvPr>
            <p:ph idx="1"/>
          </p:nvPr>
        </p:nvSpPr>
        <p:spPr/>
        <p:txBody>
          <a:bodyPr/>
          <a:lstStyle/>
          <a:p>
            <a:pPr algn="just"/>
            <a:r>
              <a:rPr lang="en-US" sz="2800" dirty="0" smtClean="0"/>
              <a:t>Declare the </a:t>
            </a:r>
            <a:r>
              <a:rPr lang="en-US" sz="2800" dirty="0" smtClean="0">
                <a:solidFill>
                  <a:schemeClr val="tx2"/>
                </a:solidFill>
              </a:rPr>
              <a:t>maximum size </a:t>
            </a:r>
            <a:r>
              <a:rPr lang="en-US" sz="2800" dirty="0" smtClean="0"/>
              <a:t>for the file at the </a:t>
            </a:r>
            <a:r>
              <a:rPr lang="en-US" sz="2800" dirty="0" smtClean="0">
                <a:solidFill>
                  <a:schemeClr val="tx2"/>
                </a:solidFill>
              </a:rPr>
              <a:t>time of creation</a:t>
            </a:r>
          </a:p>
          <a:p>
            <a:pPr algn="just"/>
            <a:r>
              <a:rPr lang="en-US" sz="2800" dirty="0" smtClean="0">
                <a:solidFill>
                  <a:schemeClr val="tx2"/>
                </a:solidFill>
              </a:rPr>
              <a:t>Difficult</a:t>
            </a:r>
            <a:r>
              <a:rPr lang="en-US" sz="2800" dirty="0" smtClean="0"/>
              <a:t> to </a:t>
            </a:r>
            <a:r>
              <a:rPr lang="en-US" sz="2800" dirty="0" smtClean="0">
                <a:solidFill>
                  <a:schemeClr val="tx2"/>
                </a:solidFill>
              </a:rPr>
              <a:t>reliably estimate </a:t>
            </a:r>
            <a:r>
              <a:rPr lang="en-US" sz="2800" dirty="0" smtClean="0"/>
              <a:t>the maximum potential size of the file</a:t>
            </a:r>
          </a:p>
          <a:p>
            <a:pPr algn="just"/>
            <a:r>
              <a:rPr lang="en-US" sz="2800" dirty="0" smtClean="0"/>
              <a:t>Tend to </a:t>
            </a:r>
            <a:r>
              <a:rPr lang="en-US" sz="2800" dirty="0" smtClean="0">
                <a:solidFill>
                  <a:schemeClr val="tx2"/>
                </a:solidFill>
              </a:rPr>
              <a:t>overestimated file size </a:t>
            </a:r>
            <a:r>
              <a:rPr lang="en-US" sz="2800" dirty="0" smtClean="0"/>
              <a:t>so as not to run out of space</a:t>
            </a:r>
          </a:p>
          <a:p>
            <a:pPr algn="just"/>
            <a:endParaRPr lang="en-US" sz="2800" dirty="0" smtClean="0"/>
          </a:p>
          <a:p>
            <a:pPr algn="just"/>
            <a:r>
              <a:rPr lang="en-US" sz="2800" dirty="0" smtClean="0"/>
              <a:t>Hence dynamic allocation should be preferred</a:t>
            </a:r>
          </a:p>
          <a:p>
            <a:pPr algn="just"/>
            <a:endParaRPr lang="en-US" sz="2800"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Portion size</a:t>
            </a:r>
            <a:endParaRPr lang="en-NZ" dirty="0"/>
          </a:p>
        </p:txBody>
      </p:sp>
      <p:sp>
        <p:nvSpPr>
          <p:cNvPr id="3" name="Content Placeholder 2"/>
          <p:cNvSpPr>
            <a:spLocks noGrp="1"/>
          </p:cNvSpPr>
          <p:nvPr>
            <p:ph idx="1"/>
          </p:nvPr>
        </p:nvSpPr>
        <p:spPr/>
        <p:txBody>
          <a:bodyPr/>
          <a:lstStyle/>
          <a:p>
            <a:pPr algn="just"/>
            <a:r>
              <a:rPr lang="en-NZ" sz="2800" b="1" u="sng" dirty="0" smtClean="0"/>
              <a:t>Two extremes:</a:t>
            </a:r>
          </a:p>
          <a:p>
            <a:pPr lvl="1" algn="just"/>
            <a:r>
              <a:rPr lang="en-NZ" dirty="0" smtClean="0"/>
              <a:t>Portion </a:t>
            </a:r>
            <a:r>
              <a:rPr lang="en-NZ" dirty="0" smtClean="0">
                <a:solidFill>
                  <a:schemeClr val="tx2"/>
                </a:solidFill>
              </a:rPr>
              <a:t>large enough </a:t>
            </a:r>
            <a:r>
              <a:rPr lang="en-NZ" dirty="0" smtClean="0"/>
              <a:t>to hold entire file is allocated</a:t>
            </a:r>
          </a:p>
          <a:p>
            <a:pPr lvl="1" algn="just"/>
            <a:r>
              <a:rPr lang="en-NZ" dirty="0" smtClean="0"/>
              <a:t>Allocate space </a:t>
            </a:r>
            <a:r>
              <a:rPr lang="en-NZ" dirty="0" smtClean="0">
                <a:solidFill>
                  <a:schemeClr val="tx2"/>
                </a:solidFill>
              </a:rPr>
              <a:t>one block at a time</a:t>
            </a:r>
          </a:p>
          <a:p>
            <a:pPr algn="just"/>
            <a:endParaRPr lang="en-NZ" sz="2800" dirty="0" smtClean="0"/>
          </a:p>
          <a:p>
            <a:pPr algn="just"/>
            <a:r>
              <a:rPr lang="en-NZ" sz="2800" dirty="0" smtClean="0">
                <a:solidFill>
                  <a:schemeClr val="tx2"/>
                </a:solidFill>
              </a:rPr>
              <a:t>Trade-off</a:t>
            </a:r>
            <a:r>
              <a:rPr lang="en-NZ" sz="2800" dirty="0" smtClean="0"/>
              <a:t> between efficiency from the point of view of a single file, or the overall system efficiency</a:t>
            </a:r>
            <a:endParaRPr lang="en-NZ" sz="2800"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Portion size</a:t>
            </a:r>
            <a:endParaRPr lang="en-US" dirty="0"/>
          </a:p>
        </p:txBody>
      </p:sp>
      <p:sp>
        <p:nvSpPr>
          <p:cNvPr id="3" name="Content Placeholder 2"/>
          <p:cNvSpPr>
            <a:spLocks noGrp="1"/>
          </p:cNvSpPr>
          <p:nvPr>
            <p:ph idx="1"/>
          </p:nvPr>
        </p:nvSpPr>
        <p:spPr/>
        <p:txBody>
          <a:bodyPr/>
          <a:lstStyle/>
          <a:p>
            <a:r>
              <a:rPr lang="en-US" sz="2800" u="sng" dirty="0" smtClean="0">
                <a:solidFill>
                  <a:schemeClr val="tx2"/>
                </a:solidFill>
              </a:rPr>
              <a:t>Variable, large contiguous portions allocation</a:t>
            </a:r>
          </a:p>
          <a:p>
            <a:pPr lvl="1"/>
            <a:r>
              <a:rPr lang="en-US" dirty="0" smtClean="0"/>
              <a:t>Gives better performance</a:t>
            </a:r>
          </a:p>
          <a:p>
            <a:pPr lvl="1"/>
            <a:r>
              <a:rPr lang="en-US" dirty="0" smtClean="0"/>
              <a:t>Avoids wastage due to variable size</a:t>
            </a:r>
          </a:p>
          <a:p>
            <a:pPr lvl="1"/>
            <a:r>
              <a:rPr lang="en-US" dirty="0" smtClean="0"/>
              <a:t>FAT small in size</a:t>
            </a:r>
          </a:p>
          <a:p>
            <a:r>
              <a:rPr lang="en-US" sz="2800" u="sng" dirty="0" smtClean="0">
                <a:solidFill>
                  <a:schemeClr val="tx2"/>
                </a:solidFill>
              </a:rPr>
              <a:t>Block by block basis allocation</a:t>
            </a:r>
          </a:p>
          <a:p>
            <a:pPr lvl="1"/>
            <a:r>
              <a:rPr lang="en-US" dirty="0" smtClean="0"/>
              <a:t>Good flexibility</a:t>
            </a:r>
          </a:p>
          <a:p>
            <a:pPr lvl="1"/>
            <a:r>
              <a:rPr lang="en-US" dirty="0" smtClean="0"/>
              <a:t>No contiguity</a:t>
            </a:r>
          </a:p>
          <a:p>
            <a:pPr lvl="1"/>
            <a:r>
              <a:rPr lang="en-US" dirty="0" smtClean="0"/>
              <a:t>FAT large in size</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Combinations</a:t>
            </a:r>
            <a:endParaRPr lang="en-US" dirty="0"/>
          </a:p>
        </p:txBody>
      </p:sp>
      <p:sp>
        <p:nvSpPr>
          <p:cNvPr id="3" name="Content Placeholder 2"/>
          <p:cNvSpPr>
            <a:spLocks noGrp="1"/>
          </p:cNvSpPr>
          <p:nvPr>
            <p:ph idx="1"/>
          </p:nvPr>
        </p:nvSpPr>
        <p:spPr/>
        <p:txBody>
          <a:bodyPr/>
          <a:lstStyle/>
          <a:p>
            <a:pPr algn="just"/>
            <a:r>
              <a:rPr lang="en-US" sz="2400" u="sng" dirty="0" smtClean="0">
                <a:solidFill>
                  <a:schemeClr val="tx2"/>
                </a:solidFill>
              </a:rPr>
              <a:t>Pre allocation and variable, large contiguous portions</a:t>
            </a:r>
          </a:p>
          <a:p>
            <a:pPr lvl="1" algn="just"/>
            <a:r>
              <a:rPr lang="en-US" sz="2400" dirty="0" smtClean="0"/>
              <a:t>File is allocated one contiguous group of blocks at creation time</a:t>
            </a:r>
          </a:p>
          <a:p>
            <a:pPr lvl="1" algn="just"/>
            <a:r>
              <a:rPr lang="en-US" sz="2400" dirty="0" smtClean="0"/>
              <a:t>No need of FAT</a:t>
            </a:r>
          </a:p>
          <a:p>
            <a:pPr lvl="2" algn="just"/>
            <a:r>
              <a:rPr lang="en-US" dirty="0" smtClean="0"/>
              <a:t>Only the pointer to first block and total number of blocks allocated need to be stored</a:t>
            </a:r>
          </a:p>
          <a:p>
            <a:pPr algn="just"/>
            <a:r>
              <a:rPr lang="en-US" sz="2400" u="sng" dirty="0" smtClean="0">
                <a:solidFill>
                  <a:schemeClr val="tx2"/>
                </a:solidFill>
              </a:rPr>
              <a:t>Pre allocation on block by block basis</a:t>
            </a:r>
          </a:p>
          <a:p>
            <a:pPr lvl="1" algn="just"/>
            <a:r>
              <a:rPr lang="en-US" sz="2400" dirty="0" smtClean="0"/>
              <a:t>Allocate blocks on block by block basis at creation time</a:t>
            </a:r>
          </a:p>
          <a:p>
            <a:pPr lvl="1" algn="just"/>
            <a:r>
              <a:rPr lang="en-US" sz="2400" dirty="0" smtClean="0"/>
              <a:t>Fixed size FAT</a:t>
            </a:r>
          </a:p>
          <a:p>
            <a:pPr lvl="2" algn="just"/>
            <a:r>
              <a:rPr lang="en-US" dirty="0" smtClean="0"/>
              <a:t>Due to pre allocation</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amond(in)">
                                      <p:cBhvr>
                                        <p:cTn id="7" dur="20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diamond(in)">
                                      <p:cBhvr>
                                        <p:cTn id="1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File Allocation Method</a:t>
            </a:r>
            <a:endParaRPr lang="en-NZ" dirty="0"/>
          </a:p>
        </p:txBody>
      </p:sp>
      <p:sp>
        <p:nvSpPr>
          <p:cNvPr id="3" name="Content Placeholder 2"/>
          <p:cNvSpPr>
            <a:spLocks noGrp="1"/>
          </p:cNvSpPr>
          <p:nvPr>
            <p:ph idx="1"/>
          </p:nvPr>
        </p:nvSpPr>
        <p:spPr/>
        <p:txBody>
          <a:bodyPr/>
          <a:lstStyle/>
          <a:p>
            <a:pPr algn="just"/>
            <a:r>
              <a:rPr lang="en-NZ" sz="2800" dirty="0" smtClean="0">
                <a:solidFill>
                  <a:schemeClr val="tx2"/>
                </a:solidFill>
              </a:rPr>
              <a:t>Three methods </a:t>
            </a:r>
            <a:r>
              <a:rPr lang="en-NZ" sz="2800" dirty="0" smtClean="0"/>
              <a:t>are in common use: </a:t>
            </a:r>
          </a:p>
          <a:p>
            <a:pPr lvl="1" algn="just"/>
            <a:r>
              <a:rPr lang="en-NZ" dirty="0" smtClean="0"/>
              <a:t>contiguous, </a:t>
            </a:r>
          </a:p>
          <a:p>
            <a:pPr lvl="1" algn="just"/>
            <a:r>
              <a:rPr lang="en-NZ" dirty="0" smtClean="0"/>
              <a:t>chained, and </a:t>
            </a:r>
          </a:p>
          <a:p>
            <a:pPr lvl="1" algn="just"/>
            <a:r>
              <a:rPr lang="en-NZ" dirty="0" smtClean="0"/>
              <a:t>indexed.</a:t>
            </a:r>
            <a:endParaRPr lang="en-NZ" dirty="0"/>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Contiguous Allocation</a:t>
            </a:r>
            <a:endParaRPr lang="en-US" dirty="0"/>
          </a:p>
        </p:txBody>
      </p:sp>
      <p:sp>
        <p:nvSpPr>
          <p:cNvPr id="3" name="Content Placeholder 2"/>
          <p:cNvSpPr>
            <a:spLocks noGrp="1"/>
          </p:cNvSpPr>
          <p:nvPr>
            <p:ph idx="1"/>
          </p:nvPr>
        </p:nvSpPr>
        <p:spPr/>
        <p:txBody>
          <a:bodyPr/>
          <a:lstStyle/>
          <a:p>
            <a:pPr algn="just"/>
            <a:r>
              <a:rPr lang="en-US" sz="2400" dirty="0" smtClean="0">
                <a:solidFill>
                  <a:schemeClr val="tx2"/>
                </a:solidFill>
              </a:rPr>
              <a:t>Single contiguous set of blocks </a:t>
            </a:r>
            <a:r>
              <a:rPr lang="en-US" sz="2400" dirty="0" smtClean="0"/>
              <a:t>is allocated to a file at the time of creation</a:t>
            </a:r>
          </a:p>
          <a:p>
            <a:pPr algn="just"/>
            <a:r>
              <a:rPr lang="en-US" sz="2400" dirty="0" smtClean="0"/>
              <a:t>Pre allocation with variable, large portions</a:t>
            </a:r>
          </a:p>
          <a:p>
            <a:pPr algn="just"/>
            <a:r>
              <a:rPr lang="en-US" sz="2400" dirty="0" smtClean="0"/>
              <a:t>Only a single entry in the </a:t>
            </a:r>
            <a:r>
              <a:rPr lang="en-US" sz="2400" dirty="0" smtClean="0">
                <a:solidFill>
                  <a:schemeClr val="tx2"/>
                </a:solidFill>
              </a:rPr>
              <a:t>file allocation table</a:t>
            </a:r>
          </a:p>
          <a:p>
            <a:pPr lvl="1" algn="just"/>
            <a:r>
              <a:rPr lang="en-US" sz="2400" dirty="0" smtClean="0"/>
              <a:t>Starting block and length of the file</a:t>
            </a:r>
          </a:p>
          <a:p>
            <a:pPr algn="just"/>
            <a:r>
              <a:rPr lang="en-US" sz="2400" b="1" u="sng" dirty="0" smtClean="0"/>
              <a:t>Benefit:</a:t>
            </a:r>
          </a:p>
          <a:p>
            <a:pPr lvl="1" algn="just"/>
            <a:r>
              <a:rPr lang="en-US" sz="2400" dirty="0" smtClean="0"/>
              <a:t>Good for sequential files</a:t>
            </a:r>
          </a:p>
          <a:p>
            <a:pPr algn="just"/>
            <a:r>
              <a:rPr lang="en-US" sz="2400" b="1" u="sng" dirty="0" smtClean="0"/>
              <a:t>Issues:</a:t>
            </a:r>
          </a:p>
          <a:p>
            <a:pPr lvl="1" algn="just"/>
            <a:r>
              <a:rPr lang="en-US" sz="2400" dirty="0" smtClean="0">
                <a:solidFill>
                  <a:schemeClr val="tx2"/>
                </a:solidFill>
              </a:rPr>
              <a:t>External fragmentation</a:t>
            </a:r>
            <a:r>
              <a:rPr lang="en-US" sz="2400" dirty="0" smtClean="0"/>
              <a:t> will occur, compaction needed</a:t>
            </a:r>
          </a:p>
          <a:p>
            <a:pPr lvl="1" algn="just"/>
            <a:r>
              <a:rPr lang="en-US" sz="2400" dirty="0" smtClean="0"/>
              <a:t>File size is predefined</a:t>
            </a:r>
          </a:p>
          <a:p>
            <a:pPr algn="just"/>
            <a:endParaRPr lang="en-US" sz="2400" dirty="0" smtClean="0"/>
          </a:p>
          <a:p>
            <a:pPr algn="just"/>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amond(in)">
                                      <p:cBhvr>
                                        <p:cTn id="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Contiguous File Allocation</a:t>
            </a:r>
            <a:endParaRPr lang="en-US" dirty="0"/>
          </a:p>
        </p:txBody>
      </p:sp>
      <p:pic>
        <p:nvPicPr>
          <p:cNvPr id="4" name="Content Placeholder 3" descr="Fig12_07.gif"/>
          <p:cNvPicPr>
            <a:picLocks noGrp="1" noChangeAspect="1"/>
          </p:cNvPicPr>
          <p:nvPr>
            <p:ph idx="1"/>
          </p:nvPr>
        </p:nvPicPr>
        <p:blipFill>
          <a:blip r:embed="rId3"/>
          <a:stretch>
            <a:fillRect/>
          </a:stretch>
        </p:blipFill>
        <p:spPr>
          <a:xfrm>
            <a:off x="152400" y="1600200"/>
            <a:ext cx="8839200" cy="5029200"/>
          </a:xfrm>
        </p:spPr>
      </p:pic>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fragmentation</a:t>
            </a:r>
            <a:endParaRPr lang="en-US" dirty="0"/>
          </a:p>
        </p:txBody>
      </p:sp>
      <p:pic>
        <p:nvPicPr>
          <p:cNvPr id="4" name="Content Placeholder 3" descr="Fig12_08.gif"/>
          <p:cNvPicPr>
            <a:picLocks noGrp="1" noChangeAspect="1"/>
          </p:cNvPicPr>
          <p:nvPr>
            <p:ph idx="1"/>
          </p:nvPr>
        </p:nvPicPr>
        <p:blipFill>
          <a:blip r:embed="rId3"/>
          <a:stretch>
            <a:fillRect/>
          </a:stretch>
        </p:blipFill>
        <p:spPr>
          <a:xfrm>
            <a:off x="76200" y="1219200"/>
            <a:ext cx="8991600" cy="5334000"/>
          </a:xfrm>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Chained Allocation</a:t>
            </a:r>
            <a:endParaRPr lang="en-US" dirty="0"/>
          </a:p>
        </p:txBody>
      </p:sp>
      <p:sp>
        <p:nvSpPr>
          <p:cNvPr id="3" name="Content Placeholder 2"/>
          <p:cNvSpPr>
            <a:spLocks noGrp="1"/>
          </p:cNvSpPr>
          <p:nvPr>
            <p:ph idx="1"/>
          </p:nvPr>
        </p:nvSpPr>
        <p:spPr/>
        <p:txBody>
          <a:bodyPr/>
          <a:lstStyle/>
          <a:p>
            <a:pPr algn="just"/>
            <a:r>
              <a:rPr lang="en-US" sz="2400" dirty="0" smtClean="0"/>
              <a:t>Allocation on basis of </a:t>
            </a:r>
            <a:r>
              <a:rPr lang="en-US" sz="2400" dirty="0" smtClean="0">
                <a:solidFill>
                  <a:schemeClr val="tx2"/>
                </a:solidFill>
              </a:rPr>
              <a:t>individual block</a:t>
            </a:r>
          </a:p>
          <a:p>
            <a:pPr algn="just"/>
            <a:r>
              <a:rPr lang="en-US" sz="2400" dirty="0" smtClean="0"/>
              <a:t>Each block contains a pointer to the next block in the chain</a:t>
            </a:r>
          </a:p>
          <a:p>
            <a:pPr algn="just"/>
            <a:r>
              <a:rPr lang="en-US" sz="2400" dirty="0" smtClean="0"/>
              <a:t>Only single entry in the </a:t>
            </a:r>
            <a:r>
              <a:rPr lang="en-US" sz="2400" dirty="0" smtClean="0">
                <a:solidFill>
                  <a:schemeClr val="tx2"/>
                </a:solidFill>
              </a:rPr>
              <a:t>file allocation table</a:t>
            </a:r>
          </a:p>
          <a:p>
            <a:pPr lvl="1" algn="just"/>
            <a:r>
              <a:rPr lang="en-US" sz="2400" dirty="0" smtClean="0"/>
              <a:t>Starting block and length of file</a:t>
            </a:r>
          </a:p>
          <a:p>
            <a:pPr algn="just"/>
            <a:r>
              <a:rPr lang="en-US" sz="2400" b="1" u="sng" dirty="0" smtClean="0"/>
              <a:t>Benefits:</a:t>
            </a:r>
          </a:p>
          <a:p>
            <a:pPr lvl="1" algn="just"/>
            <a:r>
              <a:rPr lang="en-US" sz="2400" dirty="0" smtClean="0"/>
              <a:t>Any free block can be utilized</a:t>
            </a:r>
          </a:p>
          <a:p>
            <a:pPr lvl="1" algn="just"/>
            <a:r>
              <a:rPr lang="en-US" sz="2400" dirty="0" smtClean="0">
                <a:solidFill>
                  <a:schemeClr val="tx2"/>
                </a:solidFill>
              </a:rPr>
              <a:t>No external fragmentation</a:t>
            </a:r>
          </a:p>
          <a:p>
            <a:pPr algn="just"/>
            <a:r>
              <a:rPr lang="en-US" sz="2400" b="1" u="sng" dirty="0" smtClean="0"/>
              <a:t>Issues:</a:t>
            </a:r>
          </a:p>
          <a:p>
            <a:pPr lvl="1" algn="just"/>
            <a:r>
              <a:rPr lang="en-US" sz="2400" dirty="0" smtClean="0"/>
              <a:t>No accommodation of POL – Consolidation needed to solve this issue</a:t>
            </a:r>
          </a:p>
          <a:p>
            <a:pPr algn="just"/>
            <a:endParaRPr lang="en-US" sz="2400" dirty="0"/>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Chained Allocation</a:t>
            </a:r>
            <a:endParaRPr lang="en-US" dirty="0"/>
          </a:p>
        </p:txBody>
      </p:sp>
      <p:pic>
        <p:nvPicPr>
          <p:cNvPr id="4" name="Content Placeholder 3" descr="Fig12_09.gif"/>
          <p:cNvPicPr>
            <a:picLocks noGrp="1" noChangeAspect="1"/>
          </p:cNvPicPr>
          <p:nvPr>
            <p:ph idx="1"/>
          </p:nvPr>
        </p:nvPicPr>
        <p:blipFill>
          <a:blip r:embed="rId3"/>
          <a:stretch>
            <a:fillRect/>
          </a:stretch>
        </p:blipFill>
        <p:spPr>
          <a:xfrm>
            <a:off x="152400" y="1219200"/>
            <a:ext cx="8839200" cy="5334000"/>
          </a:xfrm>
        </p:spPr>
      </p:pic>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Chained Allocation Consolidation</a:t>
            </a:r>
            <a:endParaRPr lang="en-US" dirty="0"/>
          </a:p>
        </p:txBody>
      </p:sp>
      <p:pic>
        <p:nvPicPr>
          <p:cNvPr id="4" name="Content Placeholder 3" descr="Fig12_10.gif"/>
          <p:cNvPicPr>
            <a:picLocks noGrp="1" noChangeAspect="1"/>
          </p:cNvPicPr>
          <p:nvPr>
            <p:ph idx="1"/>
          </p:nvPr>
        </p:nvPicPr>
        <p:blipFill>
          <a:blip r:embed="rId3"/>
          <a:stretch>
            <a:fillRect/>
          </a:stretch>
        </p:blipFill>
        <p:spPr>
          <a:xfrm>
            <a:off x="0" y="1524000"/>
            <a:ext cx="9144000" cy="5105400"/>
          </a:xfr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Allocation</a:t>
            </a:r>
            <a:endParaRPr lang="en-US" dirty="0"/>
          </a:p>
        </p:txBody>
      </p:sp>
      <p:sp>
        <p:nvSpPr>
          <p:cNvPr id="3" name="Content Placeholder 2"/>
          <p:cNvSpPr>
            <a:spLocks noGrp="1"/>
          </p:cNvSpPr>
          <p:nvPr>
            <p:ph idx="1"/>
          </p:nvPr>
        </p:nvSpPr>
        <p:spPr/>
        <p:txBody>
          <a:bodyPr/>
          <a:lstStyle/>
          <a:p>
            <a:pPr algn="just"/>
            <a:r>
              <a:rPr lang="en-US" sz="2800" dirty="0" smtClean="0">
                <a:solidFill>
                  <a:schemeClr val="tx2"/>
                </a:solidFill>
              </a:rPr>
              <a:t>File allocation table </a:t>
            </a:r>
            <a:r>
              <a:rPr lang="en-US" sz="2800" dirty="0" smtClean="0"/>
              <a:t>contains a separate </a:t>
            </a:r>
            <a:r>
              <a:rPr lang="en-US" sz="2800" dirty="0" smtClean="0">
                <a:solidFill>
                  <a:schemeClr val="tx2"/>
                </a:solidFill>
              </a:rPr>
              <a:t>one-level index</a:t>
            </a:r>
            <a:r>
              <a:rPr lang="en-US" sz="2800" dirty="0" smtClean="0"/>
              <a:t> for each file</a:t>
            </a:r>
          </a:p>
          <a:p>
            <a:pPr algn="just"/>
            <a:r>
              <a:rPr lang="en-US" sz="2800" dirty="0" smtClean="0">
                <a:solidFill>
                  <a:schemeClr val="tx2"/>
                </a:solidFill>
              </a:rPr>
              <a:t>The index </a:t>
            </a:r>
            <a:r>
              <a:rPr lang="en-US" sz="2800" dirty="0" smtClean="0"/>
              <a:t>has one entry for each portion allocated to the file</a:t>
            </a:r>
          </a:p>
          <a:p>
            <a:pPr algn="just"/>
            <a:r>
              <a:rPr lang="en-US" sz="2800" dirty="0" smtClean="0"/>
              <a:t>Index is kept in a separate block</a:t>
            </a:r>
          </a:p>
          <a:p>
            <a:pPr lvl="1" algn="just"/>
            <a:r>
              <a:rPr lang="en-US" sz="2400" dirty="0" smtClean="0"/>
              <a:t>The </a:t>
            </a:r>
            <a:r>
              <a:rPr lang="en-US" sz="2400" dirty="0" smtClean="0">
                <a:solidFill>
                  <a:schemeClr val="tx2"/>
                </a:solidFill>
              </a:rPr>
              <a:t>file allocation table </a:t>
            </a:r>
            <a:r>
              <a:rPr lang="en-US" sz="2400" dirty="0" smtClean="0"/>
              <a:t>contains block number for the index</a:t>
            </a:r>
          </a:p>
          <a:p>
            <a:pPr algn="just"/>
            <a:endParaRPr lang="en-US" sz="2800"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Indexed Allocation Method</a:t>
            </a:r>
            <a:endParaRPr lang="en-NZ" dirty="0"/>
          </a:p>
        </p:txBody>
      </p:sp>
      <p:sp>
        <p:nvSpPr>
          <p:cNvPr id="3" name="Content Placeholder 2"/>
          <p:cNvSpPr>
            <a:spLocks noGrp="1"/>
          </p:cNvSpPr>
          <p:nvPr>
            <p:ph idx="1"/>
          </p:nvPr>
        </p:nvSpPr>
        <p:spPr/>
        <p:txBody>
          <a:bodyPr/>
          <a:lstStyle/>
          <a:p>
            <a:pPr algn="just"/>
            <a:r>
              <a:rPr lang="en-NZ" sz="2800" b="1" dirty="0" smtClean="0">
                <a:solidFill>
                  <a:schemeClr val="tx2"/>
                </a:solidFill>
              </a:rPr>
              <a:t>Allocation</a:t>
            </a:r>
            <a:r>
              <a:rPr lang="en-NZ" sz="2800" dirty="0" smtClean="0"/>
              <a:t> may be either</a:t>
            </a:r>
          </a:p>
          <a:p>
            <a:pPr lvl="1" algn="just"/>
            <a:r>
              <a:rPr lang="en-NZ" dirty="0" smtClean="0"/>
              <a:t>Fixed size blocks or </a:t>
            </a:r>
          </a:p>
          <a:p>
            <a:pPr lvl="1" algn="just"/>
            <a:r>
              <a:rPr lang="en-NZ" dirty="0" smtClean="0"/>
              <a:t>Variable sized blocks</a:t>
            </a:r>
          </a:p>
          <a:p>
            <a:pPr algn="just"/>
            <a:endParaRPr lang="en-NZ" sz="2800" dirty="0" smtClean="0"/>
          </a:p>
          <a:p>
            <a:pPr algn="just"/>
            <a:r>
              <a:rPr lang="en-NZ" sz="2800" dirty="0" smtClean="0"/>
              <a:t>Allocating by blocks eliminates external fragmentation</a:t>
            </a:r>
          </a:p>
          <a:p>
            <a:pPr algn="just"/>
            <a:r>
              <a:rPr lang="en-NZ" sz="2800" dirty="0" smtClean="0"/>
              <a:t>Variable sized blocks improves locality</a:t>
            </a:r>
          </a:p>
          <a:p>
            <a:pPr algn="just"/>
            <a:r>
              <a:rPr lang="en-NZ" sz="2800" dirty="0" smtClean="0"/>
              <a:t>Both cases require occasional consolidation</a:t>
            </a:r>
            <a:endParaRPr lang="en-NZ" sz="2800"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Indexed allocation </a:t>
            </a:r>
            <a:br>
              <a:rPr lang="en-NZ" dirty="0" smtClean="0"/>
            </a:br>
            <a:r>
              <a:rPr lang="en-NZ" dirty="0" smtClean="0"/>
              <a:t>with Block Portions</a:t>
            </a:r>
            <a:endParaRPr lang="en-NZ" dirty="0"/>
          </a:p>
        </p:txBody>
      </p:sp>
      <p:pic>
        <p:nvPicPr>
          <p:cNvPr id="1026" name="Picture 2"/>
          <p:cNvPicPr>
            <a:picLocks noGrp="1" noChangeAspect="1" noChangeArrowheads="1"/>
          </p:cNvPicPr>
          <p:nvPr>
            <p:ph idx="1"/>
          </p:nvPr>
        </p:nvPicPr>
        <p:blipFill>
          <a:blip r:embed="rId2"/>
          <a:srcRect/>
          <a:stretch>
            <a:fillRect/>
          </a:stretch>
        </p:blipFill>
        <p:spPr bwMode="auto">
          <a:xfrm>
            <a:off x="228600" y="1600201"/>
            <a:ext cx="8763000" cy="5029200"/>
          </a:xfrm>
          <a:prstGeom prst="rect">
            <a:avLst/>
          </a:prstGeom>
          <a:noFill/>
          <a:ln w="9525">
            <a:noFill/>
            <a:miter lim="800000"/>
            <a:headEnd/>
            <a:tailEnd/>
          </a:ln>
          <a:effec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Indexed Allocation with</a:t>
            </a:r>
            <a:br>
              <a:rPr lang="en-US" dirty="0" smtClean="0"/>
            </a:br>
            <a:r>
              <a:rPr lang="en-US" dirty="0" smtClean="0"/>
              <a:t> Variable Length Portions</a:t>
            </a:r>
            <a:endParaRPr lang="en-US" dirty="0"/>
          </a:p>
        </p:txBody>
      </p:sp>
      <p:pic>
        <p:nvPicPr>
          <p:cNvPr id="4" name="Content Placeholder 3" descr="Fig12_12.gif"/>
          <p:cNvPicPr>
            <a:picLocks noGrp="1" noChangeAspect="1"/>
          </p:cNvPicPr>
          <p:nvPr>
            <p:ph idx="1"/>
          </p:nvPr>
        </p:nvPicPr>
        <p:blipFill>
          <a:blip r:embed="rId3"/>
          <a:stretch>
            <a:fillRect/>
          </a:stretch>
        </p:blipFill>
        <p:spPr>
          <a:xfrm>
            <a:off x="76200" y="1600200"/>
            <a:ext cx="8915400" cy="5029200"/>
          </a:xfrm>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Free Space Management</a:t>
            </a:r>
            <a:endParaRPr lang="en-NZ" dirty="0"/>
          </a:p>
        </p:txBody>
      </p:sp>
      <p:sp>
        <p:nvSpPr>
          <p:cNvPr id="3" name="Content Placeholder 2"/>
          <p:cNvSpPr>
            <a:spLocks noGrp="1"/>
          </p:cNvSpPr>
          <p:nvPr>
            <p:ph idx="1"/>
          </p:nvPr>
        </p:nvSpPr>
        <p:spPr/>
        <p:txBody>
          <a:bodyPr/>
          <a:lstStyle/>
          <a:p>
            <a:pPr algn="just"/>
            <a:r>
              <a:rPr lang="en-NZ" sz="2800" dirty="0" smtClean="0"/>
              <a:t>Just as allocated space must be managed, so must the unallocated space</a:t>
            </a:r>
          </a:p>
          <a:p>
            <a:pPr algn="just"/>
            <a:r>
              <a:rPr lang="en-NZ" sz="2800" dirty="0" smtClean="0"/>
              <a:t>To perform file allocation, we need to know which blocks are available.</a:t>
            </a:r>
          </a:p>
          <a:p>
            <a:pPr algn="just"/>
            <a:r>
              <a:rPr lang="en-NZ" sz="2800" dirty="0" smtClean="0"/>
              <a:t>We need a disk allocation table in addition to a file allocation table</a:t>
            </a:r>
            <a:endParaRPr lang="en-NZ" sz="2800" dirty="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Bit Tables</a:t>
            </a:r>
            <a:endParaRPr lang="en-NZ" dirty="0"/>
          </a:p>
        </p:txBody>
      </p:sp>
      <p:sp>
        <p:nvSpPr>
          <p:cNvPr id="3" name="Content Placeholder 2"/>
          <p:cNvSpPr>
            <a:spLocks noGrp="1"/>
          </p:cNvSpPr>
          <p:nvPr>
            <p:ph idx="1"/>
          </p:nvPr>
        </p:nvSpPr>
        <p:spPr/>
        <p:txBody>
          <a:bodyPr/>
          <a:lstStyle/>
          <a:p>
            <a:pPr algn="just"/>
            <a:r>
              <a:rPr lang="en-NZ" sz="2800" dirty="0" smtClean="0"/>
              <a:t>This method uses a </a:t>
            </a:r>
            <a:r>
              <a:rPr lang="en-NZ" sz="2800" dirty="0" smtClean="0">
                <a:solidFill>
                  <a:schemeClr val="tx2"/>
                </a:solidFill>
              </a:rPr>
              <a:t>vector</a:t>
            </a:r>
            <a:r>
              <a:rPr lang="en-NZ" sz="2800" dirty="0" smtClean="0"/>
              <a:t> containing one bit for each block on the disk. </a:t>
            </a:r>
          </a:p>
          <a:p>
            <a:pPr algn="just"/>
            <a:r>
              <a:rPr lang="en-NZ" sz="2800" dirty="0" smtClean="0"/>
              <a:t>Each entry of a 0 corresponds to a free block, </a:t>
            </a:r>
          </a:p>
          <a:p>
            <a:pPr lvl="1" algn="just"/>
            <a:r>
              <a:rPr lang="en-NZ" dirty="0" smtClean="0"/>
              <a:t>and each 1 corresponds to a block in use.</a:t>
            </a:r>
          </a:p>
          <a:p>
            <a:pPr algn="just"/>
            <a:r>
              <a:rPr lang="en-NZ" sz="2800" u="sng" dirty="0" smtClean="0">
                <a:solidFill>
                  <a:schemeClr val="tx2"/>
                </a:solidFill>
              </a:rPr>
              <a:t>Advantages:</a:t>
            </a:r>
          </a:p>
          <a:p>
            <a:pPr lvl="1" algn="just"/>
            <a:r>
              <a:rPr lang="en-NZ" dirty="0" smtClean="0"/>
              <a:t>Works well with any file allocation method</a:t>
            </a:r>
          </a:p>
          <a:p>
            <a:pPr lvl="1" algn="just"/>
            <a:r>
              <a:rPr lang="en-NZ" dirty="0" smtClean="0"/>
              <a:t>Small as possible</a:t>
            </a:r>
          </a:p>
          <a:p>
            <a:pPr algn="just"/>
            <a:r>
              <a:rPr lang="en-NZ" sz="2800" u="sng" dirty="0" smtClean="0">
                <a:solidFill>
                  <a:schemeClr val="tx2"/>
                </a:solidFill>
              </a:rPr>
              <a:t>Issue:</a:t>
            </a:r>
          </a:p>
          <a:p>
            <a:pPr lvl="1" algn="just"/>
            <a:r>
              <a:rPr lang="en-NZ" dirty="0" smtClean="0"/>
              <a:t>Requires exhaustive search</a:t>
            </a:r>
          </a:p>
          <a:p>
            <a:pPr algn="just"/>
            <a:endParaRPr lang="en-NZ" dirty="0" smtClean="0"/>
          </a:p>
          <a:p>
            <a:pPr lvl="1" algn="just"/>
            <a:endParaRPr lang="en-NZ" dirty="0" smtClean="0"/>
          </a:p>
          <a:p>
            <a:pPr algn="just"/>
            <a:endParaRPr lang="en-NZ" sz="2800" dirty="0" smtClean="0"/>
          </a:p>
          <a:p>
            <a:pPr algn="just"/>
            <a:endParaRPr lang="en-NZ" sz="2800"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Chained Free Portions </a:t>
            </a:r>
            <a:endParaRPr lang="en-NZ" dirty="0"/>
          </a:p>
        </p:txBody>
      </p:sp>
      <p:sp>
        <p:nvSpPr>
          <p:cNvPr id="3" name="Content Placeholder 2"/>
          <p:cNvSpPr>
            <a:spLocks noGrp="1"/>
          </p:cNvSpPr>
          <p:nvPr>
            <p:ph idx="1"/>
          </p:nvPr>
        </p:nvSpPr>
        <p:spPr/>
        <p:txBody>
          <a:bodyPr/>
          <a:lstStyle/>
          <a:p>
            <a:pPr algn="just"/>
            <a:r>
              <a:rPr lang="en-NZ" sz="2800" dirty="0" smtClean="0"/>
              <a:t>The free portions may be chained together by using a pointer and length value in each free portion. </a:t>
            </a:r>
          </a:p>
          <a:p>
            <a:pPr algn="just"/>
            <a:r>
              <a:rPr lang="en-NZ" sz="2800" u="sng" dirty="0" smtClean="0">
                <a:solidFill>
                  <a:schemeClr val="tx2"/>
                </a:solidFill>
              </a:rPr>
              <a:t>Advantages:</a:t>
            </a:r>
            <a:endParaRPr lang="en-NZ" sz="2800" dirty="0" smtClean="0"/>
          </a:p>
          <a:p>
            <a:pPr lvl="1" algn="just"/>
            <a:r>
              <a:rPr lang="en-NZ" dirty="0" smtClean="0"/>
              <a:t>Negligible space overhead</a:t>
            </a:r>
          </a:p>
          <a:p>
            <a:pPr lvl="1" algn="just"/>
            <a:r>
              <a:rPr lang="en-NZ" dirty="0" smtClean="0"/>
              <a:t>Suited to all file allocation methods</a:t>
            </a:r>
          </a:p>
          <a:p>
            <a:pPr algn="just"/>
            <a:r>
              <a:rPr lang="en-NZ" sz="2800" u="sng" dirty="0" smtClean="0">
                <a:solidFill>
                  <a:schemeClr val="tx2"/>
                </a:solidFill>
              </a:rPr>
              <a:t>Issue:</a:t>
            </a:r>
          </a:p>
          <a:p>
            <a:pPr lvl="1" algn="just"/>
            <a:r>
              <a:rPr lang="en-NZ" dirty="0" smtClean="0"/>
              <a:t>Leads to fragmentation</a:t>
            </a:r>
            <a:endParaRPr lang="en-NZ"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Indexing</a:t>
            </a:r>
            <a:endParaRPr lang="en-NZ" dirty="0"/>
          </a:p>
        </p:txBody>
      </p:sp>
      <p:sp>
        <p:nvSpPr>
          <p:cNvPr id="3" name="Content Placeholder 2"/>
          <p:cNvSpPr>
            <a:spLocks noGrp="1"/>
          </p:cNvSpPr>
          <p:nvPr>
            <p:ph idx="1"/>
          </p:nvPr>
        </p:nvSpPr>
        <p:spPr/>
        <p:txBody>
          <a:bodyPr/>
          <a:lstStyle/>
          <a:p>
            <a:pPr algn="just"/>
            <a:r>
              <a:rPr lang="en-NZ" sz="2800" dirty="0" smtClean="0"/>
              <a:t>Treats free space as a file and uses one level index</a:t>
            </a:r>
          </a:p>
          <a:p>
            <a:pPr algn="just"/>
            <a:r>
              <a:rPr lang="en-NZ" sz="2800" dirty="0" smtClean="0"/>
              <a:t>There is one entry in the index for every free portion on the disk</a:t>
            </a:r>
          </a:p>
          <a:p>
            <a:pPr algn="just"/>
            <a:r>
              <a:rPr lang="en-NZ" sz="2800" dirty="0" smtClean="0"/>
              <a:t>This approach provides efficient support for all of the file allocation methods.</a:t>
            </a:r>
          </a:p>
          <a:p>
            <a:pPr algn="just"/>
            <a:endParaRPr lang="en-NZ" sz="2800"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Free Block List </a:t>
            </a:r>
            <a:endParaRPr lang="en-NZ" dirty="0"/>
          </a:p>
        </p:txBody>
      </p:sp>
      <p:sp>
        <p:nvSpPr>
          <p:cNvPr id="3" name="Content Placeholder 2"/>
          <p:cNvSpPr>
            <a:spLocks noGrp="1"/>
          </p:cNvSpPr>
          <p:nvPr>
            <p:ph idx="1"/>
          </p:nvPr>
        </p:nvSpPr>
        <p:spPr/>
        <p:txBody>
          <a:bodyPr/>
          <a:lstStyle/>
          <a:p>
            <a:pPr algn="just"/>
            <a:r>
              <a:rPr lang="en-NZ" sz="2400" dirty="0" smtClean="0"/>
              <a:t>Each block is assigned a number sequentially </a:t>
            </a:r>
          </a:p>
          <a:p>
            <a:pPr lvl="1" algn="just"/>
            <a:r>
              <a:rPr lang="en-NZ" sz="2400" dirty="0" smtClean="0"/>
              <a:t>the list of the numbers of all free blocks is maintained in a reserved portion of the disk. </a:t>
            </a:r>
          </a:p>
          <a:p>
            <a:pPr algn="just"/>
            <a:r>
              <a:rPr lang="en-NZ" sz="2400" dirty="0" smtClean="0"/>
              <a:t>Size of free block list may be an issue</a:t>
            </a:r>
          </a:p>
          <a:p>
            <a:pPr lvl="1" algn="just"/>
            <a:r>
              <a:rPr lang="en-NZ" sz="2400" dirty="0" smtClean="0"/>
              <a:t>Still this is a better method</a:t>
            </a:r>
          </a:p>
          <a:p>
            <a:pPr lvl="2" algn="just"/>
            <a:r>
              <a:rPr lang="en-NZ" dirty="0" smtClean="0"/>
              <a:t>The space needed is usually less than 1% of the total disk space</a:t>
            </a:r>
          </a:p>
          <a:p>
            <a:pPr lvl="2" algn="just"/>
            <a:r>
              <a:rPr lang="en-NZ" dirty="0" smtClean="0"/>
              <a:t>List can be treated as a push down stack and keep only first few thousand elements in main memory</a:t>
            </a:r>
          </a:p>
          <a:p>
            <a:pPr lvl="2" algn="just"/>
            <a:r>
              <a:rPr lang="en-NZ" dirty="0" smtClean="0"/>
              <a:t>List can be treated as a FIFO queue and few thousand entries from head + tail in main memory</a:t>
            </a:r>
          </a:p>
          <a:p>
            <a:pPr algn="just"/>
            <a:endParaRPr lang="en-NZ" sz="2400" dirty="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Volumes</a:t>
            </a:r>
            <a:endParaRPr lang="en-NZ" dirty="0"/>
          </a:p>
        </p:txBody>
      </p:sp>
      <p:sp>
        <p:nvSpPr>
          <p:cNvPr id="3" name="Content Placeholder 2"/>
          <p:cNvSpPr>
            <a:spLocks noGrp="1"/>
          </p:cNvSpPr>
          <p:nvPr>
            <p:ph idx="1"/>
          </p:nvPr>
        </p:nvSpPr>
        <p:spPr/>
        <p:txBody>
          <a:bodyPr/>
          <a:lstStyle/>
          <a:p>
            <a:pPr algn="just"/>
            <a:r>
              <a:rPr lang="en-NZ" sz="2800" dirty="0" smtClean="0"/>
              <a:t>A collection of addressable sectors in secondary memory that an OS or application can use for data storage.</a:t>
            </a:r>
          </a:p>
          <a:p>
            <a:pPr algn="just"/>
            <a:endParaRPr lang="en-NZ" sz="2800" dirty="0" smtClean="0"/>
          </a:p>
          <a:p>
            <a:pPr algn="just"/>
            <a:r>
              <a:rPr lang="en-NZ" sz="2800" dirty="0" smtClean="0"/>
              <a:t>A single disk is one volume</a:t>
            </a:r>
          </a:p>
          <a:p>
            <a:pPr algn="just"/>
            <a:r>
              <a:rPr lang="en-NZ" sz="2800" dirty="0" smtClean="0"/>
              <a:t>Disk can be divided in partitions, where each partition works as a volume</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Reliability</a:t>
            </a:r>
            <a:endParaRPr lang="en-US" dirty="0"/>
          </a:p>
        </p:txBody>
      </p:sp>
      <p:sp>
        <p:nvSpPr>
          <p:cNvPr id="3" name="Content Placeholder 2"/>
          <p:cNvSpPr>
            <a:spLocks noGrp="1"/>
          </p:cNvSpPr>
          <p:nvPr>
            <p:ph idx="1"/>
          </p:nvPr>
        </p:nvSpPr>
        <p:spPr/>
        <p:txBody>
          <a:bodyPr/>
          <a:lstStyle/>
          <a:p>
            <a:pPr algn="just"/>
            <a:r>
              <a:rPr lang="en-US" sz="2800" dirty="0" smtClean="0"/>
              <a:t>Consider a scenario as below:</a:t>
            </a:r>
          </a:p>
          <a:p>
            <a:pPr lvl="1" algn="just"/>
            <a:r>
              <a:rPr lang="en-US" dirty="0" smtClean="0"/>
              <a:t>User A requests for </a:t>
            </a:r>
            <a:r>
              <a:rPr lang="en-US" dirty="0" err="1" smtClean="0"/>
              <a:t>updation</a:t>
            </a:r>
            <a:r>
              <a:rPr lang="en-US" dirty="0" smtClean="0"/>
              <a:t> of file</a:t>
            </a:r>
          </a:p>
          <a:p>
            <a:pPr lvl="1" algn="just"/>
            <a:r>
              <a:rPr lang="en-US" dirty="0" smtClean="0"/>
              <a:t>The request is granted, DAT and FAT updated in main memory</a:t>
            </a:r>
          </a:p>
          <a:p>
            <a:pPr lvl="1" algn="just"/>
            <a:r>
              <a:rPr lang="en-US" dirty="0" smtClean="0"/>
              <a:t>System crashes and restarts</a:t>
            </a:r>
          </a:p>
          <a:p>
            <a:pPr lvl="1" algn="just"/>
            <a:r>
              <a:rPr lang="en-US" dirty="0" smtClean="0"/>
              <a:t>User B requests file allocation and given the space overlapping with last allocation to A</a:t>
            </a:r>
          </a:p>
          <a:p>
            <a:pPr lvl="1" algn="just"/>
            <a:r>
              <a:rPr lang="en-US" dirty="0" smtClean="0"/>
              <a:t>User A accesses the overlapped portion</a:t>
            </a:r>
          </a:p>
          <a:p>
            <a:pPr lvl="1" algn="ctr">
              <a:buNone/>
            </a:pPr>
            <a:r>
              <a:rPr lang="en-US" dirty="0" smtClean="0"/>
              <a:t>PROBLEM!!</a:t>
            </a:r>
          </a:p>
          <a:p>
            <a:pPr lvl="1" algn="ctr">
              <a:buNone/>
            </a:pPr>
            <a:r>
              <a:rPr lang="en-US" dirty="0" smtClean="0"/>
              <a:t>Copy of FAT and DAT in Main Memory</a:t>
            </a:r>
            <a:endParaRPr lang="en-US"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Reliability</a:t>
            </a:r>
            <a:endParaRPr lang="en-US" dirty="0"/>
          </a:p>
        </p:txBody>
      </p:sp>
      <p:sp>
        <p:nvSpPr>
          <p:cNvPr id="3" name="Content Placeholder 2"/>
          <p:cNvSpPr>
            <a:spLocks noGrp="1"/>
          </p:cNvSpPr>
          <p:nvPr>
            <p:ph idx="1"/>
          </p:nvPr>
        </p:nvSpPr>
        <p:spPr/>
        <p:txBody>
          <a:bodyPr/>
          <a:lstStyle/>
          <a:p>
            <a:r>
              <a:rPr lang="en-US" sz="2800" dirty="0" smtClean="0"/>
              <a:t>Solution:</a:t>
            </a:r>
          </a:p>
          <a:p>
            <a:pPr lvl="1"/>
            <a:r>
              <a:rPr lang="en-US" dirty="0" smtClean="0"/>
              <a:t>Lock DAT on disk</a:t>
            </a:r>
          </a:p>
          <a:p>
            <a:pPr lvl="1"/>
            <a:r>
              <a:rPr lang="en-US" dirty="0" smtClean="0"/>
              <a:t>Bring DAT copy to MM and look for space</a:t>
            </a:r>
          </a:p>
          <a:p>
            <a:pPr lvl="1"/>
            <a:r>
              <a:rPr lang="en-US" dirty="0" smtClean="0"/>
              <a:t>Allocate space, update DAT, Update Disk</a:t>
            </a:r>
          </a:p>
          <a:p>
            <a:pPr lvl="1"/>
            <a:r>
              <a:rPr lang="en-US" dirty="0" smtClean="0"/>
              <a:t>Update FAT, Update Disk</a:t>
            </a:r>
          </a:p>
          <a:p>
            <a:pPr lvl="1"/>
            <a:r>
              <a:rPr lang="en-US" dirty="0" smtClean="0"/>
              <a:t>Unlock DAT</a:t>
            </a:r>
          </a:p>
          <a:p>
            <a:pPr lvl="1"/>
            <a:endParaRPr lang="en-US" dirty="0" smtClean="0"/>
          </a:p>
          <a:p>
            <a:pPr lvl="1"/>
            <a:r>
              <a:rPr lang="en-US" dirty="0" smtClean="0"/>
              <a:t>Overhead involved in this method</a:t>
            </a:r>
          </a:p>
          <a:p>
            <a:pPr lvl="2"/>
            <a:r>
              <a:rPr lang="en-US" dirty="0" smtClean="0"/>
              <a:t>Reduced by using batch storage allocation</a:t>
            </a:r>
            <a:endParaRPr lang="en-US"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Access Control</a:t>
            </a:r>
            <a:endParaRPr lang="en-NZ" dirty="0"/>
          </a:p>
        </p:txBody>
      </p:sp>
      <p:sp>
        <p:nvSpPr>
          <p:cNvPr id="3" name="Content Placeholder 2"/>
          <p:cNvSpPr>
            <a:spLocks noGrp="1"/>
          </p:cNvSpPr>
          <p:nvPr>
            <p:ph idx="1"/>
          </p:nvPr>
        </p:nvSpPr>
        <p:spPr/>
        <p:txBody>
          <a:bodyPr/>
          <a:lstStyle/>
          <a:p>
            <a:pPr algn="just"/>
            <a:r>
              <a:rPr lang="en-NZ" sz="2800" dirty="0" smtClean="0"/>
              <a:t>By successfully logging on to a system, the user is identified</a:t>
            </a:r>
          </a:p>
          <a:p>
            <a:pPr algn="just"/>
            <a:r>
              <a:rPr lang="en-NZ" sz="2800" dirty="0" smtClean="0"/>
              <a:t>The OS can then enforce rules</a:t>
            </a:r>
          </a:p>
          <a:p>
            <a:pPr lvl="1" algn="just"/>
            <a:r>
              <a:rPr lang="en-NZ" dirty="0" smtClean="0"/>
              <a:t>Granting access to files and applications (or denying)</a:t>
            </a:r>
          </a:p>
          <a:p>
            <a:pPr algn="just"/>
            <a:r>
              <a:rPr lang="en-NZ" sz="2800" dirty="0" smtClean="0"/>
              <a:t>The OS needs a rule-set to enforce</a:t>
            </a:r>
            <a:endParaRPr lang="en-NZ" sz="2800"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Access Matrix</a:t>
            </a:r>
            <a:endParaRPr lang="en-NZ" dirty="0"/>
          </a:p>
        </p:txBody>
      </p:sp>
      <p:sp>
        <p:nvSpPr>
          <p:cNvPr id="3" name="Content Placeholder 2"/>
          <p:cNvSpPr>
            <a:spLocks noGrp="1"/>
          </p:cNvSpPr>
          <p:nvPr>
            <p:ph idx="1"/>
          </p:nvPr>
        </p:nvSpPr>
        <p:spPr/>
        <p:txBody>
          <a:bodyPr/>
          <a:lstStyle/>
          <a:p>
            <a:r>
              <a:rPr lang="en-NZ" dirty="0" smtClean="0"/>
              <a:t>One such rule set is an Access Matrix</a:t>
            </a:r>
            <a:endParaRPr lang="en-NZ" dirty="0"/>
          </a:p>
        </p:txBody>
      </p:sp>
      <p:pic>
        <p:nvPicPr>
          <p:cNvPr id="4" name="Content Placeholder 3" descr="Fig12_13a.gif"/>
          <p:cNvPicPr>
            <a:picLocks noChangeAspect="1"/>
          </p:cNvPicPr>
          <p:nvPr/>
        </p:nvPicPr>
        <p:blipFill>
          <a:blip r:embed="rId3"/>
          <a:stretch>
            <a:fillRect/>
          </a:stretch>
        </p:blipFill>
        <p:spPr bwMode="auto">
          <a:xfrm>
            <a:off x="914400" y="2514600"/>
            <a:ext cx="6947811" cy="3167062"/>
          </a:xfrm>
          <a:prstGeom prst="rect">
            <a:avLst/>
          </a:prstGeom>
          <a:noFill/>
          <a:ln w="9525">
            <a:noFill/>
            <a:miter lim="800000"/>
            <a:headEnd/>
            <a:tailEnd/>
          </a:ln>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Access Control Lists</a:t>
            </a:r>
            <a:endParaRPr lang="en-NZ" dirty="0"/>
          </a:p>
        </p:txBody>
      </p:sp>
      <p:sp>
        <p:nvSpPr>
          <p:cNvPr id="3" name="Content Placeholder 2"/>
          <p:cNvSpPr>
            <a:spLocks noGrp="1"/>
          </p:cNvSpPr>
          <p:nvPr>
            <p:ph idx="1"/>
          </p:nvPr>
        </p:nvSpPr>
        <p:spPr>
          <a:xfrm>
            <a:off x="457200" y="1600200"/>
            <a:ext cx="3962400" cy="4953000"/>
          </a:xfrm>
        </p:spPr>
        <p:txBody>
          <a:bodyPr/>
          <a:lstStyle/>
          <a:p>
            <a:pPr algn="just"/>
            <a:r>
              <a:rPr lang="en-NZ" sz="2800" dirty="0" smtClean="0"/>
              <a:t>A matrix may be decomposed by columns</a:t>
            </a:r>
          </a:p>
          <a:p>
            <a:pPr algn="just"/>
            <a:r>
              <a:rPr lang="en-NZ" sz="2800" dirty="0" smtClean="0"/>
              <a:t>Giving an Access Control List (ACL) for each file.</a:t>
            </a:r>
            <a:endParaRPr lang="en-NZ" sz="2800" dirty="0"/>
          </a:p>
        </p:txBody>
      </p:sp>
      <p:pic>
        <p:nvPicPr>
          <p:cNvPr id="4" name="Content Placeholder 3" descr="Fig12_13b.gif"/>
          <p:cNvPicPr>
            <a:picLocks noChangeAspect="1"/>
          </p:cNvPicPr>
          <p:nvPr/>
        </p:nvPicPr>
        <p:blipFill>
          <a:blip r:embed="rId3"/>
          <a:stretch>
            <a:fillRect/>
          </a:stretch>
        </p:blipFill>
        <p:spPr bwMode="auto">
          <a:xfrm>
            <a:off x="4800600" y="1371600"/>
            <a:ext cx="4114800" cy="5186363"/>
          </a:xfrm>
          <a:prstGeom prst="rect">
            <a:avLst/>
          </a:prstGeom>
          <a:noFill/>
          <a:ln w="9525">
            <a:noFill/>
            <a:miter lim="800000"/>
            <a:headEnd/>
            <a:tailEnd/>
          </a:ln>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Capability Lists</a:t>
            </a:r>
            <a:endParaRPr lang="en-NZ" dirty="0"/>
          </a:p>
        </p:txBody>
      </p:sp>
      <p:sp>
        <p:nvSpPr>
          <p:cNvPr id="3" name="Content Placeholder 2"/>
          <p:cNvSpPr>
            <a:spLocks noGrp="1"/>
          </p:cNvSpPr>
          <p:nvPr>
            <p:ph idx="1"/>
          </p:nvPr>
        </p:nvSpPr>
        <p:spPr>
          <a:xfrm>
            <a:off x="304800" y="1524000"/>
            <a:ext cx="4191000" cy="4953000"/>
          </a:xfrm>
        </p:spPr>
        <p:txBody>
          <a:bodyPr/>
          <a:lstStyle/>
          <a:p>
            <a:pPr algn="just"/>
            <a:r>
              <a:rPr lang="en-NZ" sz="2800" dirty="0" smtClean="0"/>
              <a:t>Decomposition by rows yields capability lists (or ticket)</a:t>
            </a:r>
          </a:p>
          <a:p>
            <a:pPr lvl="1" algn="just"/>
            <a:r>
              <a:rPr lang="en-NZ" dirty="0" smtClean="0"/>
              <a:t>specifies authorized objects and operations for a user.</a:t>
            </a:r>
          </a:p>
          <a:p>
            <a:pPr algn="just">
              <a:buNone/>
            </a:pPr>
            <a:endParaRPr lang="en-NZ" sz="2800" dirty="0"/>
          </a:p>
        </p:txBody>
      </p:sp>
      <p:pic>
        <p:nvPicPr>
          <p:cNvPr id="4" name="Content Placeholder 3" descr="Fig12_13c.gif"/>
          <p:cNvPicPr>
            <a:picLocks noChangeAspect="1"/>
          </p:cNvPicPr>
          <p:nvPr/>
        </p:nvPicPr>
        <p:blipFill>
          <a:blip r:embed="rId3"/>
          <a:stretch>
            <a:fillRect/>
          </a:stretch>
        </p:blipFill>
        <p:spPr bwMode="auto">
          <a:xfrm>
            <a:off x="4663634" y="1371600"/>
            <a:ext cx="4480366" cy="4776787"/>
          </a:xfrm>
          <a:prstGeom prst="rect">
            <a:avLst/>
          </a:prstGeom>
          <a:noFill/>
          <a:ln w="9525">
            <a:noFill/>
            <a:miter lim="800000"/>
            <a:headEnd/>
            <a:tailEnd/>
          </a:ln>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mtClean="0"/>
              <a:t>UNIX File Management</a:t>
            </a:r>
            <a:endParaRPr lang="en-US" dirty="0" smtClean="0"/>
          </a:p>
        </p:txBody>
      </p:sp>
      <p:sp>
        <p:nvSpPr>
          <p:cNvPr id="4" name="Content Placeholder 3"/>
          <p:cNvSpPr>
            <a:spLocks noGrp="1"/>
          </p:cNvSpPr>
          <p:nvPr>
            <p:ph idx="1"/>
          </p:nvPr>
        </p:nvSpPr>
        <p:spPr/>
        <p:txBody>
          <a:bodyPr/>
          <a:lstStyle/>
          <a:p>
            <a:r>
              <a:rPr lang="en-US" dirty="0" smtClean="0"/>
              <a:t>Six types of files</a:t>
            </a:r>
          </a:p>
          <a:p>
            <a:pPr lvl="1"/>
            <a:r>
              <a:rPr lang="en-US" dirty="0" smtClean="0"/>
              <a:t>Regular, or ordinary</a:t>
            </a:r>
          </a:p>
          <a:p>
            <a:pPr lvl="1"/>
            <a:r>
              <a:rPr lang="en-US" dirty="0" smtClean="0"/>
              <a:t>Directory</a:t>
            </a:r>
          </a:p>
          <a:p>
            <a:pPr lvl="1"/>
            <a:r>
              <a:rPr lang="en-US" dirty="0" smtClean="0"/>
              <a:t>Special</a:t>
            </a:r>
          </a:p>
          <a:p>
            <a:pPr lvl="1"/>
            <a:r>
              <a:rPr lang="en-US" dirty="0" smtClean="0"/>
              <a:t>Named pipes</a:t>
            </a:r>
          </a:p>
          <a:p>
            <a:pPr lvl="1"/>
            <a:r>
              <a:rPr lang="en-US" dirty="0" smtClean="0"/>
              <a:t>Links</a:t>
            </a:r>
          </a:p>
          <a:p>
            <a:pPr lvl="1"/>
            <a:r>
              <a:rPr lang="en-US" dirty="0" smtClean="0"/>
              <a:t>Symbolic links</a:t>
            </a:r>
            <a:endParaRPr lang="en-US" dirty="0"/>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Inodes</a:t>
            </a:r>
            <a:endParaRPr lang="en-US" dirty="0"/>
          </a:p>
        </p:txBody>
      </p:sp>
      <p:sp>
        <p:nvSpPr>
          <p:cNvPr id="3" name="Content Placeholder 2"/>
          <p:cNvSpPr>
            <a:spLocks noGrp="1"/>
          </p:cNvSpPr>
          <p:nvPr>
            <p:ph idx="1"/>
          </p:nvPr>
        </p:nvSpPr>
        <p:spPr/>
        <p:txBody>
          <a:bodyPr/>
          <a:lstStyle/>
          <a:p>
            <a:pPr algn="just"/>
            <a:r>
              <a:rPr lang="en-US" sz="2800" dirty="0" smtClean="0"/>
              <a:t>Index node</a:t>
            </a:r>
          </a:p>
          <a:p>
            <a:pPr algn="just"/>
            <a:r>
              <a:rPr lang="en-US" sz="2800" dirty="0" smtClean="0"/>
              <a:t>Control structure that contains key information for a particular file.</a:t>
            </a:r>
          </a:p>
          <a:p>
            <a:pPr algn="just"/>
            <a:r>
              <a:rPr lang="en-US" sz="2800" dirty="0" smtClean="0"/>
              <a:t>Each file is controlled by one </a:t>
            </a:r>
            <a:r>
              <a:rPr lang="en-US" sz="2800" dirty="0" err="1" smtClean="0"/>
              <a:t>inode</a:t>
            </a:r>
            <a:endParaRPr lang="en-US" sz="2800" dirty="0" smtClean="0"/>
          </a:p>
          <a:p>
            <a:pPr algn="just"/>
            <a:r>
              <a:rPr lang="en-US" sz="2800" dirty="0" smtClean="0"/>
              <a:t>Disk contains an </a:t>
            </a:r>
            <a:r>
              <a:rPr lang="en-US" sz="2800" dirty="0" err="1" smtClean="0"/>
              <a:t>inode</a:t>
            </a:r>
            <a:r>
              <a:rPr lang="en-US" sz="2800" dirty="0" smtClean="0"/>
              <a:t> table which in turn contains </a:t>
            </a:r>
            <a:r>
              <a:rPr lang="en-US" sz="2800" dirty="0" err="1" smtClean="0"/>
              <a:t>inodes</a:t>
            </a:r>
            <a:r>
              <a:rPr lang="en-US" sz="2800" dirty="0" smtClean="0"/>
              <a:t> of all files of the file system</a:t>
            </a:r>
          </a:p>
          <a:p>
            <a:pPr algn="just"/>
            <a:r>
              <a:rPr lang="en-US" sz="2800" dirty="0" smtClean="0"/>
              <a:t>When a file is opened, its </a:t>
            </a:r>
            <a:r>
              <a:rPr lang="en-US" sz="2800" dirty="0" err="1" smtClean="0"/>
              <a:t>inode</a:t>
            </a:r>
            <a:r>
              <a:rPr lang="en-US" sz="2800" dirty="0" smtClean="0"/>
              <a:t> is loaded in main memory and stored in main memory resident </a:t>
            </a:r>
            <a:r>
              <a:rPr lang="en-US" sz="2800" dirty="0" err="1" smtClean="0"/>
              <a:t>inode</a:t>
            </a:r>
            <a:r>
              <a:rPr lang="en-US" sz="2800" dirty="0" smtClean="0"/>
              <a:t> table</a:t>
            </a:r>
          </a:p>
          <a:p>
            <a:pPr algn="just"/>
            <a:endParaRPr lang="en-US" sz="2800" dirty="0"/>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Free BSD </a:t>
            </a:r>
            <a:br>
              <a:rPr lang="en-NZ" dirty="0" smtClean="0"/>
            </a:br>
            <a:r>
              <a:rPr lang="en-NZ" dirty="0" err="1" smtClean="0"/>
              <a:t>Inodes</a:t>
            </a:r>
            <a:r>
              <a:rPr lang="en-NZ" dirty="0" smtClean="0"/>
              <a:t> include:</a:t>
            </a:r>
            <a:endParaRPr lang="en-NZ" dirty="0"/>
          </a:p>
        </p:txBody>
      </p:sp>
      <p:sp>
        <p:nvSpPr>
          <p:cNvPr id="3" name="Content Placeholder 2"/>
          <p:cNvSpPr>
            <a:spLocks noGrp="1"/>
          </p:cNvSpPr>
          <p:nvPr>
            <p:ph idx="1"/>
          </p:nvPr>
        </p:nvSpPr>
        <p:spPr/>
        <p:txBody>
          <a:bodyPr/>
          <a:lstStyle/>
          <a:p>
            <a:r>
              <a:rPr lang="en-NZ" sz="2000" dirty="0" smtClean="0"/>
              <a:t>The type and access mode of the file</a:t>
            </a:r>
          </a:p>
          <a:p>
            <a:r>
              <a:rPr lang="en-NZ" sz="2000" dirty="0" smtClean="0"/>
              <a:t>The file’s owner and group-access identifiers</a:t>
            </a:r>
          </a:p>
          <a:p>
            <a:r>
              <a:rPr lang="en-NZ" sz="2000" dirty="0" smtClean="0"/>
              <a:t>Creation time, last read/write time</a:t>
            </a:r>
          </a:p>
          <a:p>
            <a:r>
              <a:rPr lang="en-NZ" sz="2000" dirty="0" smtClean="0"/>
              <a:t>File size</a:t>
            </a:r>
          </a:p>
          <a:p>
            <a:r>
              <a:rPr lang="en-NZ" sz="2000" dirty="0" smtClean="0"/>
              <a:t>Sequence of block pointers</a:t>
            </a:r>
          </a:p>
          <a:p>
            <a:r>
              <a:rPr lang="en-NZ" sz="2000" dirty="0" smtClean="0"/>
              <a:t>Number of blocks and Number of directory entries</a:t>
            </a:r>
          </a:p>
          <a:p>
            <a:r>
              <a:rPr lang="en-NZ" sz="2000" dirty="0" err="1" smtClean="0"/>
              <a:t>Blocksize</a:t>
            </a:r>
            <a:r>
              <a:rPr lang="en-NZ" sz="2000" dirty="0" smtClean="0"/>
              <a:t> of the data blocks</a:t>
            </a:r>
          </a:p>
          <a:p>
            <a:r>
              <a:rPr lang="en-NZ" sz="2000" dirty="0" smtClean="0"/>
              <a:t>Kernel and user </a:t>
            </a:r>
            <a:r>
              <a:rPr lang="en-NZ" sz="2000" dirty="0" err="1" smtClean="0"/>
              <a:t>setable</a:t>
            </a:r>
            <a:r>
              <a:rPr lang="en-NZ" sz="2000" dirty="0" smtClean="0"/>
              <a:t> flags</a:t>
            </a:r>
          </a:p>
          <a:p>
            <a:r>
              <a:rPr lang="en-NZ" sz="2000" dirty="0" smtClean="0"/>
              <a:t>Generation number for the file</a:t>
            </a:r>
          </a:p>
          <a:p>
            <a:r>
              <a:rPr lang="en-NZ" sz="2000" dirty="0" smtClean="0"/>
              <a:t>Size of Extended attribute information</a:t>
            </a:r>
          </a:p>
          <a:p>
            <a:r>
              <a:rPr lang="en-NZ" sz="2000" dirty="0" smtClean="0"/>
              <a:t>Zero or more extended attribute entries</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Inodes</a:t>
            </a:r>
            <a:endParaRPr lang="en-US" dirty="0"/>
          </a:p>
        </p:txBody>
      </p:sp>
      <p:sp>
        <p:nvSpPr>
          <p:cNvPr id="3" name="Content Placeholder 2"/>
          <p:cNvSpPr>
            <a:spLocks noGrp="1"/>
          </p:cNvSpPr>
          <p:nvPr>
            <p:ph idx="1"/>
          </p:nvPr>
        </p:nvSpPr>
        <p:spPr/>
        <p:txBody>
          <a:bodyPr/>
          <a:lstStyle/>
          <a:p>
            <a:pPr algn="just"/>
            <a:r>
              <a:rPr lang="en-US" sz="2800" dirty="0" smtClean="0"/>
              <a:t>Uses dynamic allocation on block basis</a:t>
            </a:r>
          </a:p>
          <a:p>
            <a:pPr lvl="1" algn="just"/>
            <a:r>
              <a:rPr lang="en-US" dirty="0" smtClean="0"/>
              <a:t>Blocks need not to be contiguous</a:t>
            </a:r>
          </a:p>
          <a:p>
            <a:pPr lvl="1" algn="just"/>
            <a:r>
              <a:rPr lang="en-US" dirty="0" smtClean="0"/>
              <a:t>Hence indexing method is used to keep track</a:t>
            </a:r>
          </a:p>
          <a:p>
            <a:pPr algn="just"/>
            <a:r>
              <a:rPr lang="en-US" sz="2800" dirty="0" smtClean="0"/>
              <a:t>All UNIX implementations include a number of direct pointers to blocks and three indirect pointers</a:t>
            </a:r>
          </a:p>
          <a:p>
            <a:pPr lvl="1" algn="just"/>
            <a:r>
              <a:rPr lang="en-US" dirty="0" smtClean="0"/>
              <a:t>First 12 pointers point to 12 data blocks of file</a:t>
            </a:r>
          </a:p>
          <a:p>
            <a:pPr lvl="1" algn="just"/>
            <a:r>
              <a:rPr lang="en-US" dirty="0" smtClean="0"/>
              <a:t>IF the file needs more data blocks, then indirect pointers are used</a:t>
            </a:r>
            <a:endParaRPr 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FreeBSD </a:t>
            </a:r>
            <a:r>
              <a:rPr lang="en-US" dirty="0" err="1" smtClean="0"/>
              <a:t>Inode</a:t>
            </a:r>
            <a:r>
              <a:rPr lang="en-US" dirty="0" smtClean="0"/>
              <a:t> and </a:t>
            </a:r>
            <a:br>
              <a:rPr lang="en-US" dirty="0" smtClean="0"/>
            </a:br>
            <a:r>
              <a:rPr lang="en-US" dirty="0" smtClean="0"/>
              <a:t>File Structure</a:t>
            </a:r>
            <a:endParaRPr lang="en-US" dirty="0"/>
          </a:p>
        </p:txBody>
      </p:sp>
      <p:pic>
        <p:nvPicPr>
          <p:cNvPr id="6" name="Picture 5" descr="Fig12_14.gif"/>
          <p:cNvPicPr>
            <a:picLocks noChangeAspect="1"/>
          </p:cNvPicPr>
          <p:nvPr/>
        </p:nvPicPr>
        <p:blipFill>
          <a:blip r:embed="rId3"/>
          <a:stretch>
            <a:fillRect/>
          </a:stretch>
        </p:blipFill>
        <p:spPr>
          <a:xfrm>
            <a:off x="838200" y="1752600"/>
            <a:ext cx="7696200" cy="5105400"/>
          </a:xfrm>
          <a:prstGeom prst="rect">
            <a:avLst/>
          </a:prstGeom>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lstStyle/>
          <a:p>
            <a:pPr algn="just"/>
            <a:r>
              <a:rPr lang="en-US" sz="2800" dirty="0" smtClean="0"/>
              <a:t>Fixed and relatively small size</a:t>
            </a:r>
          </a:p>
          <a:p>
            <a:pPr lvl="1" algn="just"/>
            <a:r>
              <a:rPr lang="en-US" dirty="0" smtClean="0"/>
              <a:t>Can be kept in main memory</a:t>
            </a:r>
          </a:p>
          <a:p>
            <a:pPr algn="just"/>
            <a:r>
              <a:rPr lang="en-US" sz="2800" dirty="0" smtClean="0"/>
              <a:t>Small files can be accessed quickly</a:t>
            </a:r>
            <a:endParaRPr lang="en-US" sz="2800" dirty="0"/>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2353270"/>
            <a:ext cx="7924800" cy="923330"/>
          </a:xfrm>
          <a:prstGeom prst="rect">
            <a:avLst/>
          </a:prstGeom>
          <a:noFill/>
        </p:spPr>
        <p:txBody>
          <a:bodyPr wrap="square" lIns="91440" tIns="45720" rIns="91440" bIns="45720">
            <a:spAutoFit/>
          </a:bodyPr>
          <a:lstStyle/>
          <a:p>
            <a:pPr algn="ctr"/>
            <a:r>
              <a:rPr lang="en-US" sz="5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Thank </a:t>
            </a:r>
            <a:r>
              <a:rPr lang="en-US" sz="5400" b="1" cap="none" spc="0" dirty="0" smtClean="0">
                <a:ln w="18000">
                  <a:solidFill>
                    <a:schemeClr val="accent2">
                      <a:satMod val="140000"/>
                    </a:schemeClr>
                  </a:solidFill>
                  <a:prstDash val="solid"/>
                  <a:miter lim="800000"/>
                </a:ln>
                <a:noFill/>
                <a:effectLst>
                  <a:outerShdw blurRad="50800" dist="38100" dir="2700000" algn="tl" rotWithShape="0">
                    <a:prstClr val="black">
                      <a:alpha val="40000"/>
                    </a:prstClr>
                  </a:outerShdw>
                </a:effectLst>
              </a:rPr>
              <a:t>You</a:t>
            </a:r>
            <a:r>
              <a:rPr lang="en-US" sz="5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a:t>
            </a:r>
            <a:endParaRPr 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7522</Words>
  <Application>Microsoft Office PowerPoint</Application>
  <PresentationFormat>On-screen Show (4:3)</PresentationFormat>
  <Paragraphs>895</Paragraphs>
  <Slides>81</Slides>
  <Notes>62</Notes>
  <HiddenSlides>0</HiddenSlides>
  <MMClips>0</MMClips>
  <ScaleCrop>false</ScaleCrop>
  <HeadingPairs>
    <vt:vector size="4" baseType="variant">
      <vt:variant>
        <vt:lpstr>Theme</vt:lpstr>
      </vt:variant>
      <vt:variant>
        <vt:i4>2</vt:i4>
      </vt:variant>
      <vt:variant>
        <vt:lpstr>Slide Titles</vt:lpstr>
      </vt:variant>
      <vt:variant>
        <vt:i4>81</vt:i4>
      </vt:variant>
    </vt:vector>
  </HeadingPairs>
  <TitlesOfParts>
    <vt:vector size="83" baseType="lpstr">
      <vt:lpstr>Office Theme</vt:lpstr>
      <vt:lpstr>Custom Design</vt:lpstr>
      <vt:lpstr>Chapter 12 File Management</vt:lpstr>
      <vt:lpstr>Files</vt:lpstr>
      <vt:lpstr>File Management System</vt:lpstr>
      <vt:lpstr>Typical Operations</vt:lpstr>
      <vt:lpstr>Terms</vt:lpstr>
      <vt:lpstr>Fields and Records</vt:lpstr>
      <vt:lpstr>File and Database</vt:lpstr>
      <vt:lpstr>Objectives for a File Management System</vt:lpstr>
      <vt:lpstr>Requirements for a  general purpose system</vt:lpstr>
      <vt:lpstr>Requirements cont.</vt:lpstr>
      <vt:lpstr>File System Architecture</vt:lpstr>
      <vt:lpstr>Device Drivers</vt:lpstr>
      <vt:lpstr>Basic File System</vt:lpstr>
      <vt:lpstr>Basic I/O Supervisor</vt:lpstr>
      <vt:lpstr>Logical I/O</vt:lpstr>
      <vt:lpstr>Access Method</vt:lpstr>
      <vt:lpstr>Elements of File Management</vt:lpstr>
      <vt:lpstr>Elements of File Management</vt:lpstr>
      <vt:lpstr>File Organization</vt:lpstr>
      <vt:lpstr>Criteria for  File Organization</vt:lpstr>
      <vt:lpstr>File Organisation Types</vt:lpstr>
      <vt:lpstr>The Pile</vt:lpstr>
      <vt:lpstr>The Sequential File</vt:lpstr>
      <vt:lpstr>The Sequential File</vt:lpstr>
      <vt:lpstr>Indexed Sequential File</vt:lpstr>
      <vt:lpstr>Indexed Sequential File</vt:lpstr>
      <vt:lpstr>Indexed Sequential File</vt:lpstr>
      <vt:lpstr>Indexed Sequential File</vt:lpstr>
      <vt:lpstr>Indexed File</vt:lpstr>
      <vt:lpstr>Indexed File</vt:lpstr>
      <vt:lpstr>Direct/Hashed File</vt:lpstr>
      <vt:lpstr>Directory: Contents</vt:lpstr>
      <vt:lpstr>Directory Elements:  Basic Information</vt:lpstr>
      <vt:lpstr>Directory Elements:  Address Information</vt:lpstr>
      <vt:lpstr>Directory Elements:  Access Control Information</vt:lpstr>
      <vt:lpstr>Directory Elements:  Usage Information</vt:lpstr>
      <vt:lpstr>Blocks and records</vt:lpstr>
      <vt:lpstr>Deciding factors for Blocks</vt:lpstr>
      <vt:lpstr>Fixed Blocking</vt:lpstr>
      <vt:lpstr>Fixed Blocking</vt:lpstr>
      <vt:lpstr>Variable Length  Spanned Blocking</vt:lpstr>
      <vt:lpstr>Variable Blocking:  Spanned</vt:lpstr>
      <vt:lpstr>Variable-length  unspanned blocking</vt:lpstr>
      <vt:lpstr>Variable Blocking:  Unspanned</vt:lpstr>
      <vt:lpstr>Summary: Record Blocking</vt:lpstr>
      <vt:lpstr>Secondary Storage Management</vt:lpstr>
      <vt:lpstr>File allocation issues</vt:lpstr>
      <vt:lpstr>Preallocation vs  Dynamic Allocation</vt:lpstr>
      <vt:lpstr>Portion size</vt:lpstr>
      <vt:lpstr>Portion size</vt:lpstr>
      <vt:lpstr>Combinations</vt:lpstr>
      <vt:lpstr>File Allocation Method</vt:lpstr>
      <vt:lpstr>Contiguous Allocation</vt:lpstr>
      <vt:lpstr>Contiguous File Allocation</vt:lpstr>
      <vt:lpstr>External fragmentation</vt:lpstr>
      <vt:lpstr>Chained Allocation</vt:lpstr>
      <vt:lpstr>Chained Allocation</vt:lpstr>
      <vt:lpstr>Chained Allocation Consolidation</vt:lpstr>
      <vt:lpstr>Indexed Allocation</vt:lpstr>
      <vt:lpstr>Indexed Allocation Method</vt:lpstr>
      <vt:lpstr>Indexed allocation  with Block Portions</vt:lpstr>
      <vt:lpstr>Indexed Allocation with  Variable Length Portions</vt:lpstr>
      <vt:lpstr>Free Space Management</vt:lpstr>
      <vt:lpstr>Bit Tables</vt:lpstr>
      <vt:lpstr>Chained Free Portions </vt:lpstr>
      <vt:lpstr>Indexing</vt:lpstr>
      <vt:lpstr>Free Block List </vt:lpstr>
      <vt:lpstr>Volumes</vt:lpstr>
      <vt:lpstr>Reliability</vt:lpstr>
      <vt:lpstr>Reliability</vt:lpstr>
      <vt:lpstr>Access Control</vt:lpstr>
      <vt:lpstr>Access Matrix</vt:lpstr>
      <vt:lpstr>Access Control Lists</vt:lpstr>
      <vt:lpstr>Capability Lists</vt:lpstr>
      <vt:lpstr>UNIX File Management</vt:lpstr>
      <vt:lpstr>Inodes</vt:lpstr>
      <vt:lpstr>Free BSD  Inodes include:</vt:lpstr>
      <vt:lpstr>Inodes</vt:lpstr>
      <vt:lpstr>FreeBSD Inode and  File Structure</vt:lpstr>
      <vt:lpstr>Advantages</vt:lpstr>
      <vt:lpstr>Slide 81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2008-04-03T13:49:07Z</dcterms:created>
  <dcterms:modified xsi:type="dcterms:W3CDTF">2021-10-06T11:08:47Z</dcterms:modified>
</cp:coreProperties>
</file>