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20" roundtripDataSignature="AMtx7mjELmADMtSTXa7XCa49JoF2r0vD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120" Type="http://customschemas.google.com/relationships/presentationmetadata" Target="meta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163" name="Google Shape;163;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Some key terms related to virtual memory.</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170" name="Google Shape;170;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Two characteristics of paging and segmentation are the keys to this breakthrough in memory management:</a:t>
            </a:r>
            <a:endParaRPr/>
          </a:p>
          <a:p>
            <a:pPr indent="0" lvl="0" marL="0" rtl="0" algn="l">
              <a:spcBef>
                <a:spcPts val="360"/>
              </a:spcBef>
              <a:spcAft>
                <a:spcPts val="0"/>
              </a:spcAft>
              <a:buNone/>
            </a:pPr>
            <a:r>
              <a:t/>
            </a:r>
            <a:endParaRPr/>
          </a:p>
          <a:p>
            <a:pPr indent="-228600" lvl="0" marL="228600" rtl="0" algn="l">
              <a:spcBef>
                <a:spcPts val="360"/>
              </a:spcBef>
              <a:spcAft>
                <a:spcPts val="0"/>
              </a:spcAft>
              <a:buClr>
                <a:schemeClr val="dk1"/>
              </a:buClr>
              <a:buSzPts val="1200"/>
              <a:buFont typeface="Calibri"/>
              <a:buAutoNum type="arabicPeriod"/>
            </a:pPr>
            <a:r>
              <a:rPr lang="en-US"/>
              <a:t>All memory references within a process are logical addresses that are dynamically translated into physical addresses at run time.</a:t>
            </a:r>
            <a:endParaRPr/>
          </a:p>
          <a:p>
            <a:pPr indent="-228600" lvl="1" marL="685800" rtl="0" algn="l">
              <a:spcBef>
                <a:spcPts val="360"/>
              </a:spcBef>
              <a:spcAft>
                <a:spcPts val="0"/>
              </a:spcAft>
              <a:buClr>
                <a:schemeClr val="dk1"/>
              </a:buClr>
              <a:buSzPts val="1200"/>
              <a:buFont typeface="Arial"/>
              <a:buChar char="•"/>
            </a:pPr>
            <a:r>
              <a:rPr lang="en-US"/>
              <a:t>A process may be swapped in and out of main memory occupying different regions of main memory at different times during the course of execution.</a:t>
            </a:r>
            <a:endParaRPr/>
          </a:p>
          <a:p>
            <a:pPr indent="0" lvl="0" marL="0" rtl="0" algn="l">
              <a:spcBef>
                <a:spcPts val="360"/>
              </a:spcBef>
              <a:spcAft>
                <a:spcPts val="0"/>
              </a:spcAft>
              <a:buNone/>
            </a:pPr>
            <a:r>
              <a:rPr lang="en-US"/>
              <a:t>2. A process may be broken up into a number of pieces (pages or segments) and these pieces need not be contiguously located in main memory during execution.</a:t>
            </a:r>
            <a:endParaRPr/>
          </a:p>
          <a:p>
            <a:pPr indent="-76200" lvl="1" marL="457200" rtl="0" algn="l">
              <a:spcBef>
                <a:spcPts val="360"/>
              </a:spcBef>
              <a:spcAft>
                <a:spcPts val="0"/>
              </a:spcAft>
              <a:buClr>
                <a:schemeClr val="dk1"/>
              </a:buClr>
              <a:buSzPts val="1200"/>
              <a:buFont typeface="Arial"/>
              <a:buChar char="•"/>
            </a:pPr>
            <a:r>
              <a:rPr lang="en-US"/>
              <a:t>The combination of dynamic run-time address translation and the use of a page or segment table permits this.</a:t>
            </a:r>
            <a:endParaRPr/>
          </a:p>
          <a:p>
            <a:pPr indent="0" lvl="0" marL="0" rtl="0" algn="l">
              <a:spcBef>
                <a:spcPts val="360"/>
              </a:spcBef>
              <a:spcAft>
                <a:spcPts val="0"/>
              </a:spcAft>
              <a:buNone/>
            </a:pPr>
            <a:r>
              <a:t/>
            </a:r>
            <a:endParaRPr/>
          </a:p>
          <a:p>
            <a:pPr indent="-228600" lvl="0" marL="228600" rtl="0" algn="l">
              <a:spcBef>
                <a:spcPts val="360"/>
              </a:spcBef>
              <a:spcAft>
                <a:spcPts val="0"/>
              </a:spcAft>
              <a:buClr>
                <a:schemeClr val="dk1"/>
              </a:buClr>
              <a:buSzPts val="1200"/>
              <a:buFont typeface="Arial"/>
              <a:buNone/>
            </a:pPr>
            <a:r>
              <a:t/>
            </a:r>
            <a:endParaRPr/>
          </a:p>
        </p:txBody>
      </p:sp>
      <p:sp>
        <p:nvSpPr>
          <p:cNvPr id="176" name="Google Shape;176;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If</a:t>
            </a:r>
            <a:r>
              <a:rPr lang="en-US"/>
              <a:t> the piece (segment or page) that holds the next instruction to be fetched and the piece that holds the next data location to be accessed are in main memory, </a:t>
            </a:r>
            <a:endParaRPr/>
          </a:p>
          <a:p>
            <a:pPr indent="-76200" lvl="1" marL="457200" rtl="0" algn="l">
              <a:spcBef>
                <a:spcPts val="360"/>
              </a:spcBef>
              <a:spcAft>
                <a:spcPts val="0"/>
              </a:spcAft>
              <a:buClr>
                <a:schemeClr val="dk1"/>
              </a:buClr>
              <a:buSzPts val="1200"/>
              <a:buFont typeface="Arial"/>
              <a:buChar char="•"/>
            </a:pPr>
            <a:r>
              <a:rPr lang="en-US"/>
              <a:t>then execution may proceed (at least for a time).</a:t>
            </a:r>
            <a:endParaRPr/>
          </a:p>
        </p:txBody>
      </p:sp>
      <p:sp>
        <p:nvSpPr>
          <p:cNvPr id="183" name="Google Shape;183;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Suppose that it is time to bring a new process into memory.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operating system begins by bringing in only one or a few pieces, to include the initial program piece and the initial data piece to which those instructions refer.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portion of a process that is actually in main memory at any time is defined to be the </a:t>
            </a:r>
            <a:r>
              <a:rPr b="1" lang="en-US"/>
              <a:t>resident set of the process</a:t>
            </a:r>
            <a:r>
              <a:rPr lang="en-US"/>
              <a:t>.</a:t>
            </a:r>
            <a:endParaRPr/>
          </a:p>
          <a:p>
            <a:pPr indent="-76200" lvl="1" marL="457200" rtl="0" algn="l">
              <a:spcBef>
                <a:spcPts val="360"/>
              </a:spcBef>
              <a:spcAft>
                <a:spcPts val="0"/>
              </a:spcAft>
              <a:buClr>
                <a:schemeClr val="dk1"/>
              </a:buClr>
              <a:buSzPts val="1200"/>
              <a:buFont typeface="Arial"/>
              <a:buChar char="•"/>
            </a:pPr>
            <a:r>
              <a:rPr lang="en-US"/>
              <a:t> As the process executes, things proceed smoothly as long as all memory references are to locations that are in the resident set.</a:t>
            </a:r>
            <a:endParaRPr/>
          </a:p>
          <a:p>
            <a:pPr indent="-76200" lvl="1" marL="457200" rtl="0" algn="l">
              <a:spcBef>
                <a:spcPts val="360"/>
              </a:spcBef>
              <a:spcAft>
                <a:spcPts val="0"/>
              </a:spcAft>
              <a:buClr>
                <a:schemeClr val="dk1"/>
              </a:buClr>
              <a:buSzPts val="1200"/>
              <a:buFont typeface="Arial"/>
              <a:buChar char="•"/>
            </a:pPr>
            <a:r>
              <a:rPr lang="en-US"/>
              <a:t> Using the segment or page table, the processor always is able to deter mine whether this is so. </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lang="en-US"/>
              <a:t>If the processor encounters a logical address that </a:t>
            </a:r>
            <a:r>
              <a:rPr b="1" lang="en-US"/>
              <a:t>is not </a:t>
            </a:r>
            <a:r>
              <a:rPr lang="en-US"/>
              <a:t>in main memory, </a:t>
            </a:r>
            <a:endParaRPr/>
          </a:p>
          <a:p>
            <a:pPr indent="-76200" lvl="1" marL="457200" rtl="0" algn="l">
              <a:spcBef>
                <a:spcPts val="360"/>
              </a:spcBef>
              <a:spcAft>
                <a:spcPts val="0"/>
              </a:spcAft>
              <a:buClr>
                <a:schemeClr val="dk1"/>
              </a:buClr>
              <a:buSzPts val="1200"/>
              <a:buFont typeface="Arial"/>
              <a:buChar char="•"/>
            </a:pPr>
            <a:r>
              <a:rPr lang="en-US"/>
              <a:t> it generates an interrupt indicating a memory access fault.</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lang="en-US"/>
              <a:t>The operating system puts the interrupted process in a blocking state and takes control. </a:t>
            </a:r>
            <a:endParaRPr/>
          </a:p>
        </p:txBody>
      </p:sp>
      <p:sp>
        <p:nvSpPr>
          <p:cNvPr id="190" name="Google Shape;190;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6" name="Google Shape;19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200"/>
              <a:buFont typeface="Arial"/>
              <a:buNone/>
            </a:pPr>
            <a:r>
              <a:rPr lang="en-US"/>
              <a:t>For the execution of this process to proceed later, the operating system will need to bring into main memory the piece of the process that contains the logical address that caused the access fault. </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lang="en-US"/>
              <a:t>For this purpose, the operating system issues a disk I/O read request.</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lang="en-US"/>
              <a:t>After the I/O request has been issued, the operating system can dispatch an other process to run while the disk I/O is performed.</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lang="en-US"/>
              <a:t>Once the desired piece has been brought into main memory, an I/O interrupt is issued, giving control back to the operating system, which places the affected process back into a Ready state.</a:t>
            </a:r>
            <a:endParaRPr/>
          </a:p>
          <a:p>
            <a:pPr indent="0" lvl="0" marL="0" rtl="0" algn="l">
              <a:spcBef>
                <a:spcPts val="360"/>
              </a:spcBef>
              <a:spcAft>
                <a:spcPts val="0"/>
              </a:spcAft>
              <a:buNone/>
            </a:pPr>
            <a:r>
              <a:t/>
            </a:r>
            <a:endParaRPr/>
          </a:p>
        </p:txBody>
      </p:sp>
      <p:sp>
        <p:nvSpPr>
          <p:cNvPr id="203" name="Google Shape;203;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228600" rtl="0" algn="l">
              <a:spcBef>
                <a:spcPts val="0"/>
              </a:spcBef>
              <a:spcAft>
                <a:spcPts val="0"/>
              </a:spcAft>
              <a:buClr>
                <a:schemeClr val="dk1"/>
              </a:buClr>
              <a:buSzPts val="1200"/>
              <a:buFont typeface="Calibri"/>
              <a:buAutoNum type="arabicPeriod"/>
            </a:pPr>
            <a:r>
              <a:rPr b="1" lang="en-US"/>
              <a:t>More processes may be maintained in main memory. </a:t>
            </a:r>
            <a:endParaRPr/>
          </a:p>
          <a:p>
            <a:pPr indent="-228600" lvl="1" marL="685800" rtl="0" algn="l">
              <a:spcBef>
                <a:spcPts val="360"/>
              </a:spcBef>
              <a:spcAft>
                <a:spcPts val="0"/>
              </a:spcAft>
              <a:buClr>
                <a:schemeClr val="dk1"/>
              </a:buClr>
              <a:buSzPts val="1200"/>
              <a:buFont typeface="Arial"/>
              <a:buChar char="•"/>
            </a:pPr>
            <a:r>
              <a:rPr lang="en-US"/>
              <a:t>Because we are only going to load some of the pieces of any particular process, there is room for more processes. </a:t>
            </a:r>
            <a:endParaRPr/>
          </a:p>
          <a:p>
            <a:pPr indent="-228600" lvl="1" marL="685800" rtl="0" algn="l">
              <a:spcBef>
                <a:spcPts val="360"/>
              </a:spcBef>
              <a:spcAft>
                <a:spcPts val="0"/>
              </a:spcAft>
              <a:buClr>
                <a:schemeClr val="dk1"/>
              </a:buClr>
              <a:buSzPts val="1200"/>
              <a:buFont typeface="Arial"/>
              <a:buChar char="•"/>
            </a:pPr>
            <a:r>
              <a:rPr lang="en-US"/>
              <a:t>This leads to more efficient utilization of the processor because it is more likely that at least one of the more numerous processes will be in a Ready state at any particular time.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2. </a:t>
            </a:r>
            <a:r>
              <a:rPr b="1" lang="en-US"/>
              <a:t>A process may be larger than all of main memory</a:t>
            </a:r>
            <a:r>
              <a:rPr lang="en-US"/>
              <a:t>.</a:t>
            </a:r>
            <a:endParaRPr/>
          </a:p>
          <a:p>
            <a:pPr indent="-76200" lvl="1" marL="457200" rtl="0" algn="l">
              <a:spcBef>
                <a:spcPts val="360"/>
              </a:spcBef>
              <a:spcAft>
                <a:spcPts val="0"/>
              </a:spcAft>
              <a:buClr>
                <a:schemeClr val="dk1"/>
              </a:buClr>
              <a:buSzPts val="1200"/>
              <a:buFont typeface="Arial"/>
              <a:buChar char="•"/>
            </a:pPr>
            <a:r>
              <a:rPr lang="en-US"/>
              <a:t> Without the scheme a programmer must be acutely aware of how much memory is available. </a:t>
            </a:r>
            <a:endParaRPr/>
          </a:p>
          <a:p>
            <a:pPr indent="-76200" lvl="1" marL="457200" rtl="0" algn="l">
              <a:spcBef>
                <a:spcPts val="360"/>
              </a:spcBef>
              <a:spcAft>
                <a:spcPts val="0"/>
              </a:spcAft>
              <a:buClr>
                <a:schemeClr val="dk1"/>
              </a:buClr>
              <a:buSzPts val="1200"/>
              <a:buFont typeface="Arial"/>
              <a:buChar char="•"/>
            </a:pPr>
            <a:r>
              <a:rPr lang="en-US"/>
              <a:t> If the program being written is too large, the programmer must devise ways to structure the program into pieces that can be loaded separately in some sort of overlay strategy. </a:t>
            </a:r>
            <a:endParaRPr/>
          </a:p>
          <a:p>
            <a:pPr indent="-76200" lvl="1" marL="457200" rtl="0" algn="l">
              <a:spcBef>
                <a:spcPts val="360"/>
              </a:spcBef>
              <a:spcAft>
                <a:spcPts val="0"/>
              </a:spcAft>
              <a:buClr>
                <a:schemeClr val="dk1"/>
              </a:buClr>
              <a:buSzPts val="1200"/>
              <a:buFont typeface="Arial"/>
              <a:buChar char="•"/>
            </a:pPr>
            <a:r>
              <a:rPr lang="en-US"/>
              <a:t> With virtual memory based on paging or segmentation, that job is left to the operating system and the hardware. As far as the programmer is concerned, he or she is dealing with a huge memory, the size associated with disk storage.</a:t>
            </a:r>
            <a:endParaRPr/>
          </a:p>
          <a:p>
            <a:pPr indent="-76200" lvl="1" marL="457200" rtl="0" algn="l">
              <a:spcBef>
                <a:spcPts val="360"/>
              </a:spcBef>
              <a:spcAft>
                <a:spcPts val="0"/>
              </a:spcAft>
              <a:buClr>
                <a:schemeClr val="dk1"/>
              </a:buClr>
              <a:buSzPts val="1200"/>
              <a:buFont typeface="Arial"/>
              <a:buChar char="•"/>
            </a:pPr>
            <a:r>
              <a:rPr lang="en-US"/>
              <a:t> The operating system automatically loads pieces of a process into main memory as required.</a:t>
            </a:r>
            <a:endParaRPr/>
          </a:p>
        </p:txBody>
      </p:sp>
      <p:sp>
        <p:nvSpPr>
          <p:cNvPr id="210" name="Google Shape;210;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17" name="Google Shape;217;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3" name="Google Shape;22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9" name="Google Shape;22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 In the steady state, practically all of main memory will be occupied with process pieces, so that the processor and operating system have direct access to as many processes as possible.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Thus, when the operating system brings one piece in, it must throw another out.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If it throws out a piece just before it is used, then it will just have to go get that piece again almost immediately.</a:t>
            </a:r>
            <a:endParaRPr/>
          </a:p>
          <a:p>
            <a:pPr indent="-76200" lvl="1" marL="457200" rtl="0" algn="l">
              <a:spcBef>
                <a:spcPts val="360"/>
              </a:spcBef>
              <a:spcAft>
                <a:spcPts val="0"/>
              </a:spcAft>
              <a:buClr>
                <a:schemeClr val="dk1"/>
              </a:buClr>
              <a:buSzPts val="1200"/>
              <a:buFont typeface="Arial"/>
              <a:buChar char="•"/>
            </a:pPr>
            <a:r>
              <a:rPr lang="en-US"/>
              <a:t> Too much of this leads to a condition known as thrashing</a:t>
            </a:r>
            <a:endParaRPr/>
          </a:p>
          <a:p>
            <a:pPr indent="-76200" lvl="1" marL="457200" rtl="0" algn="l">
              <a:spcBef>
                <a:spcPts val="360"/>
              </a:spcBef>
              <a:spcAft>
                <a:spcPts val="0"/>
              </a:spcAft>
              <a:buClr>
                <a:schemeClr val="dk1"/>
              </a:buClr>
              <a:buSzPts val="1200"/>
              <a:buFont typeface="Arial"/>
              <a:buChar char="•"/>
            </a:pPr>
            <a:r>
              <a:rPr lang="en-US"/>
              <a:t> The system spends most of its time swapping pieces rather than executing instructions.</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lang="en-US"/>
              <a:t>The avoidance of thrashing was a major research area in the 1970s and led to a variety of complex but effective algorithms. </a:t>
            </a:r>
            <a:endParaRPr/>
          </a:p>
          <a:p>
            <a:pPr indent="0" lvl="1" marL="457200" rtl="0" algn="l">
              <a:spcBef>
                <a:spcPts val="360"/>
              </a:spcBef>
              <a:spcAft>
                <a:spcPts val="0"/>
              </a:spcAft>
              <a:buClr>
                <a:schemeClr val="dk1"/>
              </a:buClr>
              <a:buSzPts val="1200"/>
              <a:buFont typeface="Arial"/>
              <a:buNone/>
            </a:pPr>
            <a:r>
              <a:rPr lang="en-US"/>
              <a:t>In essence, the operating system tries to guess, based on recent history, which pieces are least likely to be used in the near future.</a:t>
            </a:r>
            <a:endParaRPr/>
          </a:p>
        </p:txBody>
      </p:sp>
      <p:sp>
        <p:nvSpPr>
          <p:cNvPr id="236" name="Google Shape;236;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principle of locality states that program and data references within a process tend to cluster.</a:t>
            </a:r>
            <a:endParaRPr/>
          </a:p>
          <a:p>
            <a:pPr indent="0" lvl="1" marL="457200" rtl="0" algn="l">
              <a:spcBef>
                <a:spcPts val="360"/>
              </a:spcBef>
              <a:spcAft>
                <a:spcPts val="0"/>
              </a:spcAft>
              <a:buNone/>
            </a:pPr>
            <a:r>
              <a:rPr lang="en-US"/>
              <a:t>Hence, the assumption that only a few pieces of a process will be needed over a short period of time is valid.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Also, it should be possible to make intelligent guesses about which pieces of a process will be needed in the near future, which avoids</a:t>
            </a:r>
            <a:endParaRPr/>
          </a:p>
          <a:p>
            <a:pPr indent="0" lvl="0" marL="0" rtl="0" algn="l">
              <a:spcBef>
                <a:spcPts val="360"/>
              </a:spcBef>
              <a:spcAft>
                <a:spcPts val="0"/>
              </a:spcAft>
              <a:buNone/>
            </a:pPr>
            <a:r>
              <a:rPr lang="en-US"/>
              <a:t>thrashing.</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One way to confirm the principle of locality is to look at the performance of processes in a virtual memory environment. </a:t>
            </a:r>
            <a:endParaRPr/>
          </a:p>
        </p:txBody>
      </p:sp>
      <p:sp>
        <p:nvSpPr>
          <p:cNvPr id="243" name="Google Shape;243;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For virtual memory to be practical and effective, two ingredients are needed. </a:t>
            </a:r>
            <a:endParaRPr/>
          </a:p>
          <a:p>
            <a:pPr indent="0" lvl="0" marL="0" rtl="0" algn="l">
              <a:spcBef>
                <a:spcPts val="360"/>
              </a:spcBef>
              <a:spcAft>
                <a:spcPts val="0"/>
              </a:spcAft>
              <a:buNone/>
            </a:pPr>
            <a:r>
              <a:t/>
            </a:r>
            <a:endParaRPr/>
          </a:p>
          <a:p>
            <a:pPr indent="-228600" lvl="0" marL="228600" rtl="0" algn="l">
              <a:spcBef>
                <a:spcPts val="360"/>
              </a:spcBef>
              <a:spcAft>
                <a:spcPts val="0"/>
              </a:spcAft>
              <a:buClr>
                <a:schemeClr val="dk1"/>
              </a:buClr>
              <a:buSzPts val="1200"/>
              <a:buFont typeface="Calibri"/>
              <a:buAutoNum type="arabicParenR"/>
            </a:pPr>
            <a:r>
              <a:rPr lang="en-US"/>
              <a:t>there must be hardware support for the paging and/or segmentation scheme to be employed. </a:t>
            </a:r>
            <a:endParaRPr/>
          </a:p>
          <a:p>
            <a:pPr indent="-152400" lvl="0" marL="228600" rtl="0" algn="l">
              <a:spcBef>
                <a:spcPts val="360"/>
              </a:spcBef>
              <a:spcAft>
                <a:spcPts val="0"/>
              </a:spcAft>
              <a:buClr>
                <a:schemeClr val="dk1"/>
              </a:buClr>
              <a:buSzPts val="1200"/>
              <a:buFont typeface="Calibri"/>
              <a:buNone/>
            </a:pPr>
            <a:r>
              <a:t/>
            </a:r>
            <a:endParaRPr/>
          </a:p>
          <a:p>
            <a:pPr indent="-228600" lvl="0" marL="228600" rtl="0" algn="l">
              <a:spcBef>
                <a:spcPts val="360"/>
              </a:spcBef>
              <a:spcAft>
                <a:spcPts val="0"/>
              </a:spcAft>
              <a:buClr>
                <a:schemeClr val="dk1"/>
              </a:buClr>
              <a:buSzPts val="1200"/>
              <a:buFont typeface="Calibri"/>
              <a:buAutoNum type="arabicParenR"/>
            </a:pPr>
            <a:r>
              <a:rPr lang="en-US"/>
              <a:t>the operating system must include software for managing the movement of pages and/or segments between secondary memory</a:t>
            </a:r>
            <a:endParaRPr/>
          </a:p>
          <a:p>
            <a:pPr indent="0" lvl="0" marL="0" rtl="0" algn="l">
              <a:spcBef>
                <a:spcPts val="360"/>
              </a:spcBef>
              <a:spcAft>
                <a:spcPts val="0"/>
              </a:spcAft>
              <a:buNone/>
            </a:pPr>
            <a:r>
              <a:rPr lang="en-US"/>
              <a:t>and main memory. </a:t>
            </a:r>
            <a:endParaRPr/>
          </a:p>
          <a:p>
            <a:pPr indent="0" lvl="0" marL="0" rtl="0" algn="l">
              <a:spcBef>
                <a:spcPts val="360"/>
              </a:spcBef>
              <a:spcAft>
                <a:spcPts val="0"/>
              </a:spcAft>
              <a:buNone/>
            </a:pPr>
            <a:r>
              <a:t/>
            </a:r>
            <a:endParaRPr/>
          </a:p>
        </p:txBody>
      </p:sp>
      <p:sp>
        <p:nvSpPr>
          <p:cNvPr id="250" name="Google Shape;250;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110"/>
              <a:t>In the discussion of simple paging, we indicated that each process has its own page table. </a:t>
            </a:r>
            <a:endParaRPr sz="1110"/>
          </a:p>
          <a:p>
            <a:pPr indent="-70484" lvl="1" marL="457200" rtl="0" algn="l">
              <a:spcBef>
                <a:spcPts val="333"/>
              </a:spcBef>
              <a:spcAft>
                <a:spcPts val="0"/>
              </a:spcAft>
              <a:buClr>
                <a:schemeClr val="dk1"/>
              </a:buClr>
              <a:buSzPts val="1110"/>
              <a:buFont typeface="Arial"/>
              <a:buChar char="•"/>
            </a:pPr>
            <a:r>
              <a:rPr lang="en-US" sz="1110"/>
              <a:t> When all of its pages are loaded into main memory, the page table for a process is created and loaded into main memory.</a:t>
            </a:r>
            <a:endParaRPr/>
          </a:p>
          <a:p>
            <a:pPr indent="0" lvl="0" marL="0" rtl="0" algn="l">
              <a:spcBef>
                <a:spcPts val="333"/>
              </a:spcBef>
              <a:spcAft>
                <a:spcPts val="0"/>
              </a:spcAft>
              <a:buClr>
                <a:schemeClr val="dk1"/>
              </a:buClr>
              <a:buSzPts val="1110"/>
              <a:buFont typeface="Arial"/>
              <a:buNone/>
            </a:pPr>
            <a:r>
              <a:t/>
            </a:r>
            <a:endParaRPr sz="1110"/>
          </a:p>
          <a:p>
            <a:pPr indent="0" lvl="0" marL="0" rtl="0" algn="l">
              <a:spcBef>
                <a:spcPts val="333"/>
              </a:spcBef>
              <a:spcAft>
                <a:spcPts val="0"/>
              </a:spcAft>
              <a:buClr>
                <a:schemeClr val="dk1"/>
              </a:buClr>
              <a:buSzPts val="1110"/>
              <a:buFont typeface="Arial"/>
              <a:buNone/>
            </a:pPr>
            <a:r>
              <a:rPr lang="en-US" sz="1110"/>
              <a:t>Each page table entry contains the frame number of the corresponding page in main memory.</a:t>
            </a:r>
            <a:endParaRPr/>
          </a:p>
          <a:p>
            <a:pPr indent="0" lvl="0" marL="0" rtl="0" algn="l">
              <a:spcBef>
                <a:spcPts val="333"/>
              </a:spcBef>
              <a:spcAft>
                <a:spcPts val="0"/>
              </a:spcAft>
              <a:buClr>
                <a:schemeClr val="dk1"/>
              </a:buClr>
              <a:buSzPts val="1110"/>
              <a:buFont typeface="Arial"/>
              <a:buNone/>
            </a:pPr>
            <a:r>
              <a:t/>
            </a:r>
            <a:endParaRPr sz="1110"/>
          </a:p>
          <a:p>
            <a:pPr indent="0" lvl="0" marL="0" rtl="0" algn="l">
              <a:spcBef>
                <a:spcPts val="333"/>
              </a:spcBef>
              <a:spcAft>
                <a:spcPts val="0"/>
              </a:spcAft>
              <a:buClr>
                <a:schemeClr val="dk1"/>
              </a:buClr>
              <a:buSzPts val="1110"/>
              <a:buFont typeface="Arial"/>
              <a:buNone/>
            </a:pPr>
            <a:r>
              <a:rPr lang="en-US" sz="1110"/>
              <a:t>A page table is also needed for a virtual memory scheme based on paging.</a:t>
            </a:r>
            <a:endParaRPr/>
          </a:p>
          <a:p>
            <a:pPr indent="0" lvl="0" marL="0" rtl="0" algn="l">
              <a:spcBef>
                <a:spcPts val="333"/>
              </a:spcBef>
              <a:spcAft>
                <a:spcPts val="0"/>
              </a:spcAft>
              <a:buClr>
                <a:schemeClr val="dk1"/>
              </a:buClr>
              <a:buSzPts val="1110"/>
              <a:buFont typeface="Arial"/>
              <a:buNone/>
            </a:pPr>
            <a:r>
              <a:t/>
            </a:r>
            <a:endParaRPr sz="1110"/>
          </a:p>
          <a:p>
            <a:pPr indent="0" lvl="0" marL="0" rtl="0" algn="l">
              <a:spcBef>
                <a:spcPts val="333"/>
              </a:spcBef>
              <a:spcAft>
                <a:spcPts val="0"/>
              </a:spcAft>
              <a:buClr>
                <a:schemeClr val="dk1"/>
              </a:buClr>
              <a:buSzPts val="1110"/>
              <a:buFont typeface="Arial"/>
              <a:buNone/>
            </a:pPr>
            <a:r>
              <a:rPr lang="en-US" sz="1110"/>
              <a:t>Again, it is typical to associate a unique page table with each process. </a:t>
            </a:r>
            <a:r>
              <a:rPr b="1" lang="en-US" sz="1110"/>
              <a:t>(Figure 8.2a – next slide). </a:t>
            </a:r>
            <a:endParaRPr/>
          </a:p>
          <a:p>
            <a:pPr indent="-70484" lvl="1" marL="457200" rtl="0" algn="l">
              <a:spcBef>
                <a:spcPts val="333"/>
              </a:spcBef>
              <a:spcAft>
                <a:spcPts val="0"/>
              </a:spcAft>
              <a:buClr>
                <a:schemeClr val="dk1"/>
              </a:buClr>
              <a:buSzPts val="1110"/>
              <a:buFont typeface="Arial"/>
              <a:buChar char="•"/>
            </a:pPr>
            <a:r>
              <a:rPr lang="en-US" sz="1110"/>
              <a:t> The page table entries become more complex because only some of the pages of a process may be in main memory.</a:t>
            </a:r>
            <a:endParaRPr/>
          </a:p>
          <a:p>
            <a:pPr indent="-70484" lvl="1" marL="457200" rtl="0" algn="l">
              <a:spcBef>
                <a:spcPts val="333"/>
              </a:spcBef>
              <a:spcAft>
                <a:spcPts val="0"/>
              </a:spcAft>
              <a:buClr>
                <a:schemeClr val="dk1"/>
              </a:buClr>
              <a:buSzPts val="1110"/>
              <a:buFont typeface="Arial"/>
              <a:buChar char="•"/>
            </a:pPr>
            <a:r>
              <a:rPr lang="en-US" sz="1110"/>
              <a:t> A bit is needed in each page table entry to indicate whether the corresponding page is present (P) in main memory or not.</a:t>
            </a:r>
            <a:endParaRPr/>
          </a:p>
          <a:p>
            <a:pPr indent="-70484" lvl="1" marL="457200" rtl="0" algn="l">
              <a:spcBef>
                <a:spcPts val="333"/>
              </a:spcBef>
              <a:spcAft>
                <a:spcPts val="0"/>
              </a:spcAft>
              <a:buClr>
                <a:schemeClr val="dk1"/>
              </a:buClr>
              <a:buSzPts val="1110"/>
              <a:buFont typeface="Arial"/>
              <a:buChar char="•"/>
            </a:pPr>
            <a:r>
              <a:rPr lang="en-US" sz="1110"/>
              <a:t> If the bit indicates that the page is in memory, then the entry also includes the frame number of that page.</a:t>
            </a:r>
            <a:endParaRPr/>
          </a:p>
          <a:p>
            <a:pPr indent="-70484" lvl="1" marL="457200" rtl="0" algn="l">
              <a:spcBef>
                <a:spcPts val="333"/>
              </a:spcBef>
              <a:spcAft>
                <a:spcPts val="0"/>
              </a:spcAft>
              <a:buClr>
                <a:schemeClr val="dk1"/>
              </a:buClr>
              <a:buSzPts val="1110"/>
              <a:buFont typeface="Arial"/>
              <a:buChar char="•"/>
            </a:pPr>
            <a:r>
              <a:rPr lang="en-US" sz="1110"/>
              <a:t> The page table entry includes a modify (M) bit, indicating whether the contents of the corresponding page have been altered since the page was last loaded</a:t>
            </a:r>
            <a:endParaRPr sz="1110"/>
          </a:p>
        </p:txBody>
      </p:sp>
      <p:sp>
        <p:nvSpPr>
          <p:cNvPr id="257" name="Google Shape;257;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200"/>
              <a:buFont typeface="Arial"/>
              <a:buNone/>
            </a:pPr>
            <a:r>
              <a:rPr lang="en-US"/>
              <a:t>This is a repeat of the notes on the previous slide</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lang="en-US"/>
              <a:t>It is typical to associate a unique page table with each process. </a:t>
            </a:r>
            <a:r>
              <a:rPr b="1" lang="en-US"/>
              <a:t>(Figure 8.2a – this slide). </a:t>
            </a:r>
            <a:endParaRPr/>
          </a:p>
          <a:p>
            <a:pPr indent="-76200" lvl="1" marL="457200" rtl="0" algn="l">
              <a:spcBef>
                <a:spcPts val="360"/>
              </a:spcBef>
              <a:spcAft>
                <a:spcPts val="0"/>
              </a:spcAft>
              <a:buClr>
                <a:schemeClr val="dk1"/>
              </a:buClr>
              <a:buSzPts val="1200"/>
              <a:buFont typeface="Arial"/>
              <a:buChar char="•"/>
            </a:pPr>
            <a:r>
              <a:rPr lang="en-US"/>
              <a:t> A bit is needed in each page table entry to indicate whether the corresponding page is present (P) in main memory or not.</a:t>
            </a:r>
            <a:endParaRPr/>
          </a:p>
          <a:p>
            <a:pPr indent="-76200" lvl="1" marL="457200" rtl="0" algn="l">
              <a:spcBef>
                <a:spcPts val="360"/>
              </a:spcBef>
              <a:spcAft>
                <a:spcPts val="0"/>
              </a:spcAft>
              <a:buClr>
                <a:schemeClr val="dk1"/>
              </a:buClr>
              <a:buSzPts val="1200"/>
              <a:buFont typeface="Arial"/>
              <a:buChar char="•"/>
            </a:pPr>
            <a:r>
              <a:rPr lang="en-US"/>
              <a:t> If the bit indicates that the page is in memory, then the entry also includes the frame number of that page.</a:t>
            </a:r>
            <a:endParaRPr/>
          </a:p>
          <a:p>
            <a:pPr indent="-76200" lvl="1" marL="457200" rtl="0" algn="l">
              <a:spcBef>
                <a:spcPts val="360"/>
              </a:spcBef>
              <a:spcAft>
                <a:spcPts val="0"/>
              </a:spcAft>
              <a:buClr>
                <a:schemeClr val="dk1"/>
              </a:buClr>
              <a:buSzPts val="1200"/>
              <a:buFont typeface="Arial"/>
              <a:buChar char="•"/>
            </a:pPr>
            <a:r>
              <a:rPr lang="en-US"/>
              <a:t> The page table entry includes a modify (M) bit, indicating whether the contents of the corresponding page have been altered since the page was last loaded</a:t>
            </a:r>
            <a:endParaRPr/>
          </a:p>
          <a:p>
            <a:pPr indent="0" lvl="0" marL="0" rtl="0" algn="l">
              <a:spcBef>
                <a:spcPts val="360"/>
              </a:spcBef>
              <a:spcAft>
                <a:spcPts val="0"/>
              </a:spcAft>
              <a:buNone/>
            </a:pPr>
            <a:r>
              <a:t/>
            </a:r>
            <a:endParaRPr/>
          </a:p>
        </p:txBody>
      </p:sp>
      <p:sp>
        <p:nvSpPr>
          <p:cNvPr id="264" name="Google Shape;264;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1" name="Google Shape;27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1110"/>
              <a:t>The basic mechanism for reading a word from memory involves using a page table to translate a virtual/logical address, </a:t>
            </a:r>
            <a:endParaRPr/>
          </a:p>
          <a:p>
            <a:pPr indent="0" lvl="1" marL="457200" rtl="0" algn="l">
              <a:lnSpc>
                <a:spcPct val="90000"/>
              </a:lnSpc>
              <a:spcBef>
                <a:spcPts val="333"/>
              </a:spcBef>
              <a:spcAft>
                <a:spcPts val="0"/>
              </a:spcAft>
              <a:buNone/>
            </a:pPr>
            <a:r>
              <a:rPr lang="en-US" sz="1110"/>
              <a:t>consisting of page number and offset, </a:t>
            </a:r>
            <a:endParaRPr/>
          </a:p>
          <a:p>
            <a:pPr indent="0" lvl="1" marL="457200" rtl="0" algn="l">
              <a:lnSpc>
                <a:spcPct val="90000"/>
              </a:lnSpc>
              <a:spcBef>
                <a:spcPts val="333"/>
              </a:spcBef>
              <a:spcAft>
                <a:spcPts val="0"/>
              </a:spcAft>
              <a:buNone/>
            </a:pPr>
            <a:r>
              <a:t/>
            </a:r>
            <a:endParaRPr sz="1110"/>
          </a:p>
          <a:p>
            <a:pPr indent="0" lvl="0" marL="0" rtl="0" algn="l">
              <a:lnSpc>
                <a:spcPct val="90000"/>
              </a:lnSpc>
              <a:spcBef>
                <a:spcPts val="333"/>
              </a:spcBef>
              <a:spcAft>
                <a:spcPts val="0"/>
              </a:spcAft>
              <a:buNone/>
            </a:pPr>
            <a:r>
              <a:rPr lang="en-US" sz="1110"/>
              <a:t>Into a physical address, </a:t>
            </a:r>
            <a:endParaRPr/>
          </a:p>
          <a:p>
            <a:pPr indent="0" lvl="1" marL="457200" rtl="0" algn="l">
              <a:lnSpc>
                <a:spcPct val="90000"/>
              </a:lnSpc>
              <a:spcBef>
                <a:spcPts val="333"/>
              </a:spcBef>
              <a:spcAft>
                <a:spcPts val="0"/>
              </a:spcAft>
              <a:buNone/>
            </a:pPr>
            <a:r>
              <a:rPr lang="en-US" sz="1110"/>
              <a:t>consisting of frame number and offset, </a:t>
            </a:r>
            <a:endParaRPr/>
          </a:p>
          <a:p>
            <a:pPr indent="0" lvl="1" marL="457200" rtl="0" algn="l">
              <a:lnSpc>
                <a:spcPct val="90000"/>
              </a:lnSpc>
              <a:spcBef>
                <a:spcPts val="333"/>
              </a:spcBef>
              <a:spcAft>
                <a:spcPts val="0"/>
              </a:spcAft>
              <a:buNone/>
            </a:pPr>
            <a:r>
              <a:t/>
            </a:r>
            <a:endParaRPr sz="1110"/>
          </a:p>
          <a:p>
            <a:pPr indent="0" lvl="0" marL="0" rtl="0" algn="l">
              <a:lnSpc>
                <a:spcPct val="90000"/>
              </a:lnSpc>
              <a:spcBef>
                <a:spcPts val="333"/>
              </a:spcBef>
              <a:spcAft>
                <a:spcPts val="0"/>
              </a:spcAft>
              <a:buNone/>
            </a:pPr>
            <a:r>
              <a:rPr lang="en-US" sz="1110"/>
              <a:t>Because the page table is of variable length, depending on the size of the process, we cannot expect to hold it in registers.</a:t>
            </a:r>
            <a:endParaRPr/>
          </a:p>
          <a:p>
            <a:pPr indent="0" lvl="1" marL="457200" rtl="0" algn="l">
              <a:lnSpc>
                <a:spcPct val="90000"/>
              </a:lnSpc>
              <a:spcBef>
                <a:spcPts val="333"/>
              </a:spcBef>
              <a:spcAft>
                <a:spcPts val="0"/>
              </a:spcAft>
              <a:buNone/>
            </a:pPr>
            <a:r>
              <a:rPr lang="en-US" sz="1110"/>
              <a:t>Instead, it must be in main memory to be accessed.</a:t>
            </a:r>
            <a:endParaRPr/>
          </a:p>
          <a:p>
            <a:pPr indent="0" lvl="1" marL="457200" rtl="0" algn="l">
              <a:lnSpc>
                <a:spcPct val="90000"/>
              </a:lnSpc>
              <a:spcBef>
                <a:spcPts val="333"/>
              </a:spcBef>
              <a:spcAft>
                <a:spcPts val="0"/>
              </a:spcAft>
              <a:buNone/>
            </a:pPr>
            <a:r>
              <a:t/>
            </a:r>
            <a:endParaRPr sz="1110"/>
          </a:p>
          <a:p>
            <a:pPr indent="0" lvl="0" marL="0" rtl="0" algn="l">
              <a:lnSpc>
                <a:spcPct val="90000"/>
              </a:lnSpc>
              <a:spcBef>
                <a:spcPts val="333"/>
              </a:spcBef>
              <a:spcAft>
                <a:spcPts val="0"/>
              </a:spcAft>
              <a:buNone/>
            </a:pPr>
            <a:r>
              <a:rPr lang="en-US" sz="1110"/>
              <a:t>Figure 8.3 suggests a hardware implementation.</a:t>
            </a:r>
            <a:endParaRPr/>
          </a:p>
          <a:p>
            <a:pPr indent="0" lvl="0" marL="0" rtl="0" algn="l">
              <a:lnSpc>
                <a:spcPct val="90000"/>
              </a:lnSpc>
              <a:spcBef>
                <a:spcPts val="333"/>
              </a:spcBef>
              <a:spcAft>
                <a:spcPts val="0"/>
              </a:spcAft>
              <a:buNone/>
            </a:pPr>
            <a:r>
              <a:t/>
            </a:r>
            <a:endParaRPr sz="1110"/>
          </a:p>
          <a:p>
            <a:pPr indent="0" lvl="0" marL="0" rtl="0" algn="l">
              <a:lnSpc>
                <a:spcPct val="90000"/>
              </a:lnSpc>
              <a:spcBef>
                <a:spcPts val="333"/>
              </a:spcBef>
              <a:spcAft>
                <a:spcPts val="0"/>
              </a:spcAft>
              <a:buNone/>
            </a:pPr>
            <a:r>
              <a:rPr lang="en-US" sz="1110"/>
              <a:t>When a particular process is running, a register holds the starting address of the page table for that process.</a:t>
            </a:r>
            <a:endParaRPr/>
          </a:p>
          <a:p>
            <a:pPr indent="-70484" lvl="1" marL="457200" rtl="0" algn="l">
              <a:lnSpc>
                <a:spcPct val="90000"/>
              </a:lnSpc>
              <a:spcBef>
                <a:spcPts val="333"/>
              </a:spcBef>
              <a:spcAft>
                <a:spcPts val="0"/>
              </a:spcAft>
              <a:buClr>
                <a:schemeClr val="dk1"/>
              </a:buClr>
              <a:buSzPts val="1110"/>
              <a:buFont typeface="Arial"/>
              <a:buChar char="•"/>
            </a:pPr>
            <a:r>
              <a:rPr lang="en-US" sz="1110"/>
              <a:t> The page number of a virtual address is used to index that table and look up the corresponding frame number.</a:t>
            </a:r>
            <a:endParaRPr/>
          </a:p>
          <a:p>
            <a:pPr indent="-70484" lvl="1" marL="457200" rtl="0" algn="l">
              <a:lnSpc>
                <a:spcPct val="90000"/>
              </a:lnSpc>
              <a:spcBef>
                <a:spcPts val="333"/>
              </a:spcBef>
              <a:spcAft>
                <a:spcPts val="0"/>
              </a:spcAft>
              <a:buClr>
                <a:schemeClr val="dk1"/>
              </a:buClr>
              <a:buSzPts val="1110"/>
              <a:buFont typeface="Arial"/>
              <a:buChar char="•"/>
            </a:pPr>
            <a:r>
              <a:rPr lang="en-US" sz="1110"/>
              <a:t> This is combined with the offset portion of the virtual address to produce the desired real address. </a:t>
            </a:r>
            <a:endParaRPr/>
          </a:p>
          <a:p>
            <a:pPr indent="0" lvl="0" marL="0" rtl="0" algn="l">
              <a:lnSpc>
                <a:spcPct val="90000"/>
              </a:lnSpc>
              <a:spcBef>
                <a:spcPts val="333"/>
              </a:spcBef>
              <a:spcAft>
                <a:spcPts val="0"/>
              </a:spcAft>
              <a:buClr>
                <a:schemeClr val="dk1"/>
              </a:buClr>
              <a:buSzPts val="1110"/>
              <a:buFont typeface="Arial"/>
              <a:buNone/>
            </a:pPr>
            <a:r>
              <a:t/>
            </a:r>
            <a:endParaRPr sz="1110"/>
          </a:p>
          <a:p>
            <a:pPr indent="0" lvl="0" marL="0" rtl="0" algn="l">
              <a:lnSpc>
                <a:spcPct val="90000"/>
              </a:lnSpc>
              <a:spcBef>
                <a:spcPts val="333"/>
              </a:spcBef>
              <a:spcAft>
                <a:spcPts val="0"/>
              </a:spcAft>
              <a:buClr>
                <a:schemeClr val="dk1"/>
              </a:buClr>
              <a:buSzPts val="1110"/>
              <a:buFont typeface="Arial"/>
              <a:buNone/>
            </a:pPr>
            <a:r>
              <a:rPr lang="en-US" sz="1110"/>
              <a:t>Typically, the page number field is longer than the frame number field (n &gt; m).</a:t>
            </a:r>
            <a:endParaRPr sz="1110"/>
          </a:p>
        </p:txBody>
      </p:sp>
      <p:sp>
        <p:nvSpPr>
          <p:cNvPr id="278" name="Google Shape;278;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85" name="Google Shape;285;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X=4 (Page directory contains four entries)</a:t>
            </a:r>
            <a:endParaRPr/>
          </a:p>
          <a:p>
            <a:pPr indent="0" lvl="0" marL="0" rtl="0" algn="l">
              <a:spcBef>
                <a:spcPts val="360"/>
              </a:spcBef>
              <a:spcAft>
                <a:spcPts val="0"/>
              </a:spcAft>
              <a:buNone/>
            </a:pPr>
            <a:r>
              <a:rPr lang="en-US"/>
              <a:t>Y=4 (Each page of page table contains four entries)</a:t>
            </a:r>
            <a:endParaRPr/>
          </a:p>
          <a:p>
            <a:pPr indent="0" lvl="0" marL="0" rtl="0" algn="l">
              <a:spcBef>
                <a:spcPts val="360"/>
              </a:spcBef>
              <a:spcAft>
                <a:spcPts val="0"/>
              </a:spcAft>
              <a:buNone/>
            </a:pPr>
            <a:r>
              <a:rPr lang="en-US"/>
              <a:t>Total pages = 4*4 =16</a:t>
            </a:r>
            <a:endParaRPr/>
          </a:p>
        </p:txBody>
      </p:sp>
      <p:sp>
        <p:nvSpPr>
          <p:cNvPr id="292" name="Google Shape;292;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8" name="Google Shape;298;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Figure 8.4 shows an example of a two-level scheme typical for use with a 32-bit address.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If we assume byte-level addressing and 4-kbyte (2</a:t>
            </a:r>
            <a:r>
              <a:rPr baseline="30000" lang="en-US"/>
              <a:t>12</a:t>
            </a:r>
            <a:r>
              <a:rPr lang="en-US"/>
              <a:t>) pages, </a:t>
            </a:r>
            <a:endParaRPr/>
          </a:p>
          <a:p>
            <a:pPr indent="-76200" lvl="1" marL="457200" rtl="0" algn="l">
              <a:spcBef>
                <a:spcPts val="360"/>
              </a:spcBef>
              <a:spcAft>
                <a:spcPts val="0"/>
              </a:spcAft>
              <a:buClr>
                <a:schemeClr val="dk1"/>
              </a:buClr>
              <a:buSzPts val="1200"/>
              <a:buFont typeface="Arial"/>
              <a:buChar char="•"/>
            </a:pPr>
            <a:r>
              <a:rPr lang="en-US"/>
              <a:t> then the 4-Gbyte (2</a:t>
            </a:r>
            <a:r>
              <a:rPr baseline="30000" lang="en-US" sz="1200">
                <a:solidFill>
                  <a:schemeClr val="dk1"/>
                </a:solidFill>
                <a:latin typeface="Calibri"/>
                <a:ea typeface="Calibri"/>
                <a:cs typeface="Calibri"/>
                <a:sym typeface="Calibri"/>
              </a:rPr>
              <a:t>32</a:t>
            </a:r>
            <a:r>
              <a:rPr lang="en-US"/>
              <a:t>) virtual address space is composed of 220pages. </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lang="en-US"/>
              <a:t>If each of these pages is mapped by a 4-byte page table entry (PTE), we can create a user page table composed of 2</a:t>
            </a:r>
            <a:r>
              <a:rPr baseline="30000" lang="en-US" sz="1200">
                <a:solidFill>
                  <a:schemeClr val="dk1"/>
                </a:solidFill>
                <a:latin typeface="Calibri"/>
                <a:ea typeface="Calibri"/>
                <a:cs typeface="Calibri"/>
                <a:sym typeface="Calibri"/>
              </a:rPr>
              <a:t>20 </a:t>
            </a:r>
            <a:r>
              <a:rPr lang="en-US"/>
              <a:t>PTEs requiring 4 Mbyte (2</a:t>
            </a:r>
            <a:r>
              <a:rPr baseline="30000" lang="en-US" sz="1200">
                <a:solidFill>
                  <a:schemeClr val="dk1"/>
                </a:solidFill>
                <a:latin typeface="Calibri"/>
                <a:ea typeface="Calibri"/>
                <a:cs typeface="Calibri"/>
                <a:sym typeface="Calibri"/>
              </a:rPr>
              <a:t>22 </a:t>
            </a:r>
            <a:r>
              <a:rPr lang="en-US"/>
              <a:t>) bytes.</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lang="en-US"/>
              <a:t>This huge user page table, occupying 2</a:t>
            </a:r>
            <a:r>
              <a:rPr baseline="30000" lang="en-US" sz="1200">
                <a:solidFill>
                  <a:schemeClr val="dk1"/>
                </a:solidFill>
                <a:latin typeface="Calibri"/>
                <a:ea typeface="Calibri"/>
                <a:cs typeface="Calibri"/>
                <a:sym typeface="Calibri"/>
              </a:rPr>
              <a:t>10 </a:t>
            </a:r>
            <a:r>
              <a:rPr lang="en-US"/>
              <a:t>pages, can be kept in virtual memory and mapped by a root page table with 2</a:t>
            </a:r>
            <a:r>
              <a:rPr baseline="30000" lang="en-US" sz="1200">
                <a:solidFill>
                  <a:schemeClr val="dk1"/>
                </a:solidFill>
                <a:latin typeface="Calibri"/>
                <a:ea typeface="Calibri"/>
                <a:cs typeface="Calibri"/>
                <a:sym typeface="Calibri"/>
              </a:rPr>
              <a:t>10 </a:t>
            </a:r>
            <a:r>
              <a:rPr lang="en-US"/>
              <a:t>PTEs occupying</a:t>
            </a:r>
            <a:endParaRPr/>
          </a:p>
          <a:p>
            <a:pPr indent="0" lvl="0" marL="0" rtl="0" algn="l">
              <a:spcBef>
                <a:spcPts val="360"/>
              </a:spcBef>
              <a:spcAft>
                <a:spcPts val="0"/>
              </a:spcAft>
              <a:buNone/>
            </a:pPr>
            <a:r>
              <a:rPr lang="en-US"/>
              <a:t>4 Kbyte (2</a:t>
            </a:r>
            <a:r>
              <a:rPr baseline="30000" lang="en-US" sz="1200">
                <a:solidFill>
                  <a:schemeClr val="dk1"/>
                </a:solidFill>
                <a:latin typeface="Calibri"/>
                <a:ea typeface="Calibri"/>
                <a:cs typeface="Calibri"/>
                <a:sym typeface="Calibri"/>
              </a:rPr>
              <a:t>12 </a:t>
            </a:r>
            <a:r>
              <a:rPr lang="en-US"/>
              <a:t>) of main memory. </a:t>
            </a:r>
            <a:endParaRPr/>
          </a:p>
        </p:txBody>
      </p:sp>
      <p:sp>
        <p:nvSpPr>
          <p:cNvPr id="305" name="Google Shape;305;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Figure 8.5 shows the steps involved in address translation for this scheme.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root page always remains in main memory.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first 10 bits of a virtual address are used to index into the root page to find a PTE for a page of the user page table. </a:t>
            </a:r>
            <a:endParaRPr/>
          </a:p>
          <a:p>
            <a:pPr indent="-76200" lvl="1" marL="457200" rtl="0" algn="l">
              <a:spcBef>
                <a:spcPts val="360"/>
              </a:spcBef>
              <a:spcAft>
                <a:spcPts val="0"/>
              </a:spcAft>
              <a:buClr>
                <a:schemeClr val="dk1"/>
              </a:buClr>
              <a:buSzPts val="1200"/>
              <a:buFont typeface="Arial"/>
              <a:buChar char="•"/>
            </a:pPr>
            <a:r>
              <a:rPr lang="en-US"/>
              <a:t> If that page is </a:t>
            </a:r>
            <a:r>
              <a:rPr b="1" lang="en-US"/>
              <a:t>not </a:t>
            </a:r>
            <a:r>
              <a:rPr lang="en-US"/>
              <a:t>in main memory, a page fault occurs.</a:t>
            </a:r>
            <a:endParaRPr/>
          </a:p>
          <a:p>
            <a:pPr indent="-76200" lvl="1" marL="457200" rtl="0" algn="l">
              <a:spcBef>
                <a:spcPts val="360"/>
              </a:spcBef>
              <a:spcAft>
                <a:spcPts val="0"/>
              </a:spcAft>
              <a:buClr>
                <a:schemeClr val="dk1"/>
              </a:buClr>
              <a:buSzPts val="1200"/>
              <a:buFont typeface="Arial"/>
              <a:buChar char="•"/>
            </a:pPr>
            <a:r>
              <a:rPr lang="en-US"/>
              <a:t> If that page </a:t>
            </a:r>
            <a:r>
              <a:rPr b="1" lang="en-US"/>
              <a:t>is </a:t>
            </a:r>
            <a:r>
              <a:rPr lang="en-US"/>
              <a:t>in main memory, then the next 10 bits of the virtual address index into the user PTE page to find the PTE for the page that is referenced by the virtual address.</a:t>
            </a:r>
            <a:endParaRPr/>
          </a:p>
          <a:p>
            <a:pPr indent="0" lvl="0" marL="0" rtl="0" algn="l">
              <a:spcBef>
                <a:spcPts val="360"/>
              </a:spcBef>
              <a:spcAft>
                <a:spcPts val="0"/>
              </a:spcAft>
              <a:buNone/>
            </a:pPr>
            <a:r>
              <a:t/>
            </a:r>
            <a:endParaRPr/>
          </a:p>
        </p:txBody>
      </p:sp>
      <p:sp>
        <p:nvSpPr>
          <p:cNvPr id="312" name="Google Shape;312;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19" name="Google Shape;319;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5" name="Google Shape;325;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1" name="Google Shape;331;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The page number portion of a virtual address is mapped into a hash value using a simple hashing function.</a:t>
            </a:r>
            <a:endParaRPr/>
          </a:p>
          <a:p>
            <a:pPr indent="0" lvl="0" marL="0" rtl="0" algn="l">
              <a:lnSpc>
                <a:spcPct val="90000"/>
              </a:lnSpc>
              <a:spcBef>
                <a:spcPts val="360"/>
              </a:spcBef>
              <a:spcAft>
                <a:spcPts val="0"/>
              </a:spcAft>
              <a:buNone/>
            </a:pPr>
            <a:r>
              <a:t/>
            </a:r>
            <a:endParaRPr/>
          </a:p>
          <a:p>
            <a:pPr indent="0" lvl="0" marL="0" rtl="0" algn="l">
              <a:lnSpc>
                <a:spcPct val="90000"/>
              </a:lnSpc>
              <a:spcBef>
                <a:spcPts val="360"/>
              </a:spcBef>
              <a:spcAft>
                <a:spcPts val="0"/>
              </a:spcAft>
              <a:buNone/>
            </a:pPr>
            <a:r>
              <a:rPr lang="en-US"/>
              <a:t>The hash value is a pointer to the inverted page table, which contains the page table entries.</a:t>
            </a:r>
            <a:endParaRPr/>
          </a:p>
          <a:p>
            <a:pPr indent="0" lvl="0" marL="0" rtl="0" algn="l">
              <a:lnSpc>
                <a:spcPct val="90000"/>
              </a:lnSpc>
              <a:spcBef>
                <a:spcPts val="360"/>
              </a:spcBef>
              <a:spcAft>
                <a:spcPts val="0"/>
              </a:spcAft>
              <a:buNone/>
            </a:pPr>
            <a:r>
              <a:t/>
            </a:r>
            <a:endParaRPr/>
          </a:p>
          <a:p>
            <a:pPr indent="0" lvl="0" marL="0" rtl="0" algn="l">
              <a:lnSpc>
                <a:spcPct val="90000"/>
              </a:lnSpc>
              <a:spcBef>
                <a:spcPts val="360"/>
              </a:spcBef>
              <a:spcAft>
                <a:spcPts val="0"/>
              </a:spcAft>
              <a:buNone/>
            </a:pPr>
            <a:r>
              <a:rPr lang="en-US"/>
              <a:t>There is one entry in the inverted page table for each real memory page frame rather than one per virtual page.</a:t>
            </a:r>
            <a:endParaRPr/>
          </a:p>
          <a:p>
            <a:pPr indent="-76200" lvl="1" marL="457200" rtl="0" algn="l">
              <a:lnSpc>
                <a:spcPct val="90000"/>
              </a:lnSpc>
              <a:spcBef>
                <a:spcPts val="360"/>
              </a:spcBef>
              <a:spcAft>
                <a:spcPts val="0"/>
              </a:spcAft>
              <a:buClr>
                <a:schemeClr val="dk1"/>
              </a:buClr>
              <a:buSzPts val="1200"/>
              <a:buFont typeface="Arial"/>
              <a:buChar char="•"/>
            </a:pPr>
            <a:r>
              <a:rPr lang="en-US"/>
              <a:t> Thus a fixed proportion of real memory is required for the tables regardless of the number of processes or virtual pages supported. </a:t>
            </a:r>
            <a:endParaRPr/>
          </a:p>
          <a:p>
            <a:pPr indent="0" lvl="0" marL="0" rtl="0" algn="l">
              <a:lnSpc>
                <a:spcPct val="90000"/>
              </a:lnSpc>
              <a:spcBef>
                <a:spcPts val="360"/>
              </a:spcBef>
              <a:spcAft>
                <a:spcPts val="0"/>
              </a:spcAft>
              <a:buClr>
                <a:schemeClr val="dk1"/>
              </a:buClr>
              <a:buSzPts val="1200"/>
              <a:buFont typeface="Arial"/>
              <a:buNone/>
            </a:pPr>
            <a:r>
              <a:t/>
            </a:r>
            <a:endParaRPr/>
          </a:p>
          <a:p>
            <a:pPr indent="0" lvl="0" marL="0" rtl="0" algn="l">
              <a:lnSpc>
                <a:spcPct val="90000"/>
              </a:lnSpc>
              <a:spcBef>
                <a:spcPts val="360"/>
              </a:spcBef>
              <a:spcAft>
                <a:spcPts val="0"/>
              </a:spcAft>
              <a:buClr>
                <a:schemeClr val="dk1"/>
              </a:buClr>
              <a:buSzPts val="1200"/>
              <a:buFont typeface="Arial"/>
              <a:buNone/>
            </a:pPr>
            <a:r>
              <a:rPr lang="en-US"/>
              <a:t>Because more than one virtual address may map into the same hash table entry, a chaining technique is used for managing the overflow.</a:t>
            </a:r>
            <a:endParaRPr/>
          </a:p>
          <a:p>
            <a:pPr indent="0" lvl="1" marL="457200" rtl="0" algn="l">
              <a:lnSpc>
                <a:spcPct val="90000"/>
              </a:lnSpc>
              <a:spcBef>
                <a:spcPts val="360"/>
              </a:spcBef>
              <a:spcAft>
                <a:spcPts val="0"/>
              </a:spcAft>
              <a:buClr>
                <a:schemeClr val="dk1"/>
              </a:buClr>
              <a:buSzPts val="1200"/>
              <a:buFont typeface="Arial"/>
              <a:buNone/>
            </a:pPr>
            <a:r>
              <a:rPr lang="en-US"/>
              <a:t>The hashing technique results in chains that are typically short—between one and two entries.</a:t>
            </a:r>
            <a:endParaRPr/>
          </a:p>
          <a:p>
            <a:pPr indent="0" lvl="1" marL="457200" rtl="0" algn="l">
              <a:lnSpc>
                <a:spcPct val="90000"/>
              </a:lnSpc>
              <a:spcBef>
                <a:spcPts val="360"/>
              </a:spcBef>
              <a:spcAft>
                <a:spcPts val="0"/>
              </a:spcAft>
              <a:buClr>
                <a:schemeClr val="dk1"/>
              </a:buClr>
              <a:buSzPts val="1200"/>
              <a:buFont typeface="Arial"/>
              <a:buNone/>
            </a:pPr>
            <a:r>
              <a:t/>
            </a:r>
            <a:endParaRPr/>
          </a:p>
          <a:p>
            <a:pPr indent="0" lvl="0" marL="0" rtl="0" algn="l">
              <a:lnSpc>
                <a:spcPct val="90000"/>
              </a:lnSpc>
              <a:spcBef>
                <a:spcPts val="360"/>
              </a:spcBef>
              <a:spcAft>
                <a:spcPts val="0"/>
              </a:spcAft>
              <a:buClr>
                <a:schemeClr val="dk1"/>
              </a:buClr>
              <a:buSzPts val="1200"/>
              <a:buFont typeface="Arial"/>
              <a:buNone/>
            </a:pPr>
            <a:r>
              <a:rPr lang="en-US"/>
              <a:t>The page table’s structure is called inverted because it indexes page table entries by frame number rather than by virtual page</a:t>
            </a:r>
            <a:endParaRPr/>
          </a:p>
          <a:p>
            <a:pPr indent="0" lvl="0" marL="0" rtl="0" algn="l">
              <a:lnSpc>
                <a:spcPct val="90000"/>
              </a:lnSpc>
              <a:spcBef>
                <a:spcPts val="360"/>
              </a:spcBef>
              <a:spcAft>
                <a:spcPts val="0"/>
              </a:spcAft>
              <a:buNone/>
            </a:pPr>
            <a:r>
              <a:rPr lang="en-US"/>
              <a:t>number</a:t>
            </a:r>
            <a:endParaRPr/>
          </a:p>
          <a:p>
            <a:pPr indent="0" lvl="0" marL="0" rtl="0" algn="l">
              <a:lnSpc>
                <a:spcPct val="90000"/>
              </a:lnSpc>
              <a:spcBef>
                <a:spcPts val="360"/>
              </a:spcBef>
              <a:spcAft>
                <a:spcPts val="0"/>
              </a:spcAft>
              <a:buClr>
                <a:schemeClr val="dk1"/>
              </a:buClr>
              <a:buSzPts val="1200"/>
              <a:buFont typeface="Arial"/>
              <a:buNone/>
            </a:pPr>
            <a:r>
              <a:t/>
            </a:r>
            <a:endParaRPr/>
          </a:p>
        </p:txBody>
      </p:sp>
      <p:sp>
        <p:nvSpPr>
          <p:cNvPr id="338" name="Google Shape;338;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Page number: </a:t>
            </a:r>
            <a:endParaRPr/>
          </a:p>
          <a:p>
            <a:pPr indent="-76200" lvl="1" marL="457200" rtl="0" algn="l">
              <a:spcBef>
                <a:spcPts val="360"/>
              </a:spcBef>
              <a:spcAft>
                <a:spcPts val="0"/>
              </a:spcAft>
              <a:buClr>
                <a:schemeClr val="dk1"/>
              </a:buClr>
              <a:buSzPts val="1200"/>
              <a:buFont typeface="Arial"/>
              <a:buChar char="•"/>
            </a:pPr>
            <a:r>
              <a:rPr lang="en-US"/>
              <a:t> This is the page number portion of the virtual address.</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Process identifier: </a:t>
            </a:r>
            <a:endParaRPr/>
          </a:p>
          <a:p>
            <a:pPr indent="-76200" lvl="1" marL="457200" rtl="0" algn="l">
              <a:spcBef>
                <a:spcPts val="360"/>
              </a:spcBef>
              <a:spcAft>
                <a:spcPts val="0"/>
              </a:spcAft>
              <a:buClr>
                <a:schemeClr val="dk1"/>
              </a:buClr>
              <a:buSzPts val="1200"/>
              <a:buFont typeface="Arial"/>
              <a:buChar char="•"/>
            </a:pPr>
            <a:r>
              <a:rPr lang="en-US"/>
              <a:t> The process that owns this page. </a:t>
            </a:r>
            <a:endParaRPr/>
          </a:p>
          <a:p>
            <a:pPr indent="-76200" lvl="1" marL="457200" rtl="0" algn="l">
              <a:spcBef>
                <a:spcPts val="360"/>
              </a:spcBef>
              <a:spcAft>
                <a:spcPts val="0"/>
              </a:spcAft>
              <a:buClr>
                <a:schemeClr val="dk1"/>
              </a:buClr>
              <a:buSzPts val="1200"/>
              <a:buFont typeface="Arial"/>
              <a:buChar char="•"/>
            </a:pPr>
            <a:r>
              <a:rPr lang="en-US"/>
              <a:t> The combination of page number and process identifier identify a page within the virtual address space of a particular process.</a:t>
            </a:r>
            <a:endParaRPr/>
          </a:p>
          <a:p>
            <a:pPr indent="0" lvl="1" marL="45720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None/>
            </a:pPr>
            <a:r>
              <a:rPr b="1" lang="en-US"/>
              <a:t>Control bits: </a:t>
            </a:r>
            <a:endParaRPr/>
          </a:p>
          <a:p>
            <a:pPr indent="-76200" lvl="1" marL="457200" rtl="0" algn="l">
              <a:spcBef>
                <a:spcPts val="360"/>
              </a:spcBef>
              <a:spcAft>
                <a:spcPts val="0"/>
              </a:spcAft>
              <a:buClr>
                <a:schemeClr val="dk1"/>
              </a:buClr>
              <a:buSzPts val="1200"/>
              <a:buFont typeface="Arial"/>
              <a:buChar char="•"/>
            </a:pPr>
            <a:r>
              <a:rPr lang="en-US"/>
              <a:t> This field includes flags, such as valid, referenced, and modified; and protection and locking information.</a:t>
            </a:r>
            <a:endParaRPr/>
          </a:p>
          <a:p>
            <a:pPr indent="0" lvl="0" marL="0" rtl="0" algn="l">
              <a:spcBef>
                <a:spcPts val="360"/>
              </a:spcBef>
              <a:spcAft>
                <a:spcPts val="0"/>
              </a:spcAft>
              <a:buNone/>
            </a:pPr>
            <a:r>
              <a:t/>
            </a:r>
            <a:endParaRPr/>
          </a:p>
          <a:p>
            <a:pPr indent="0" lvl="0" marL="0" rtl="0" algn="l">
              <a:spcBef>
                <a:spcPts val="360"/>
              </a:spcBef>
              <a:spcAft>
                <a:spcPts val="0"/>
              </a:spcAft>
              <a:buNone/>
            </a:pPr>
            <a:r>
              <a:rPr b="1" lang="en-US"/>
              <a:t>Chain pointer: </a:t>
            </a:r>
            <a:endParaRPr/>
          </a:p>
          <a:p>
            <a:pPr indent="-76200" lvl="1" marL="457200" rtl="0" algn="l">
              <a:spcBef>
                <a:spcPts val="360"/>
              </a:spcBef>
              <a:spcAft>
                <a:spcPts val="0"/>
              </a:spcAft>
              <a:buClr>
                <a:schemeClr val="dk1"/>
              </a:buClr>
              <a:buSzPts val="1200"/>
              <a:buFont typeface="Arial"/>
              <a:buChar char="•"/>
            </a:pPr>
            <a:r>
              <a:rPr b="0" lang="en-US"/>
              <a:t>Contains the index value (number between 0 and 2</a:t>
            </a:r>
            <a:r>
              <a:rPr baseline="30000" lang="en-US" sz="1200">
                <a:solidFill>
                  <a:schemeClr val="dk1"/>
                </a:solidFill>
                <a:latin typeface="Calibri"/>
                <a:ea typeface="Calibri"/>
                <a:cs typeface="Calibri"/>
                <a:sym typeface="Calibri"/>
              </a:rPr>
              <a:t>m</a:t>
            </a:r>
            <a:r>
              <a:rPr b="0" lang="en-US"/>
              <a:t> - 1) of the next entry in the chain.</a:t>
            </a:r>
            <a:endParaRPr/>
          </a:p>
          <a:p>
            <a:pPr indent="-76200" lvl="1" marL="457200" marR="0" rtl="0" algn="l">
              <a:lnSpc>
                <a:spcPct val="100000"/>
              </a:lnSpc>
              <a:spcBef>
                <a:spcPts val="360"/>
              </a:spcBef>
              <a:spcAft>
                <a:spcPts val="0"/>
              </a:spcAft>
              <a:buClr>
                <a:schemeClr val="dk1"/>
              </a:buClr>
              <a:buSzPts val="1200"/>
              <a:buFont typeface="Arial"/>
              <a:buChar char="•"/>
            </a:pPr>
            <a:r>
              <a:rPr b="0" lang="en-US"/>
              <a:t>Otherwise, Null if there are no chained entries for this entry. </a:t>
            </a:r>
            <a:endParaRPr/>
          </a:p>
        </p:txBody>
      </p:sp>
      <p:sp>
        <p:nvSpPr>
          <p:cNvPr id="345" name="Google Shape;345;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Refer to previous description of the fields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In this example, the virtual address includes an </a:t>
            </a:r>
            <a:r>
              <a:rPr i="1" lang="en-US"/>
              <a:t>n</a:t>
            </a:r>
            <a:r>
              <a:rPr lang="en-US"/>
              <a:t>-bit page number, with </a:t>
            </a:r>
            <a:r>
              <a:rPr i="1" lang="en-US"/>
              <a:t>n</a:t>
            </a:r>
            <a:r>
              <a:rPr lang="en-US"/>
              <a:t> &gt; </a:t>
            </a:r>
            <a:r>
              <a:rPr i="1" lang="en-US"/>
              <a:t>m</a:t>
            </a:r>
            <a:r>
              <a:rPr lang="en-US"/>
              <a: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hash function maps the </a:t>
            </a:r>
            <a:r>
              <a:rPr i="1" lang="en-US"/>
              <a:t>n</a:t>
            </a:r>
            <a:r>
              <a:rPr lang="en-US"/>
              <a:t>-bit page number into an m-bit quantity, which is used to index into the inverted page table.</a:t>
            </a:r>
            <a:endParaRPr/>
          </a:p>
        </p:txBody>
      </p:sp>
      <p:sp>
        <p:nvSpPr>
          <p:cNvPr id="352" name="Google Shape;352;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This cache functions in the same way as a memory cache and contains those page table entries that have been most recently used.</a:t>
            </a:r>
            <a:endParaRPr/>
          </a:p>
        </p:txBody>
      </p:sp>
      <p:sp>
        <p:nvSpPr>
          <p:cNvPr id="359" name="Google Shape;359;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66" name="Google Shape;366;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73" name="Google Shape;373;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80" name="Google Shape;380;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flowchart shows that if the desired page is not in main memory, a page fault interrupt causes the page fault handling routine to be invoked.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To keep the flowchart simple, the fact that the operating system may dispatch another process while disk I/O is underway is not shown.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By the principle of locality, most virtual memory references will be to locations in recently used pages. Therefore, most references will involve page table entries in the cache.</a:t>
            </a:r>
            <a:endParaRPr/>
          </a:p>
        </p:txBody>
      </p:sp>
      <p:sp>
        <p:nvSpPr>
          <p:cNvPr id="387" name="Google Shape;387;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 Because the TLB only contains some of the entries in a full page table, we cannot simply index into the TLB based on page number. </a:t>
            </a:r>
            <a:endParaRPr/>
          </a:p>
          <a:p>
            <a:pPr indent="-76200" lvl="1" marL="457200" rtl="0" algn="l">
              <a:spcBef>
                <a:spcPts val="360"/>
              </a:spcBef>
              <a:spcAft>
                <a:spcPts val="0"/>
              </a:spcAft>
              <a:buClr>
                <a:schemeClr val="dk1"/>
              </a:buClr>
              <a:buSzPts val="1200"/>
              <a:buFont typeface="Arial"/>
              <a:buChar char="•"/>
            </a:pPr>
            <a:r>
              <a:rPr lang="en-US"/>
              <a:t> Instead, each entry in the TLB must include the page number as well as the complete page table entry.</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lang="en-US"/>
              <a:t>The processor is equipped with hardware that allows it to interrogate simultaneously a number of TLB entries to determine if there is a match on page number.</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None/>
            </a:pPr>
            <a:r>
              <a:rPr lang="en-US"/>
              <a:t>This technique is referred to as associative mapping.</a:t>
            </a:r>
            <a:endParaRPr/>
          </a:p>
        </p:txBody>
      </p:sp>
      <p:sp>
        <p:nvSpPr>
          <p:cNvPr id="393" name="Google Shape;393;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This slide contrasts associative mapping with direct mapping or indexing, used for lookup in the page table.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design of the TLB also must consider the way in which entries are organized in the TLB and which entry to replace when a new entry is brought in.</a:t>
            </a:r>
            <a:endParaRPr/>
          </a:p>
          <a:p>
            <a:pPr indent="0" lvl="1" marL="457200" rtl="0" algn="l">
              <a:spcBef>
                <a:spcPts val="360"/>
              </a:spcBef>
              <a:spcAft>
                <a:spcPts val="0"/>
              </a:spcAft>
              <a:buNone/>
            </a:pPr>
            <a:r>
              <a:rPr lang="en-US"/>
              <a:t>These issues must be considered in any hardware cache design. </a:t>
            </a:r>
            <a:endParaRPr/>
          </a:p>
          <a:p>
            <a:pPr indent="0" lvl="0" marL="0" rtl="0" algn="l">
              <a:spcBef>
                <a:spcPts val="360"/>
              </a:spcBef>
              <a:spcAft>
                <a:spcPts val="0"/>
              </a:spcAft>
              <a:buNone/>
            </a:pPr>
            <a:r>
              <a:t/>
            </a:r>
            <a:endParaRPr/>
          </a:p>
        </p:txBody>
      </p:sp>
      <p:sp>
        <p:nvSpPr>
          <p:cNvPr id="400" name="Google Shape;400;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6" name="Google Shape;406;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virtual memory mechanism must interact with the cache system (not the TLB cache, but the main memory cache)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virtual address will generally be in the form of a page number, offset.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First, the memory system consults the TLB to see if the matching page table entry is present. </a:t>
            </a:r>
            <a:endParaRPr/>
          </a:p>
          <a:p>
            <a:pPr indent="-76200" lvl="0" marL="0" rtl="0" algn="l">
              <a:spcBef>
                <a:spcPts val="360"/>
              </a:spcBef>
              <a:spcAft>
                <a:spcPts val="0"/>
              </a:spcAft>
              <a:buClr>
                <a:schemeClr val="dk1"/>
              </a:buClr>
              <a:buSzPts val="1200"/>
              <a:buFont typeface="Arial"/>
              <a:buChar char="•"/>
            </a:pPr>
            <a:r>
              <a:rPr lang="en-US"/>
              <a:t> If </a:t>
            </a:r>
            <a:r>
              <a:rPr b="1" lang="en-US"/>
              <a:t>it is</a:t>
            </a:r>
            <a:r>
              <a:rPr lang="en-US"/>
              <a:t>, the real (physical) address is generated by combining the frame number with the offset. </a:t>
            </a:r>
            <a:endParaRPr/>
          </a:p>
          <a:p>
            <a:pPr indent="0" lvl="0" marL="0" rtl="0" algn="l">
              <a:spcBef>
                <a:spcPts val="360"/>
              </a:spcBef>
              <a:spcAft>
                <a:spcPts val="0"/>
              </a:spcAft>
              <a:buClr>
                <a:schemeClr val="dk1"/>
              </a:buClr>
              <a:buSzPts val="1200"/>
              <a:buFont typeface="Arial"/>
              <a:buNone/>
            </a:pPr>
            <a:r>
              <a:t/>
            </a:r>
            <a:endParaRPr/>
          </a:p>
          <a:p>
            <a:pPr indent="-76200" lvl="0" marL="0" rtl="0" algn="l">
              <a:spcBef>
                <a:spcPts val="360"/>
              </a:spcBef>
              <a:spcAft>
                <a:spcPts val="0"/>
              </a:spcAft>
              <a:buClr>
                <a:schemeClr val="dk1"/>
              </a:buClr>
              <a:buSzPts val="1200"/>
              <a:buFont typeface="Arial"/>
              <a:buChar char="•"/>
            </a:pPr>
            <a:r>
              <a:rPr lang="en-US"/>
              <a:t> If </a:t>
            </a:r>
            <a:r>
              <a:rPr b="1" lang="en-US"/>
              <a:t>not</a:t>
            </a:r>
            <a:r>
              <a:rPr lang="en-US"/>
              <a:t>, the entry is accessed from a page table. </a:t>
            </a:r>
            <a:endParaRPr/>
          </a:p>
          <a:p>
            <a:pPr indent="-76200" lvl="1" marL="457200" rtl="0" algn="l">
              <a:spcBef>
                <a:spcPts val="360"/>
              </a:spcBef>
              <a:spcAft>
                <a:spcPts val="0"/>
              </a:spcAft>
              <a:buClr>
                <a:schemeClr val="dk1"/>
              </a:buClr>
              <a:buSzPts val="1200"/>
              <a:buFont typeface="Arial"/>
              <a:buChar char="•"/>
            </a:pPr>
            <a:r>
              <a:rPr lang="en-US"/>
              <a:t> Once the real address is generated, which is in the form of a tag and a remainder, the cache is consulted to see if the block containing that word is present. </a:t>
            </a:r>
            <a:endParaRPr/>
          </a:p>
          <a:p>
            <a:pPr indent="-76200" lvl="2" marL="914400" rtl="0" algn="l">
              <a:spcBef>
                <a:spcPts val="360"/>
              </a:spcBef>
              <a:spcAft>
                <a:spcPts val="0"/>
              </a:spcAft>
              <a:buClr>
                <a:schemeClr val="dk1"/>
              </a:buClr>
              <a:buSzPts val="1200"/>
              <a:buFont typeface="Arial"/>
              <a:buChar char="•"/>
            </a:pPr>
            <a:r>
              <a:rPr lang="en-US"/>
              <a:t>If so, it is returned to the CPU. </a:t>
            </a:r>
            <a:endParaRPr/>
          </a:p>
          <a:p>
            <a:pPr indent="-76200" lvl="2" marL="914400" rtl="0" algn="l">
              <a:spcBef>
                <a:spcPts val="360"/>
              </a:spcBef>
              <a:spcAft>
                <a:spcPts val="0"/>
              </a:spcAft>
              <a:buClr>
                <a:schemeClr val="dk1"/>
              </a:buClr>
              <a:buSzPts val="1200"/>
              <a:buFont typeface="Arial"/>
              <a:buChar char="•"/>
            </a:pPr>
            <a:r>
              <a:rPr lang="en-US"/>
              <a:t>If not, the word is retrieved from main memory.</a:t>
            </a:r>
            <a:endParaRPr/>
          </a:p>
        </p:txBody>
      </p:sp>
      <p:sp>
        <p:nvSpPr>
          <p:cNvPr id="413" name="Google Shape;413;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19" name="Google Shape;419;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An important hardware design decision is the size of page to be used.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There are several factors to consider. </a:t>
            </a:r>
            <a:endParaRPr/>
          </a:p>
          <a:p>
            <a:pPr indent="-76200" lvl="1" marL="457200" rtl="0" algn="l">
              <a:spcBef>
                <a:spcPts val="360"/>
              </a:spcBef>
              <a:spcAft>
                <a:spcPts val="0"/>
              </a:spcAft>
              <a:buClr>
                <a:schemeClr val="dk1"/>
              </a:buClr>
              <a:buSzPts val="1200"/>
              <a:buFont typeface="Arial"/>
              <a:buChar char="•"/>
            </a:pPr>
            <a:r>
              <a:rPr lang="en-US"/>
              <a:t> </a:t>
            </a:r>
            <a:r>
              <a:rPr b="1" lang="en-US"/>
              <a:t>internal fragmentation. </a:t>
            </a:r>
            <a:r>
              <a:rPr lang="en-US"/>
              <a:t>Clearly, the smaller the page size, the less the amount of internal fragmentation. To optimize the use of main memory, we would like to reduce internal fragmentation. </a:t>
            </a:r>
            <a:endParaRPr/>
          </a:p>
          <a:p>
            <a:pPr indent="-76200" lvl="1" marL="457200" rtl="0" algn="l">
              <a:spcBef>
                <a:spcPts val="360"/>
              </a:spcBef>
              <a:spcAft>
                <a:spcPts val="0"/>
              </a:spcAft>
              <a:buClr>
                <a:schemeClr val="dk1"/>
              </a:buClr>
              <a:buSzPts val="1200"/>
              <a:buFont typeface="Arial"/>
              <a:buChar char="•"/>
            </a:pPr>
            <a:r>
              <a:rPr lang="en-US"/>
              <a:t> BUT </a:t>
            </a:r>
            <a:r>
              <a:rPr b="1" lang="en-US"/>
              <a:t>the smaller the page, the greater the number of pages required per process. </a:t>
            </a:r>
            <a:r>
              <a:rPr lang="en-US"/>
              <a:t>More pages per process means larger page tables. For large programs in a heavily multiprogrammed environment, this may mean that some portion of the page tables of active processes must be in virtual memory, not in main memory. </a:t>
            </a:r>
            <a:endParaRPr/>
          </a:p>
          <a:p>
            <a:pPr indent="-76200" lvl="1" marL="457200" rtl="0" algn="l">
              <a:spcBef>
                <a:spcPts val="360"/>
              </a:spcBef>
              <a:spcAft>
                <a:spcPts val="0"/>
              </a:spcAft>
              <a:buClr>
                <a:schemeClr val="dk1"/>
              </a:buClr>
              <a:buSzPts val="1200"/>
              <a:buFont typeface="Arial"/>
              <a:buChar char="•"/>
            </a:pPr>
            <a:r>
              <a:rPr lang="en-US"/>
              <a:t>The physical characteristics of most secondary-memory devices, which are rotational, favour a larger page size for more efficient block transfer of data</a:t>
            </a:r>
            <a:endParaRPr/>
          </a:p>
        </p:txBody>
      </p:sp>
      <p:sp>
        <p:nvSpPr>
          <p:cNvPr id="426" name="Google Shape;426;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Complicating these matters is the effect of page size on the rate at which page faults occur.</a:t>
            </a:r>
            <a:endParaRPr/>
          </a:p>
          <a:p>
            <a:pPr indent="0" lvl="0" marL="0" rtl="0" algn="l">
              <a:lnSpc>
                <a:spcPct val="90000"/>
              </a:lnSpc>
              <a:spcBef>
                <a:spcPts val="360"/>
              </a:spcBef>
              <a:spcAft>
                <a:spcPts val="0"/>
              </a:spcAft>
              <a:buNone/>
            </a:pPr>
            <a:r>
              <a:t/>
            </a:r>
            <a:endParaRPr/>
          </a:p>
          <a:p>
            <a:pPr indent="0" lvl="0" marL="0" rtl="0" algn="l">
              <a:lnSpc>
                <a:spcPct val="90000"/>
              </a:lnSpc>
              <a:spcBef>
                <a:spcPts val="360"/>
              </a:spcBef>
              <a:spcAft>
                <a:spcPts val="0"/>
              </a:spcAft>
              <a:buNone/>
            </a:pPr>
            <a:r>
              <a:rPr lang="en-US"/>
              <a:t>This behavior, is based on the principle of locality. </a:t>
            </a:r>
            <a:endParaRPr/>
          </a:p>
          <a:p>
            <a:pPr indent="0" lvl="0" marL="0" rtl="0" algn="l">
              <a:lnSpc>
                <a:spcPct val="90000"/>
              </a:lnSpc>
              <a:spcBef>
                <a:spcPts val="360"/>
              </a:spcBef>
              <a:spcAft>
                <a:spcPts val="0"/>
              </a:spcAft>
              <a:buNone/>
            </a:pPr>
            <a:r>
              <a:t/>
            </a:r>
            <a:endParaRPr/>
          </a:p>
          <a:p>
            <a:pPr indent="0" lvl="0" marL="0" rtl="0" algn="l">
              <a:lnSpc>
                <a:spcPct val="90000"/>
              </a:lnSpc>
              <a:spcBef>
                <a:spcPts val="360"/>
              </a:spcBef>
              <a:spcAft>
                <a:spcPts val="0"/>
              </a:spcAft>
              <a:buNone/>
            </a:pPr>
            <a:r>
              <a:rPr lang="en-US"/>
              <a:t>If the page size is very small, then ordinarily a relatively large number of pages will be available in main memory for a process.</a:t>
            </a:r>
            <a:endParaRPr/>
          </a:p>
          <a:p>
            <a:pPr indent="-76200" lvl="1" marL="457200" rtl="0" algn="l">
              <a:lnSpc>
                <a:spcPct val="90000"/>
              </a:lnSpc>
              <a:spcBef>
                <a:spcPts val="360"/>
              </a:spcBef>
              <a:spcAft>
                <a:spcPts val="0"/>
              </a:spcAft>
              <a:buClr>
                <a:schemeClr val="dk1"/>
              </a:buClr>
              <a:buSzPts val="1200"/>
              <a:buFont typeface="Arial"/>
              <a:buChar char="•"/>
            </a:pPr>
            <a:r>
              <a:rPr lang="en-US"/>
              <a:t> After a time, the pages in memory will all contain portions of the process near recent references.</a:t>
            </a:r>
            <a:endParaRPr/>
          </a:p>
          <a:p>
            <a:pPr indent="-76200" lvl="1" marL="457200" rtl="0" algn="l">
              <a:lnSpc>
                <a:spcPct val="90000"/>
              </a:lnSpc>
              <a:spcBef>
                <a:spcPts val="360"/>
              </a:spcBef>
              <a:spcAft>
                <a:spcPts val="0"/>
              </a:spcAft>
              <a:buClr>
                <a:schemeClr val="dk1"/>
              </a:buClr>
              <a:buSzPts val="1200"/>
              <a:buFont typeface="Arial"/>
              <a:buChar char="•"/>
            </a:pPr>
            <a:r>
              <a:rPr lang="en-US"/>
              <a:t> Thus, the page fault rate should be low.</a:t>
            </a:r>
            <a:endParaRPr/>
          </a:p>
          <a:p>
            <a:pPr indent="0" lvl="0" marL="0" rtl="0" algn="l">
              <a:lnSpc>
                <a:spcPct val="90000"/>
              </a:lnSpc>
              <a:spcBef>
                <a:spcPts val="360"/>
              </a:spcBef>
              <a:spcAft>
                <a:spcPts val="0"/>
              </a:spcAft>
              <a:buClr>
                <a:schemeClr val="dk1"/>
              </a:buClr>
              <a:buSzPts val="1200"/>
              <a:buFont typeface="Arial"/>
              <a:buNone/>
            </a:pPr>
            <a:r>
              <a:t/>
            </a:r>
            <a:endParaRPr/>
          </a:p>
          <a:p>
            <a:pPr indent="0" lvl="0" marL="0" rtl="0" algn="l">
              <a:lnSpc>
                <a:spcPct val="90000"/>
              </a:lnSpc>
              <a:spcBef>
                <a:spcPts val="360"/>
              </a:spcBef>
              <a:spcAft>
                <a:spcPts val="0"/>
              </a:spcAft>
              <a:buClr>
                <a:schemeClr val="dk1"/>
              </a:buClr>
              <a:buSzPts val="1200"/>
              <a:buFont typeface="Arial"/>
              <a:buNone/>
            </a:pPr>
            <a:r>
              <a:rPr lang="en-US"/>
              <a:t>As the size of the page is increased, each individual page will contain locations further and further from any particular recent reference.</a:t>
            </a:r>
            <a:endParaRPr/>
          </a:p>
          <a:p>
            <a:pPr indent="-76200" lvl="1" marL="457200" rtl="0" algn="l">
              <a:lnSpc>
                <a:spcPct val="90000"/>
              </a:lnSpc>
              <a:spcBef>
                <a:spcPts val="360"/>
              </a:spcBef>
              <a:spcAft>
                <a:spcPts val="0"/>
              </a:spcAft>
              <a:buClr>
                <a:schemeClr val="dk1"/>
              </a:buClr>
              <a:buSzPts val="1200"/>
              <a:buFont typeface="Arial"/>
              <a:buChar char="•"/>
            </a:pPr>
            <a:r>
              <a:rPr lang="en-US"/>
              <a:t> Thus the effect of the principle of locality is weakened and the page fault rate begins to rise. </a:t>
            </a:r>
            <a:endParaRPr/>
          </a:p>
          <a:p>
            <a:pPr indent="0" lvl="1" marL="457200" rtl="0" algn="l">
              <a:lnSpc>
                <a:spcPct val="90000"/>
              </a:lnSpc>
              <a:spcBef>
                <a:spcPts val="360"/>
              </a:spcBef>
              <a:spcAft>
                <a:spcPts val="0"/>
              </a:spcAft>
              <a:buClr>
                <a:schemeClr val="dk1"/>
              </a:buClr>
              <a:buSzPts val="1200"/>
              <a:buFont typeface="Arial"/>
              <a:buNone/>
            </a:pPr>
            <a:r>
              <a:t/>
            </a:r>
            <a:endParaRPr/>
          </a:p>
          <a:p>
            <a:pPr indent="0" lvl="0" marL="0" rtl="0" algn="l">
              <a:lnSpc>
                <a:spcPct val="90000"/>
              </a:lnSpc>
              <a:spcBef>
                <a:spcPts val="360"/>
              </a:spcBef>
              <a:spcAft>
                <a:spcPts val="0"/>
              </a:spcAft>
              <a:buClr>
                <a:schemeClr val="dk1"/>
              </a:buClr>
              <a:buSzPts val="1200"/>
              <a:buFont typeface="Arial"/>
              <a:buNone/>
            </a:pPr>
            <a:r>
              <a:rPr lang="en-US"/>
              <a:t>Eventually, however, the page fault rate will begin to fall as the size of a page approaches the size of the entire process (point </a:t>
            </a:r>
            <a:r>
              <a:rPr i="1" lang="en-US"/>
              <a:t>P</a:t>
            </a:r>
            <a:r>
              <a:rPr lang="en-US"/>
              <a:t> in the diagram).</a:t>
            </a:r>
            <a:endParaRPr/>
          </a:p>
          <a:p>
            <a:pPr indent="-76200" lvl="1" marL="457200" rtl="0" algn="l">
              <a:lnSpc>
                <a:spcPct val="90000"/>
              </a:lnSpc>
              <a:spcBef>
                <a:spcPts val="360"/>
              </a:spcBef>
              <a:spcAft>
                <a:spcPts val="0"/>
              </a:spcAft>
              <a:buClr>
                <a:schemeClr val="dk1"/>
              </a:buClr>
              <a:buSzPts val="1200"/>
              <a:buFont typeface="Arial"/>
              <a:buChar char="•"/>
            </a:pPr>
            <a:r>
              <a:rPr lang="en-US"/>
              <a:t> When a single page encompasses the entire process, there will be no page faults.</a:t>
            </a:r>
            <a:endParaRPr/>
          </a:p>
          <a:p>
            <a:pPr indent="0" lvl="1" marL="457200" rtl="0" algn="l">
              <a:lnSpc>
                <a:spcPct val="90000"/>
              </a:lnSpc>
              <a:spcBef>
                <a:spcPts val="360"/>
              </a:spcBef>
              <a:spcAft>
                <a:spcPts val="0"/>
              </a:spcAft>
              <a:buClr>
                <a:schemeClr val="dk1"/>
              </a:buClr>
              <a:buSzPts val="1200"/>
              <a:buFont typeface="Arial"/>
              <a:buNone/>
            </a:pPr>
            <a:r>
              <a:t/>
            </a:r>
            <a:endParaRPr/>
          </a:p>
        </p:txBody>
      </p:sp>
      <p:sp>
        <p:nvSpPr>
          <p:cNvPr id="433" name="Google Shape;433;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39" name="Google Shape;439;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Much of this is explained on the previous slide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further complication is that the page fault rate is also determined by the number of frames allocated to a process.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Figure 8.11b shows that, for a fixed page size, the fault rate drops as the number of pages maintained in main memory grows.</a:t>
            </a:r>
            <a:endParaRPr/>
          </a:p>
          <a:p>
            <a:pPr indent="-76200" lvl="1" marL="457200" rtl="0" algn="l">
              <a:spcBef>
                <a:spcPts val="360"/>
              </a:spcBef>
              <a:spcAft>
                <a:spcPts val="0"/>
              </a:spcAft>
              <a:buClr>
                <a:schemeClr val="dk1"/>
              </a:buClr>
              <a:buSzPts val="1200"/>
              <a:buFont typeface="Arial"/>
              <a:buChar char="•"/>
            </a:pPr>
            <a:r>
              <a:rPr lang="en-US"/>
              <a:t> Thus, a software policy (the amount of memory to allocate to each process) interacts with a hardware design decision (page size).</a:t>
            </a:r>
            <a:endParaRPr/>
          </a:p>
          <a:p>
            <a:pPr indent="0" lvl="0" marL="0" rtl="0" algn="l">
              <a:spcBef>
                <a:spcPts val="360"/>
              </a:spcBef>
              <a:spcAft>
                <a:spcPts val="0"/>
              </a:spcAft>
              <a:buNone/>
            </a:pPr>
            <a:r>
              <a:t/>
            </a:r>
            <a:endParaRPr/>
          </a:p>
        </p:txBody>
      </p:sp>
      <p:sp>
        <p:nvSpPr>
          <p:cNvPr id="446" name="Google Shape;446;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53" name="Google Shape;453;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59" name="Google Shape;459;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5" name="Google Shape;465;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1" name="Google Shape;471;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839"/>
              <a:t>Segmentation allows the programmer to view memory as consisting of multiple address spaces or segments. </a:t>
            </a:r>
            <a:endParaRPr/>
          </a:p>
          <a:p>
            <a:pPr indent="0" lvl="0" marL="0" rtl="0" algn="l">
              <a:lnSpc>
                <a:spcPct val="80000"/>
              </a:lnSpc>
              <a:spcBef>
                <a:spcPts val="252"/>
              </a:spcBef>
              <a:spcAft>
                <a:spcPts val="0"/>
              </a:spcAft>
              <a:buNone/>
            </a:pPr>
            <a:r>
              <a:t/>
            </a:r>
            <a:endParaRPr sz="839"/>
          </a:p>
          <a:p>
            <a:pPr indent="0" lvl="0" marL="0" rtl="0" algn="l">
              <a:lnSpc>
                <a:spcPct val="80000"/>
              </a:lnSpc>
              <a:spcBef>
                <a:spcPts val="252"/>
              </a:spcBef>
              <a:spcAft>
                <a:spcPts val="0"/>
              </a:spcAft>
              <a:buNone/>
            </a:pPr>
            <a:r>
              <a:rPr lang="en-US" sz="839"/>
              <a:t>Segments may be of unequal, indeed dynamic, size. </a:t>
            </a:r>
            <a:endParaRPr/>
          </a:p>
          <a:p>
            <a:pPr indent="0" lvl="0" marL="0" rtl="0" algn="l">
              <a:lnSpc>
                <a:spcPct val="80000"/>
              </a:lnSpc>
              <a:spcBef>
                <a:spcPts val="252"/>
              </a:spcBef>
              <a:spcAft>
                <a:spcPts val="0"/>
              </a:spcAft>
              <a:buNone/>
            </a:pPr>
            <a:r>
              <a:t/>
            </a:r>
            <a:endParaRPr sz="839"/>
          </a:p>
          <a:p>
            <a:pPr indent="0" lvl="0" marL="0" rtl="0" algn="l">
              <a:lnSpc>
                <a:spcPct val="80000"/>
              </a:lnSpc>
              <a:spcBef>
                <a:spcPts val="252"/>
              </a:spcBef>
              <a:spcAft>
                <a:spcPts val="0"/>
              </a:spcAft>
              <a:buNone/>
            </a:pPr>
            <a:r>
              <a:rPr lang="en-US" sz="839"/>
              <a:t>Memory references consist of a form of address (segment number, offset).</a:t>
            </a:r>
            <a:endParaRPr/>
          </a:p>
          <a:p>
            <a:pPr indent="0" lvl="0" marL="0" rtl="0" algn="l">
              <a:lnSpc>
                <a:spcPct val="80000"/>
              </a:lnSpc>
              <a:spcBef>
                <a:spcPts val="252"/>
              </a:spcBef>
              <a:spcAft>
                <a:spcPts val="0"/>
              </a:spcAft>
              <a:buNone/>
            </a:pPr>
            <a:r>
              <a:t/>
            </a:r>
            <a:endParaRPr sz="839"/>
          </a:p>
          <a:p>
            <a:pPr indent="0" lvl="0" marL="0" rtl="0" algn="l">
              <a:lnSpc>
                <a:spcPct val="80000"/>
              </a:lnSpc>
              <a:spcBef>
                <a:spcPts val="252"/>
              </a:spcBef>
              <a:spcAft>
                <a:spcPts val="0"/>
              </a:spcAft>
              <a:buNone/>
            </a:pPr>
            <a:r>
              <a:rPr lang="en-US" sz="839"/>
              <a:t>This organization has a number of advantages to the programmer over a nonsegmented address space:</a:t>
            </a:r>
            <a:endParaRPr/>
          </a:p>
          <a:p>
            <a:pPr indent="0" lvl="0" marL="0" rtl="0" algn="l">
              <a:lnSpc>
                <a:spcPct val="80000"/>
              </a:lnSpc>
              <a:spcBef>
                <a:spcPts val="252"/>
              </a:spcBef>
              <a:spcAft>
                <a:spcPts val="0"/>
              </a:spcAft>
              <a:buNone/>
            </a:pPr>
            <a:r>
              <a:t/>
            </a:r>
            <a:endParaRPr sz="839"/>
          </a:p>
          <a:p>
            <a:pPr indent="-228600" lvl="0" marL="228600" rtl="0" algn="l">
              <a:lnSpc>
                <a:spcPct val="80000"/>
              </a:lnSpc>
              <a:spcBef>
                <a:spcPts val="252"/>
              </a:spcBef>
              <a:spcAft>
                <a:spcPts val="0"/>
              </a:spcAft>
              <a:buClr>
                <a:schemeClr val="dk1"/>
              </a:buClr>
              <a:buSzPts val="839"/>
              <a:buFont typeface="Calibri"/>
              <a:buAutoNum type="arabicPeriod"/>
            </a:pPr>
            <a:r>
              <a:rPr b="1" lang="en-US" sz="839"/>
              <a:t>It simplifies the handling of growing data structures</a:t>
            </a:r>
            <a:r>
              <a:rPr lang="en-US" sz="839"/>
              <a:t>. </a:t>
            </a:r>
            <a:endParaRPr/>
          </a:p>
          <a:p>
            <a:pPr indent="-228600" lvl="1" marL="685800" rtl="0" algn="l">
              <a:lnSpc>
                <a:spcPct val="80000"/>
              </a:lnSpc>
              <a:spcBef>
                <a:spcPts val="252"/>
              </a:spcBef>
              <a:spcAft>
                <a:spcPts val="0"/>
              </a:spcAft>
              <a:buClr>
                <a:schemeClr val="dk1"/>
              </a:buClr>
              <a:buSzPts val="839"/>
              <a:buFont typeface="Arial"/>
              <a:buChar char="•"/>
            </a:pPr>
            <a:r>
              <a:rPr lang="en-US" sz="839"/>
              <a:t>If the programmer doesn’t know ahead of time how large a particular data structure will become, it is necessary to guess unless dynamic segment sizes are allowed. With segmented virtual memory, the data structure can be assigned its own segment, and the operating system will expand or shrink the segment as needed. </a:t>
            </a:r>
            <a:endParaRPr/>
          </a:p>
          <a:p>
            <a:pPr indent="-228600" lvl="1" marL="685800" rtl="0" algn="l">
              <a:lnSpc>
                <a:spcPct val="80000"/>
              </a:lnSpc>
              <a:spcBef>
                <a:spcPts val="252"/>
              </a:spcBef>
              <a:spcAft>
                <a:spcPts val="0"/>
              </a:spcAft>
              <a:buClr>
                <a:schemeClr val="dk1"/>
              </a:buClr>
              <a:buSzPts val="839"/>
              <a:buFont typeface="Arial"/>
              <a:buChar char="•"/>
            </a:pPr>
            <a:r>
              <a:rPr lang="en-US" sz="839"/>
              <a:t>If a segment that needs to be expanded is in main memory and there is insufficient room, the operating system may move the segment to a larger area of main memory, if available, or swap it out. The enlarged segment would be swapped back in at the next opportunity.</a:t>
            </a:r>
            <a:endParaRPr/>
          </a:p>
          <a:p>
            <a:pPr indent="0" lvl="0" marL="0" rtl="0" algn="l">
              <a:lnSpc>
                <a:spcPct val="80000"/>
              </a:lnSpc>
              <a:spcBef>
                <a:spcPts val="252"/>
              </a:spcBef>
              <a:spcAft>
                <a:spcPts val="0"/>
              </a:spcAft>
              <a:buNone/>
            </a:pPr>
            <a:r>
              <a:t/>
            </a:r>
            <a:endParaRPr sz="839"/>
          </a:p>
          <a:p>
            <a:pPr indent="0" lvl="0" marL="0" rtl="0" algn="l">
              <a:lnSpc>
                <a:spcPct val="80000"/>
              </a:lnSpc>
              <a:spcBef>
                <a:spcPts val="252"/>
              </a:spcBef>
              <a:spcAft>
                <a:spcPts val="0"/>
              </a:spcAft>
              <a:buNone/>
            </a:pPr>
            <a:r>
              <a:rPr lang="en-US" sz="839"/>
              <a:t>2. </a:t>
            </a:r>
            <a:r>
              <a:rPr b="1" lang="en-US" sz="839"/>
              <a:t>It allows programs to be altered and recompiled independently, </a:t>
            </a:r>
            <a:endParaRPr/>
          </a:p>
          <a:p>
            <a:pPr indent="-53276" lvl="1" marL="457200" rtl="0" algn="l">
              <a:lnSpc>
                <a:spcPct val="80000"/>
              </a:lnSpc>
              <a:spcBef>
                <a:spcPts val="252"/>
              </a:spcBef>
              <a:spcAft>
                <a:spcPts val="0"/>
              </a:spcAft>
              <a:buClr>
                <a:schemeClr val="dk1"/>
              </a:buClr>
              <a:buSzPts val="839"/>
              <a:buFont typeface="Arial"/>
              <a:buChar char="•"/>
            </a:pPr>
            <a:r>
              <a:rPr b="1" lang="en-US" sz="839"/>
              <a:t> </a:t>
            </a:r>
            <a:r>
              <a:rPr lang="en-US" sz="839"/>
              <a:t>without requiring the entire set of programs to be relinked and reloaded.</a:t>
            </a:r>
            <a:endParaRPr/>
          </a:p>
          <a:p>
            <a:pPr indent="-53276" lvl="1" marL="457200" rtl="0" algn="l">
              <a:lnSpc>
                <a:spcPct val="80000"/>
              </a:lnSpc>
              <a:spcBef>
                <a:spcPts val="252"/>
              </a:spcBef>
              <a:spcAft>
                <a:spcPts val="0"/>
              </a:spcAft>
              <a:buClr>
                <a:schemeClr val="dk1"/>
              </a:buClr>
              <a:buSzPts val="839"/>
              <a:buFont typeface="Arial"/>
              <a:buChar char="•"/>
            </a:pPr>
            <a:r>
              <a:rPr lang="en-US" sz="839"/>
              <a:t> Again, this is accomplished using multiple segments.</a:t>
            </a:r>
            <a:endParaRPr/>
          </a:p>
          <a:p>
            <a:pPr indent="0" lvl="1" marL="457200" rtl="0" algn="l">
              <a:lnSpc>
                <a:spcPct val="80000"/>
              </a:lnSpc>
              <a:spcBef>
                <a:spcPts val="252"/>
              </a:spcBef>
              <a:spcAft>
                <a:spcPts val="0"/>
              </a:spcAft>
              <a:buClr>
                <a:schemeClr val="dk1"/>
              </a:buClr>
              <a:buSzPts val="840"/>
              <a:buFont typeface="Arial"/>
              <a:buNone/>
            </a:pPr>
            <a:r>
              <a:t/>
            </a:r>
            <a:endParaRPr sz="839"/>
          </a:p>
          <a:p>
            <a:pPr indent="0" lvl="0" marL="0" rtl="0" algn="l">
              <a:lnSpc>
                <a:spcPct val="80000"/>
              </a:lnSpc>
              <a:spcBef>
                <a:spcPts val="252"/>
              </a:spcBef>
              <a:spcAft>
                <a:spcPts val="0"/>
              </a:spcAft>
              <a:buNone/>
            </a:pPr>
            <a:r>
              <a:rPr lang="en-US" sz="839"/>
              <a:t>3. </a:t>
            </a:r>
            <a:r>
              <a:rPr b="1" lang="en-US" sz="839"/>
              <a:t>It lends itself to sharing among processes</a:t>
            </a:r>
            <a:r>
              <a:rPr lang="en-US" sz="839"/>
              <a:t>. </a:t>
            </a:r>
            <a:endParaRPr/>
          </a:p>
          <a:p>
            <a:pPr indent="-53276" lvl="1" marL="457200" rtl="0" algn="l">
              <a:lnSpc>
                <a:spcPct val="80000"/>
              </a:lnSpc>
              <a:spcBef>
                <a:spcPts val="252"/>
              </a:spcBef>
              <a:spcAft>
                <a:spcPts val="0"/>
              </a:spcAft>
              <a:buClr>
                <a:schemeClr val="dk1"/>
              </a:buClr>
              <a:buSzPts val="839"/>
              <a:buFont typeface="Arial"/>
              <a:buChar char="•"/>
            </a:pPr>
            <a:r>
              <a:rPr lang="en-US" sz="839"/>
              <a:t> A programmer can place a utility program or a useful table of data in a segment that can be referenced by other processes.</a:t>
            </a:r>
            <a:endParaRPr/>
          </a:p>
          <a:p>
            <a:pPr indent="0" lvl="1" marL="457200" rtl="0" algn="l">
              <a:lnSpc>
                <a:spcPct val="80000"/>
              </a:lnSpc>
              <a:spcBef>
                <a:spcPts val="252"/>
              </a:spcBef>
              <a:spcAft>
                <a:spcPts val="0"/>
              </a:spcAft>
              <a:buClr>
                <a:schemeClr val="dk1"/>
              </a:buClr>
              <a:buSzPts val="840"/>
              <a:buFont typeface="Arial"/>
              <a:buNone/>
            </a:pPr>
            <a:r>
              <a:t/>
            </a:r>
            <a:endParaRPr sz="839"/>
          </a:p>
          <a:p>
            <a:pPr indent="0" lvl="0" marL="0" rtl="0" algn="l">
              <a:lnSpc>
                <a:spcPct val="80000"/>
              </a:lnSpc>
              <a:spcBef>
                <a:spcPts val="252"/>
              </a:spcBef>
              <a:spcAft>
                <a:spcPts val="0"/>
              </a:spcAft>
              <a:buNone/>
            </a:pPr>
            <a:r>
              <a:rPr lang="en-US" sz="839"/>
              <a:t>4. </a:t>
            </a:r>
            <a:r>
              <a:rPr b="1" lang="en-US" sz="839"/>
              <a:t>It lends itself to protection.</a:t>
            </a:r>
            <a:endParaRPr/>
          </a:p>
          <a:p>
            <a:pPr indent="-53276" lvl="1" marL="457200" rtl="0" algn="l">
              <a:lnSpc>
                <a:spcPct val="80000"/>
              </a:lnSpc>
              <a:spcBef>
                <a:spcPts val="252"/>
              </a:spcBef>
              <a:spcAft>
                <a:spcPts val="0"/>
              </a:spcAft>
              <a:buClr>
                <a:schemeClr val="dk1"/>
              </a:buClr>
              <a:buSzPts val="839"/>
              <a:buFont typeface="Arial"/>
              <a:buChar char="•"/>
            </a:pPr>
            <a:r>
              <a:rPr b="1" lang="en-US" sz="839"/>
              <a:t> </a:t>
            </a:r>
            <a:r>
              <a:rPr lang="en-US" sz="839"/>
              <a:t>Because a segment can be constructed to contain a well-defined set of programs or data, the programmer or system administrator can assign access privileges in a convenient fashion.</a:t>
            </a:r>
            <a:endParaRPr sz="839"/>
          </a:p>
        </p:txBody>
      </p:sp>
      <p:sp>
        <p:nvSpPr>
          <p:cNvPr id="472" name="Google Shape;472;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110"/>
              <a:t>Each segment table entry contains the starting address of the corresponding segment in main memory, as well as the length of the segment.</a:t>
            </a:r>
            <a:endParaRPr/>
          </a:p>
          <a:p>
            <a:pPr indent="0" lvl="0" marL="0" rtl="0" algn="l">
              <a:spcBef>
                <a:spcPts val="333"/>
              </a:spcBef>
              <a:spcAft>
                <a:spcPts val="0"/>
              </a:spcAft>
              <a:buNone/>
            </a:pPr>
            <a:r>
              <a:t/>
            </a:r>
            <a:endParaRPr sz="1110"/>
          </a:p>
          <a:p>
            <a:pPr indent="0" lvl="0" marL="0" rtl="0" algn="l">
              <a:spcBef>
                <a:spcPts val="333"/>
              </a:spcBef>
              <a:spcAft>
                <a:spcPts val="0"/>
              </a:spcAft>
              <a:buNone/>
            </a:pPr>
            <a:r>
              <a:rPr lang="en-US" sz="1110"/>
              <a:t>The same device, a segment table, is needed when we consider a virtual memory scheme based on segmentation. </a:t>
            </a:r>
            <a:endParaRPr/>
          </a:p>
          <a:p>
            <a:pPr indent="-70484" lvl="1" marL="457200" rtl="0" algn="l">
              <a:spcBef>
                <a:spcPts val="333"/>
              </a:spcBef>
              <a:spcAft>
                <a:spcPts val="0"/>
              </a:spcAft>
              <a:buClr>
                <a:schemeClr val="dk1"/>
              </a:buClr>
              <a:buSzPts val="1110"/>
              <a:buFont typeface="Arial"/>
              <a:buChar char="•"/>
            </a:pPr>
            <a:r>
              <a:rPr lang="en-US" sz="1110"/>
              <a:t> Again, it is typical to associate a unique segment table with each process. </a:t>
            </a:r>
            <a:endParaRPr/>
          </a:p>
          <a:p>
            <a:pPr indent="0" lvl="0" marL="0" rtl="0" algn="l">
              <a:spcBef>
                <a:spcPts val="333"/>
              </a:spcBef>
              <a:spcAft>
                <a:spcPts val="0"/>
              </a:spcAft>
              <a:buClr>
                <a:schemeClr val="dk1"/>
              </a:buClr>
              <a:buSzPts val="1110"/>
              <a:buFont typeface="Arial"/>
              <a:buNone/>
            </a:pPr>
            <a:r>
              <a:t/>
            </a:r>
            <a:endParaRPr sz="1110"/>
          </a:p>
          <a:p>
            <a:pPr indent="0" lvl="0" marL="0" rtl="0" algn="l">
              <a:spcBef>
                <a:spcPts val="333"/>
              </a:spcBef>
              <a:spcAft>
                <a:spcPts val="0"/>
              </a:spcAft>
              <a:buClr>
                <a:schemeClr val="dk1"/>
              </a:buClr>
              <a:buSzPts val="1110"/>
              <a:buFont typeface="Arial"/>
              <a:buNone/>
            </a:pPr>
            <a:r>
              <a:rPr b="1" lang="en-US" sz="1110"/>
              <a:t>But </a:t>
            </a:r>
            <a:r>
              <a:rPr b="0" lang="en-US" sz="1110"/>
              <a:t>b</a:t>
            </a:r>
            <a:r>
              <a:rPr lang="en-US" sz="1110"/>
              <a:t>ecause only some of the segments of a process may be in main memory, a bit is needed in each segment table entry to indicate whether the corresponding segment is present in main memory or not.</a:t>
            </a:r>
            <a:endParaRPr/>
          </a:p>
          <a:p>
            <a:pPr indent="-70484" lvl="1" marL="457200" rtl="0" algn="l">
              <a:spcBef>
                <a:spcPts val="333"/>
              </a:spcBef>
              <a:spcAft>
                <a:spcPts val="0"/>
              </a:spcAft>
              <a:buClr>
                <a:schemeClr val="dk1"/>
              </a:buClr>
              <a:buSzPts val="1110"/>
              <a:buFont typeface="Arial"/>
              <a:buChar char="•"/>
            </a:pPr>
            <a:r>
              <a:rPr lang="en-US" sz="1110"/>
              <a:t> If the bit indicates that the segment is in memory, then the entry also includes the starting address and length of that segment.</a:t>
            </a:r>
            <a:endParaRPr/>
          </a:p>
          <a:p>
            <a:pPr indent="0" lvl="1" marL="457200" rtl="0" algn="l">
              <a:spcBef>
                <a:spcPts val="333"/>
              </a:spcBef>
              <a:spcAft>
                <a:spcPts val="0"/>
              </a:spcAft>
              <a:buClr>
                <a:schemeClr val="dk1"/>
              </a:buClr>
              <a:buSzPts val="1110"/>
              <a:buFont typeface="Arial"/>
              <a:buNone/>
            </a:pPr>
            <a:r>
              <a:t/>
            </a:r>
            <a:endParaRPr sz="1110"/>
          </a:p>
          <a:p>
            <a:pPr indent="0" lvl="0" marL="0" rtl="0" algn="l">
              <a:spcBef>
                <a:spcPts val="333"/>
              </a:spcBef>
              <a:spcAft>
                <a:spcPts val="0"/>
              </a:spcAft>
              <a:buNone/>
            </a:pPr>
            <a:r>
              <a:rPr lang="en-US" sz="1110"/>
              <a:t>Another control bit in the segmentation table entry is a </a:t>
            </a:r>
            <a:r>
              <a:rPr b="1" lang="en-US" sz="1110"/>
              <a:t>modify bit</a:t>
            </a:r>
            <a:r>
              <a:rPr lang="en-US" sz="1110"/>
              <a:t>, indicating whether the contents of the corresponding segment have been altered since the segment was last loaded into main memory. </a:t>
            </a:r>
            <a:endParaRPr/>
          </a:p>
          <a:p>
            <a:pPr indent="-70484" lvl="1" marL="457200" rtl="0" algn="l">
              <a:spcBef>
                <a:spcPts val="333"/>
              </a:spcBef>
              <a:spcAft>
                <a:spcPts val="0"/>
              </a:spcAft>
              <a:buClr>
                <a:schemeClr val="dk1"/>
              </a:buClr>
              <a:buSzPts val="1110"/>
              <a:buFont typeface="Arial"/>
              <a:buChar char="•"/>
            </a:pPr>
            <a:r>
              <a:rPr lang="en-US" sz="1110"/>
              <a:t> If there has been no change, then it is not necessary to write the segment out when it comes time to replace the segment in the frame that it currently occupies. </a:t>
            </a:r>
            <a:endParaRPr/>
          </a:p>
          <a:p>
            <a:pPr indent="0" lvl="0" marL="0" rtl="0" algn="l">
              <a:spcBef>
                <a:spcPts val="333"/>
              </a:spcBef>
              <a:spcAft>
                <a:spcPts val="0"/>
              </a:spcAft>
              <a:buClr>
                <a:schemeClr val="dk1"/>
              </a:buClr>
              <a:buSzPts val="1110"/>
              <a:buFont typeface="Arial"/>
              <a:buNone/>
            </a:pPr>
            <a:r>
              <a:t/>
            </a:r>
            <a:endParaRPr sz="1110"/>
          </a:p>
          <a:p>
            <a:pPr indent="0" lvl="0" marL="0" rtl="0" algn="l">
              <a:spcBef>
                <a:spcPts val="333"/>
              </a:spcBef>
              <a:spcAft>
                <a:spcPts val="0"/>
              </a:spcAft>
              <a:buClr>
                <a:schemeClr val="dk1"/>
              </a:buClr>
              <a:buSzPts val="1110"/>
              <a:buFont typeface="Arial"/>
              <a:buNone/>
            </a:pPr>
            <a:r>
              <a:rPr lang="en-US" sz="1110"/>
              <a:t>Other control bits may also be present.</a:t>
            </a:r>
            <a:endParaRPr/>
          </a:p>
        </p:txBody>
      </p:sp>
      <p:sp>
        <p:nvSpPr>
          <p:cNvPr id="479" name="Google Shape;479;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86" name="Google Shape;486;p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2" name="Google Shape;492;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Reading a word from memory involves the translation of a virtual, or logical, address, consisting of segment number and offset, into a physical address, using a segment table. </a:t>
            </a:r>
            <a:endParaRPr/>
          </a:p>
          <a:p>
            <a:pPr indent="0" lvl="0" marL="0" rtl="0" algn="l">
              <a:lnSpc>
                <a:spcPct val="90000"/>
              </a:lnSpc>
              <a:spcBef>
                <a:spcPts val="360"/>
              </a:spcBef>
              <a:spcAft>
                <a:spcPts val="0"/>
              </a:spcAft>
              <a:buNone/>
            </a:pPr>
            <a:r>
              <a:t/>
            </a:r>
            <a:endParaRPr/>
          </a:p>
          <a:p>
            <a:pPr indent="0" lvl="0" marL="0" rtl="0" algn="l">
              <a:lnSpc>
                <a:spcPct val="90000"/>
              </a:lnSpc>
              <a:spcBef>
                <a:spcPts val="360"/>
              </a:spcBef>
              <a:spcAft>
                <a:spcPts val="0"/>
              </a:spcAft>
              <a:buClr>
                <a:schemeClr val="dk1"/>
              </a:buClr>
              <a:buSzPts val="1200"/>
              <a:buFont typeface="Arial"/>
              <a:buNone/>
            </a:pPr>
            <a:r>
              <a:rPr lang="en-US"/>
              <a:t>We cannot expect to hold the segment table in registers because it is of variable length, depending on the size of the process</a:t>
            </a:r>
            <a:endParaRPr/>
          </a:p>
          <a:p>
            <a:pPr indent="-76200" lvl="1" marL="457200" rtl="0" algn="l">
              <a:lnSpc>
                <a:spcPct val="90000"/>
              </a:lnSpc>
              <a:spcBef>
                <a:spcPts val="360"/>
              </a:spcBef>
              <a:spcAft>
                <a:spcPts val="0"/>
              </a:spcAft>
              <a:buClr>
                <a:schemeClr val="dk1"/>
              </a:buClr>
              <a:buSzPts val="1200"/>
              <a:buFont typeface="Arial"/>
              <a:buChar char="•"/>
            </a:pPr>
            <a:r>
              <a:rPr lang="en-US"/>
              <a:t> Instead, it must be in main memory to be accessed. </a:t>
            </a:r>
            <a:endParaRPr/>
          </a:p>
          <a:p>
            <a:pPr indent="0" lvl="1" marL="457200" rtl="0" algn="l">
              <a:lnSpc>
                <a:spcPct val="90000"/>
              </a:lnSpc>
              <a:spcBef>
                <a:spcPts val="360"/>
              </a:spcBef>
              <a:spcAft>
                <a:spcPts val="0"/>
              </a:spcAft>
              <a:buClr>
                <a:schemeClr val="dk1"/>
              </a:buClr>
              <a:buSzPts val="1200"/>
              <a:buFont typeface="Arial"/>
              <a:buNone/>
            </a:pPr>
            <a:r>
              <a:t/>
            </a:r>
            <a:endParaRPr/>
          </a:p>
          <a:p>
            <a:pPr indent="0" lvl="0" marL="0" rtl="0" algn="l">
              <a:lnSpc>
                <a:spcPct val="90000"/>
              </a:lnSpc>
              <a:spcBef>
                <a:spcPts val="360"/>
              </a:spcBef>
              <a:spcAft>
                <a:spcPts val="0"/>
              </a:spcAft>
              <a:buClr>
                <a:schemeClr val="dk1"/>
              </a:buClr>
              <a:buSzPts val="1200"/>
              <a:buFont typeface="Arial"/>
              <a:buNone/>
            </a:pPr>
            <a:r>
              <a:rPr lang="en-US"/>
              <a:t>This figure suggests a hardware implementation of this scheme (note similarity to Figure 8.3).</a:t>
            </a:r>
            <a:endParaRPr/>
          </a:p>
          <a:p>
            <a:pPr indent="0" lvl="0" marL="0" rtl="0" algn="l">
              <a:lnSpc>
                <a:spcPct val="90000"/>
              </a:lnSpc>
              <a:spcBef>
                <a:spcPts val="360"/>
              </a:spcBef>
              <a:spcAft>
                <a:spcPts val="0"/>
              </a:spcAft>
              <a:buClr>
                <a:schemeClr val="dk1"/>
              </a:buClr>
              <a:buSzPts val="1200"/>
              <a:buFont typeface="Arial"/>
              <a:buNone/>
            </a:pPr>
            <a:r>
              <a:t/>
            </a:r>
            <a:endParaRPr/>
          </a:p>
          <a:p>
            <a:pPr indent="0" lvl="0" marL="0" rtl="0" algn="l">
              <a:lnSpc>
                <a:spcPct val="90000"/>
              </a:lnSpc>
              <a:spcBef>
                <a:spcPts val="360"/>
              </a:spcBef>
              <a:spcAft>
                <a:spcPts val="0"/>
              </a:spcAft>
              <a:buClr>
                <a:schemeClr val="dk1"/>
              </a:buClr>
              <a:buSzPts val="1200"/>
              <a:buFont typeface="Arial"/>
              <a:buNone/>
            </a:pPr>
            <a:r>
              <a:rPr lang="en-US"/>
              <a:t>When a particular process is running, a register holds the starting address of the segment table for that process.</a:t>
            </a:r>
            <a:endParaRPr/>
          </a:p>
          <a:p>
            <a:pPr indent="-76200" lvl="1" marL="457200" rtl="0" algn="l">
              <a:lnSpc>
                <a:spcPct val="90000"/>
              </a:lnSpc>
              <a:spcBef>
                <a:spcPts val="360"/>
              </a:spcBef>
              <a:spcAft>
                <a:spcPts val="0"/>
              </a:spcAft>
              <a:buClr>
                <a:schemeClr val="dk1"/>
              </a:buClr>
              <a:buSzPts val="1200"/>
              <a:buFont typeface="Arial"/>
              <a:buChar char="•"/>
            </a:pPr>
            <a:r>
              <a:rPr lang="en-US"/>
              <a:t>The segment number of a virtual address is used to index that table and look up the corresponding main memory address for the start of the segment.</a:t>
            </a:r>
            <a:endParaRPr/>
          </a:p>
          <a:p>
            <a:pPr indent="-76200" lvl="1" marL="457200" rtl="0" algn="l">
              <a:lnSpc>
                <a:spcPct val="90000"/>
              </a:lnSpc>
              <a:spcBef>
                <a:spcPts val="360"/>
              </a:spcBef>
              <a:spcAft>
                <a:spcPts val="0"/>
              </a:spcAft>
              <a:buClr>
                <a:schemeClr val="dk1"/>
              </a:buClr>
              <a:buSzPts val="1200"/>
              <a:buFont typeface="Arial"/>
              <a:buChar char="•"/>
            </a:pPr>
            <a:r>
              <a:rPr lang="en-US"/>
              <a:t> This is added to the offset portion of the virtual address to produce the desired real address.</a:t>
            </a:r>
            <a:endParaRPr/>
          </a:p>
        </p:txBody>
      </p:sp>
      <p:sp>
        <p:nvSpPr>
          <p:cNvPr id="493" name="Google Shape;493;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In a combined paging/segmentation system, a user’s address space is broken up into a number of segments, </a:t>
            </a:r>
            <a:endParaRPr/>
          </a:p>
          <a:p>
            <a:pPr indent="-76200" lvl="1" marL="457200" rtl="0" algn="l">
              <a:spcBef>
                <a:spcPts val="360"/>
              </a:spcBef>
              <a:spcAft>
                <a:spcPts val="0"/>
              </a:spcAft>
              <a:buClr>
                <a:schemeClr val="dk1"/>
              </a:buClr>
              <a:buSzPts val="1200"/>
              <a:buFont typeface="Arial"/>
              <a:buChar char="•"/>
            </a:pPr>
            <a:r>
              <a:rPr lang="en-US"/>
              <a:t> at the discretion of the programmer.</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lang="en-US"/>
              <a:t>Each segment is, in turn, broken up into a number of fixed-size pages, </a:t>
            </a:r>
            <a:endParaRPr/>
          </a:p>
          <a:p>
            <a:pPr indent="-76200" lvl="1" marL="457200" rtl="0" algn="l">
              <a:spcBef>
                <a:spcPts val="360"/>
              </a:spcBef>
              <a:spcAft>
                <a:spcPts val="0"/>
              </a:spcAft>
              <a:buClr>
                <a:schemeClr val="dk1"/>
              </a:buClr>
              <a:buSzPts val="1200"/>
              <a:buFont typeface="Arial"/>
              <a:buChar char="•"/>
            </a:pPr>
            <a:r>
              <a:rPr lang="en-US"/>
              <a:t> which are equal in length to a main memory frame.</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lang="en-US"/>
              <a:t> If a segment has length less than that of a page, the segment occupies just one page. </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lang="en-US"/>
              <a:t>From the programmer’s point of view, a logical address still consists of a segment number and a segment offset. </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lang="en-US"/>
              <a:t>From the system’s point of view, the segment offset is viewed as a page number and page offset for a page within the specified segment.</a:t>
            </a:r>
            <a:endParaRPr/>
          </a:p>
        </p:txBody>
      </p:sp>
      <p:sp>
        <p:nvSpPr>
          <p:cNvPr id="500" name="Google Shape;500;p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This figure (8.2c) suggests the segment table entry and page table entry formats.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As before, the segment table entry contains the length of the segment.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It also contains a base field, which now refers to a page table.</a:t>
            </a:r>
            <a:endParaRPr/>
          </a:p>
          <a:p>
            <a:pPr indent="-76200" lvl="1" marL="457200" rtl="0" algn="l">
              <a:spcBef>
                <a:spcPts val="360"/>
              </a:spcBef>
              <a:spcAft>
                <a:spcPts val="0"/>
              </a:spcAft>
              <a:buClr>
                <a:schemeClr val="dk1"/>
              </a:buClr>
              <a:buSzPts val="1200"/>
              <a:buFont typeface="Arial"/>
              <a:buChar char="•"/>
            </a:pPr>
            <a:r>
              <a:rPr lang="en-US"/>
              <a:t> The present and modified bits are not needed because these matters are handled at the page level.</a:t>
            </a:r>
            <a:endParaRPr/>
          </a:p>
          <a:p>
            <a:pPr indent="-76200" lvl="1" marL="457200" rtl="0" algn="l">
              <a:spcBef>
                <a:spcPts val="360"/>
              </a:spcBef>
              <a:spcAft>
                <a:spcPts val="0"/>
              </a:spcAft>
              <a:buClr>
                <a:schemeClr val="dk1"/>
              </a:buClr>
              <a:buSzPts val="1200"/>
              <a:buFont typeface="Arial"/>
              <a:buChar char="•"/>
            </a:pPr>
            <a:r>
              <a:rPr lang="en-US"/>
              <a:t> Other control bits may be used, for purposes of sharing and protection.</a:t>
            </a:r>
            <a:endParaRPr/>
          </a:p>
          <a:p>
            <a:pPr indent="0" lvl="1" marL="45720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lang="en-US"/>
              <a:t>The page table entry is essentially the same as is used in a pure paging system. </a:t>
            </a:r>
            <a:endParaRPr/>
          </a:p>
          <a:p>
            <a:pPr indent="-76200" lvl="1" marL="457200" rtl="0" algn="l">
              <a:spcBef>
                <a:spcPts val="360"/>
              </a:spcBef>
              <a:spcAft>
                <a:spcPts val="0"/>
              </a:spcAft>
              <a:buClr>
                <a:schemeClr val="dk1"/>
              </a:buClr>
              <a:buSzPts val="1200"/>
              <a:buFont typeface="Arial"/>
              <a:buChar char="•"/>
            </a:pPr>
            <a:r>
              <a:rPr lang="en-US"/>
              <a:t> Each page number is mapped into a corresponding frame number if the page is present in main memory.</a:t>
            </a:r>
            <a:endParaRPr/>
          </a:p>
          <a:p>
            <a:pPr indent="-76200" lvl="1" marL="457200" rtl="0" algn="l">
              <a:spcBef>
                <a:spcPts val="360"/>
              </a:spcBef>
              <a:spcAft>
                <a:spcPts val="0"/>
              </a:spcAft>
              <a:buClr>
                <a:schemeClr val="dk1"/>
              </a:buClr>
              <a:buSzPts val="1200"/>
              <a:buFont typeface="Arial"/>
              <a:buChar char="•"/>
            </a:pPr>
            <a:r>
              <a:rPr lang="en-US"/>
              <a:t> The modified bit indicates whether this page needs to be written back out when the frame is allocated to another page.</a:t>
            </a:r>
            <a:endParaRPr/>
          </a:p>
          <a:p>
            <a:pPr indent="-76200" lvl="1" marL="457200" rtl="0" algn="l">
              <a:spcBef>
                <a:spcPts val="360"/>
              </a:spcBef>
              <a:spcAft>
                <a:spcPts val="0"/>
              </a:spcAft>
              <a:buClr>
                <a:schemeClr val="dk1"/>
              </a:buClr>
              <a:buSzPts val="1200"/>
              <a:buFont typeface="Arial"/>
              <a:buChar char="•"/>
            </a:pPr>
            <a:r>
              <a:rPr lang="en-US"/>
              <a:t> There may be other control bits dealing with protection or other aspects of memory management.</a:t>
            </a:r>
            <a:endParaRPr/>
          </a:p>
        </p:txBody>
      </p:sp>
      <p:sp>
        <p:nvSpPr>
          <p:cNvPr id="507" name="Google Shape;507;p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This figure suggests a structure to support combined paging/segmentation (note similarity to Figure 8.5).</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Associated with each process is a segment table and a number of page tables, one per process segment.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When a particular process is running, a register holds the starting address of the segment table for that process.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Presented with a virtual address, the processor uses the segment number portion to index into the process segment table to find the page table for that segment.</a:t>
            </a:r>
            <a:endParaRPr/>
          </a:p>
          <a:p>
            <a:pPr indent="-76200" lvl="1" marL="457200" rtl="0" algn="l">
              <a:spcBef>
                <a:spcPts val="360"/>
              </a:spcBef>
              <a:spcAft>
                <a:spcPts val="0"/>
              </a:spcAft>
              <a:buClr>
                <a:schemeClr val="dk1"/>
              </a:buClr>
              <a:buSzPts val="1200"/>
              <a:buFont typeface="Arial"/>
              <a:buChar char="•"/>
            </a:pPr>
            <a:r>
              <a:rPr lang="en-US"/>
              <a:t> Then the page number portion of the virtual address is used to index the page table and look up the corresponding frame number.</a:t>
            </a:r>
            <a:endParaRPr/>
          </a:p>
          <a:p>
            <a:pPr indent="-76200" lvl="1" marL="457200" rtl="0" algn="l">
              <a:spcBef>
                <a:spcPts val="360"/>
              </a:spcBef>
              <a:spcAft>
                <a:spcPts val="0"/>
              </a:spcAft>
              <a:buClr>
                <a:schemeClr val="dk1"/>
              </a:buClr>
              <a:buSzPts val="1200"/>
              <a:buFont typeface="Arial"/>
              <a:buChar char="•"/>
            </a:pPr>
            <a:r>
              <a:rPr lang="en-US"/>
              <a:t> This is combined with the offset portion of the virtual address to produce the desired real address.</a:t>
            </a:r>
            <a:endParaRPr/>
          </a:p>
        </p:txBody>
      </p:sp>
      <p:sp>
        <p:nvSpPr>
          <p:cNvPr id="514" name="Google Shape;514;p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0" name="Google Shape;520;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Segmentation lends itself to the implementation of protection and sharing policies.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As each segment table entry includes a length as well as a base address, a program cannot inadvertently access a main memory location beyond the limits of a segment.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To achieve sharing, it is possible for a segment to be referenced in the segment tables of more than one process. </a:t>
            </a:r>
            <a:endParaRPr/>
          </a:p>
        </p:txBody>
      </p:sp>
      <p:sp>
        <p:nvSpPr>
          <p:cNvPr id="521" name="Google Shape;521;p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528" name="Google Shape;528;p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 name="Google Shape;535;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design of the memory management portion of an operating system depends on three fundamental areas of choice:</a:t>
            </a:r>
            <a:endParaRPr/>
          </a:p>
          <a:p>
            <a:pPr indent="0" lvl="1" marL="457200" rtl="0" algn="l">
              <a:spcBef>
                <a:spcPts val="360"/>
              </a:spcBef>
              <a:spcAft>
                <a:spcPts val="0"/>
              </a:spcAft>
              <a:buNone/>
            </a:pPr>
            <a:r>
              <a:rPr lang="en-US"/>
              <a:t>• Whether or not to use virtual memory techniques</a:t>
            </a:r>
            <a:endParaRPr/>
          </a:p>
          <a:p>
            <a:pPr indent="0" lvl="1" marL="457200" rtl="0" algn="l">
              <a:spcBef>
                <a:spcPts val="360"/>
              </a:spcBef>
              <a:spcAft>
                <a:spcPts val="0"/>
              </a:spcAft>
              <a:buNone/>
            </a:pPr>
            <a:r>
              <a:rPr lang="en-US"/>
              <a:t>• The use of paging or segmentation or both</a:t>
            </a:r>
            <a:endParaRPr/>
          </a:p>
          <a:p>
            <a:pPr indent="0" lvl="1" marL="457200" rtl="0" algn="l">
              <a:spcBef>
                <a:spcPts val="360"/>
              </a:spcBef>
              <a:spcAft>
                <a:spcPts val="0"/>
              </a:spcAft>
              <a:buNone/>
            </a:pPr>
            <a:r>
              <a:rPr lang="en-US"/>
              <a:t>• The algorithms employed for various aspects of memory management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first two are determined largely by hardware support. But, with few exceptions (DOS for old PC’s) all major OS’s support Virtual Memory.</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536" name="Google Shape;536;p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2" name="Google Shape;542;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We would like to minimize the rate at which page faults occur, because page faults cause considerable software overhead.</a:t>
            </a:r>
            <a:endParaRPr/>
          </a:p>
          <a:p>
            <a:pPr indent="-76200" lvl="1" marL="457200" rtl="0" algn="l">
              <a:lnSpc>
                <a:spcPct val="90000"/>
              </a:lnSpc>
              <a:spcBef>
                <a:spcPts val="360"/>
              </a:spcBef>
              <a:spcAft>
                <a:spcPts val="0"/>
              </a:spcAft>
              <a:buClr>
                <a:schemeClr val="dk1"/>
              </a:buClr>
              <a:buSzPts val="1200"/>
              <a:buFont typeface="Arial"/>
              <a:buChar char="•"/>
            </a:pPr>
            <a:r>
              <a:rPr lang="en-US"/>
              <a:t>At a minimum, the overhead includes deciding which resident page or pages to replace, </a:t>
            </a:r>
            <a:endParaRPr/>
          </a:p>
          <a:p>
            <a:pPr indent="-76200" lvl="1" marL="457200" rtl="0" algn="l">
              <a:lnSpc>
                <a:spcPct val="90000"/>
              </a:lnSpc>
              <a:spcBef>
                <a:spcPts val="360"/>
              </a:spcBef>
              <a:spcAft>
                <a:spcPts val="0"/>
              </a:spcAft>
              <a:buClr>
                <a:schemeClr val="dk1"/>
              </a:buClr>
              <a:buSzPts val="1200"/>
              <a:buFont typeface="Arial"/>
              <a:buChar char="•"/>
            </a:pPr>
            <a:r>
              <a:rPr lang="en-US"/>
              <a:t> and the I/O of exchanging pages.</a:t>
            </a:r>
            <a:endParaRPr/>
          </a:p>
          <a:p>
            <a:pPr indent="-76200" lvl="1" marL="457200" rtl="0" algn="l">
              <a:lnSpc>
                <a:spcPct val="90000"/>
              </a:lnSpc>
              <a:spcBef>
                <a:spcPts val="360"/>
              </a:spcBef>
              <a:spcAft>
                <a:spcPts val="0"/>
              </a:spcAft>
              <a:buClr>
                <a:schemeClr val="dk1"/>
              </a:buClr>
              <a:buSzPts val="1200"/>
              <a:buFont typeface="Arial"/>
              <a:buChar char="•"/>
            </a:pPr>
            <a:r>
              <a:rPr lang="en-US"/>
              <a:t>Also, the operating system must schedule another process to run during the page I/O, causing a process switch.</a:t>
            </a:r>
            <a:endParaRPr/>
          </a:p>
          <a:p>
            <a:pPr indent="0" lvl="0" marL="0" rtl="0" algn="l">
              <a:lnSpc>
                <a:spcPct val="90000"/>
              </a:lnSpc>
              <a:spcBef>
                <a:spcPts val="360"/>
              </a:spcBef>
              <a:spcAft>
                <a:spcPts val="0"/>
              </a:spcAft>
              <a:buClr>
                <a:schemeClr val="dk1"/>
              </a:buClr>
              <a:buSzPts val="1200"/>
              <a:buFont typeface="Arial"/>
              <a:buNone/>
            </a:pPr>
            <a:r>
              <a:t/>
            </a:r>
            <a:endParaRPr/>
          </a:p>
          <a:p>
            <a:pPr indent="0" lvl="0" marL="0" rtl="0" algn="l">
              <a:lnSpc>
                <a:spcPct val="90000"/>
              </a:lnSpc>
              <a:spcBef>
                <a:spcPts val="360"/>
              </a:spcBef>
              <a:spcAft>
                <a:spcPts val="0"/>
              </a:spcAft>
              <a:buClr>
                <a:schemeClr val="dk1"/>
              </a:buClr>
              <a:buSzPts val="1200"/>
              <a:buFont typeface="Arial"/>
              <a:buNone/>
            </a:pPr>
            <a:r>
              <a:rPr lang="en-US"/>
              <a:t>In all of the areas referred to in Table 8.4, there is no definitive policy that works best.</a:t>
            </a:r>
            <a:endParaRPr/>
          </a:p>
          <a:p>
            <a:pPr indent="0" lvl="0" marL="0" rtl="0" algn="l">
              <a:lnSpc>
                <a:spcPct val="90000"/>
              </a:lnSpc>
              <a:spcBef>
                <a:spcPts val="360"/>
              </a:spcBef>
              <a:spcAft>
                <a:spcPts val="0"/>
              </a:spcAft>
              <a:buClr>
                <a:schemeClr val="dk1"/>
              </a:buClr>
              <a:buSzPts val="1200"/>
              <a:buFont typeface="Arial"/>
              <a:buNone/>
            </a:pPr>
            <a:r>
              <a:t/>
            </a:r>
            <a:endParaRPr/>
          </a:p>
          <a:p>
            <a:pPr indent="0" lvl="0" marL="0" rtl="0" algn="l">
              <a:lnSpc>
                <a:spcPct val="90000"/>
              </a:lnSpc>
              <a:spcBef>
                <a:spcPts val="360"/>
              </a:spcBef>
              <a:spcAft>
                <a:spcPts val="0"/>
              </a:spcAft>
              <a:buClr>
                <a:schemeClr val="dk1"/>
              </a:buClr>
              <a:buSzPts val="1200"/>
              <a:buFont typeface="Arial"/>
              <a:buNone/>
            </a:pPr>
            <a:r>
              <a:rPr lang="en-US"/>
              <a:t>The performance of any particular set of policies depends on </a:t>
            </a:r>
            <a:endParaRPr/>
          </a:p>
          <a:p>
            <a:pPr indent="-76200" lvl="1" marL="457200" rtl="0" algn="l">
              <a:lnSpc>
                <a:spcPct val="90000"/>
              </a:lnSpc>
              <a:spcBef>
                <a:spcPts val="360"/>
              </a:spcBef>
              <a:spcAft>
                <a:spcPts val="0"/>
              </a:spcAft>
              <a:buClr>
                <a:schemeClr val="dk1"/>
              </a:buClr>
              <a:buSzPts val="1200"/>
              <a:buFont typeface="Arial"/>
              <a:buChar char="•"/>
            </a:pPr>
            <a:r>
              <a:rPr lang="en-US"/>
              <a:t> main memory size, </a:t>
            </a:r>
            <a:endParaRPr/>
          </a:p>
          <a:p>
            <a:pPr indent="-76200" lvl="1" marL="457200" rtl="0" algn="l">
              <a:lnSpc>
                <a:spcPct val="90000"/>
              </a:lnSpc>
              <a:spcBef>
                <a:spcPts val="360"/>
              </a:spcBef>
              <a:spcAft>
                <a:spcPts val="0"/>
              </a:spcAft>
              <a:buClr>
                <a:schemeClr val="dk1"/>
              </a:buClr>
              <a:buSzPts val="1200"/>
              <a:buFont typeface="Arial"/>
              <a:buChar char="•"/>
            </a:pPr>
            <a:r>
              <a:rPr lang="en-US"/>
              <a:t> the relative speed of main and secondary memory, </a:t>
            </a:r>
            <a:endParaRPr/>
          </a:p>
          <a:p>
            <a:pPr indent="-76200" lvl="1" marL="457200" rtl="0" algn="l">
              <a:lnSpc>
                <a:spcPct val="90000"/>
              </a:lnSpc>
              <a:spcBef>
                <a:spcPts val="360"/>
              </a:spcBef>
              <a:spcAft>
                <a:spcPts val="0"/>
              </a:spcAft>
              <a:buClr>
                <a:schemeClr val="dk1"/>
              </a:buClr>
              <a:buSzPts val="1200"/>
              <a:buFont typeface="Arial"/>
              <a:buChar char="•"/>
            </a:pPr>
            <a:r>
              <a:rPr lang="en-US"/>
              <a:t> the size and number of processes competing for resources, </a:t>
            </a:r>
            <a:endParaRPr/>
          </a:p>
          <a:p>
            <a:pPr indent="-76200" lvl="1" marL="457200" rtl="0" algn="l">
              <a:lnSpc>
                <a:spcPct val="90000"/>
              </a:lnSpc>
              <a:spcBef>
                <a:spcPts val="360"/>
              </a:spcBef>
              <a:spcAft>
                <a:spcPts val="0"/>
              </a:spcAft>
              <a:buClr>
                <a:schemeClr val="dk1"/>
              </a:buClr>
              <a:buSzPts val="1200"/>
              <a:buFont typeface="Arial"/>
              <a:buChar char="•"/>
            </a:pPr>
            <a:r>
              <a:rPr lang="en-US"/>
              <a:t> and the execution behaviour of individual programs.</a:t>
            </a:r>
            <a:endParaRPr/>
          </a:p>
        </p:txBody>
      </p:sp>
      <p:sp>
        <p:nvSpPr>
          <p:cNvPr id="543" name="Google Shape;543;p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fetch policy determines when a page should be brought into main memory.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two common alternatives are demand paging and prepaging</a:t>
            </a:r>
            <a:endParaRPr/>
          </a:p>
          <a:p>
            <a:pPr indent="0" lvl="0" marL="0" rtl="0" algn="l">
              <a:spcBef>
                <a:spcPts val="360"/>
              </a:spcBef>
              <a:spcAft>
                <a:spcPts val="0"/>
              </a:spcAft>
              <a:buNone/>
            </a:pPr>
            <a:r>
              <a:t/>
            </a:r>
            <a:endParaRPr/>
          </a:p>
        </p:txBody>
      </p:sp>
      <p:sp>
        <p:nvSpPr>
          <p:cNvPr id="551" name="Google Shape;551;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 name="Google Shape;557;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930"/>
              <a:t>With </a:t>
            </a:r>
            <a:r>
              <a:rPr b="1" lang="en-US" sz="930"/>
              <a:t>demand paging, </a:t>
            </a:r>
            <a:endParaRPr/>
          </a:p>
          <a:p>
            <a:pPr indent="-59054" lvl="1" marL="457200" rtl="0" algn="l">
              <a:lnSpc>
                <a:spcPct val="80000"/>
              </a:lnSpc>
              <a:spcBef>
                <a:spcPts val="279"/>
              </a:spcBef>
              <a:spcAft>
                <a:spcPts val="0"/>
              </a:spcAft>
              <a:buClr>
                <a:schemeClr val="dk1"/>
              </a:buClr>
              <a:buSzPts val="930"/>
              <a:buFont typeface="Arial"/>
              <a:buChar char="•"/>
            </a:pPr>
            <a:r>
              <a:rPr b="0" lang="en-US" sz="930"/>
              <a:t> A </a:t>
            </a:r>
            <a:r>
              <a:rPr lang="en-US" sz="930"/>
              <a:t>page is brought into main memory only when a reference is made to a location on that page. </a:t>
            </a:r>
            <a:endParaRPr/>
          </a:p>
          <a:p>
            <a:pPr indent="-59054" lvl="1" marL="457200" rtl="0" algn="l">
              <a:lnSpc>
                <a:spcPct val="80000"/>
              </a:lnSpc>
              <a:spcBef>
                <a:spcPts val="279"/>
              </a:spcBef>
              <a:spcAft>
                <a:spcPts val="0"/>
              </a:spcAft>
              <a:buClr>
                <a:schemeClr val="dk1"/>
              </a:buClr>
              <a:buSzPts val="930"/>
              <a:buFont typeface="Arial"/>
              <a:buChar char="•"/>
            </a:pPr>
            <a:r>
              <a:rPr lang="en-US" sz="930"/>
              <a:t> When a process is first started, there will be a flurry of page faults.</a:t>
            </a:r>
            <a:endParaRPr/>
          </a:p>
          <a:p>
            <a:pPr indent="-59054" lvl="1" marL="457200" rtl="0" algn="l">
              <a:lnSpc>
                <a:spcPct val="80000"/>
              </a:lnSpc>
              <a:spcBef>
                <a:spcPts val="279"/>
              </a:spcBef>
              <a:spcAft>
                <a:spcPts val="0"/>
              </a:spcAft>
              <a:buClr>
                <a:schemeClr val="dk1"/>
              </a:buClr>
              <a:buSzPts val="930"/>
              <a:buFont typeface="Arial"/>
              <a:buChar char="•"/>
            </a:pPr>
            <a:r>
              <a:rPr lang="en-US" sz="930"/>
              <a:t> As more and more pages are brought in, the principle of locality suggests that most future references will be to pages that have recently been brought in.</a:t>
            </a:r>
            <a:endParaRPr/>
          </a:p>
          <a:p>
            <a:pPr indent="-59054" lvl="1" marL="457200" rtl="0" algn="l">
              <a:lnSpc>
                <a:spcPct val="80000"/>
              </a:lnSpc>
              <a:spcBef>
                <a:spcPts val="279"/>
              </a:spcBef>
              <a:spcAft>
                <a:spcPts val="0"/>
              </a:spcAft>
              <a:buClr>
                <a:schemeClr val="dk1"/>
              </a:buClr>
              <a:buSzPts val="930"/>
              <a:buFont typeface="Arial"/>
              <a:buChar char="•"/>
            </a:pPr>
            <a:r>
              <a:rPr lang="en-US" sz="930"/>
              <a:t> Thus, after a time, matters should settle down and the number of page faults should drop to a very low level.</a:t>
            </a:r>
            <a:endParaRPr/>
          </a:p>
          <a:p>
            <a:pPr indent="0" lvl="1" marL="457200" rtl="0" algn="l">
              <a:lnSpc>
                <a:spcPct val="80000"/>
              </a:lnSpc>
              <a:spcBef>
                <a:spcPts val="279"/>
              </a:spcBef>
              <a:spcAft>
                <a:spcPts val="0"/>
              </a:spcAft>
              <a:buClr>
                <a:schemeClr val="dk1"/>
              </a:buClr>
              <a:buSzPts val="930"/>
              <a:buFont typeface="Arial"/>
              <a:buNone/>
            </a:pPr>
            <a:r>
              <a:t/>
            </a:r>
            <a:endParaRPr sz="930"/>
          </a:p>
          <a:p>
            <a:pPr indent="0" lvl="0" marL="0" rtl="0" algn="l">
              <a:lnSpc>
                <a:spcPct val="80000"/>
              </a:lnSpc>
              <a:spcBef>
                <a:spcPts val="279"/>
              </a:spcBef>
              <a:spcAft>
                <a:spcPts val="0"/>
              </a:spcAft>
              <a:buNone/>
            </a:pPr>
            <a:r>
              <a:rPr lang="en-US" sz="930"/>
              <a:t>With </a:t>
            </a:r>
            <a:r>
              <a:rPr b="1" lang="en-US" sz="930"/>
              <a:t>prepaging</a:t>
            </a:r>
            <a:r>
              <a:rPr lang="en-US" sz="930"/>
              <a:t>, </a:t>
            </a:r>
            <a:endParaRPr/>
          </a:p>
          <a:p>
            <a:pPr indent="-59054" lvl="1" marL="457200" rtl="0" algn="l">
              <a:lnSpc>
                <a:spcPct val="80000"/>
              </a:lnSpc>
              <a:spcBef>
                <a:spcPts val="279"/>
              </a:spcBef>
              <a:spcAft>
                <a:spcPts val="0"/>
              </a:spcAft>
              <a:buClr>
                <a:schemeClr val="dk1"/>
              </a:buClr>
              <a:buSzPts val="930"/>
              <a:buFont typeface="Arial"/>
              <a:buChar char="•"/>
            </a:pPr>
            <a:r>
              <a:rPr lang="en-US" sz="930"/>
              <a:t> Pages other than the one demanded by a page fault are brought in. </a:t>
            </a:r>
            <a:endParaRPr/>
          </a:p>
          <a:p>
            <a:pPr indent="-59054" lvl="1" marL="457200" rtl="0" algn="l">
              <a:lnSpc>
                <a:spcPct val="80000"/>
              </a:lnSpc>
              <a:spcBef>
                <a:spcPts val="279"/>
              </a:spcBef>
              <a:spcAft>
                <a:spcPts val="0"/>
              </a:spcAft>
              <a:buClr>
                <a:schemeClr val="dk1"/>
              </a:buClr>
              <a:buSzPts val="930"/>
              <a:buFont typeface="Arial"/>
              <a:buChar char="•"/>
            </a:pPr>
            <a:r>
              <a:rPr lang="en-US" sz="930"/>
              <a:t> If the pages of a process are stored contiguously in secondary memory, then it is more efficient to bring in a number of contiguous pages at one time rather than bringing them in one at a time over an extended period.</a:t>
            </a:r>
            <a:endParaRPr/>
          </a:p>
          <a:p>
            <a:pPr indent="-59054" lvl="1" marL="457200" rtl="0" algn="l">
              <a:lnSpc>
                <a:spcPct val="80000"/>
              </a:lnSpc>
              <a:spcBef>
                <a:spcPts val="279"/>
              </a:spcBef>
              <a:spcAft>
                <a:spcPts val="0"/>
              </a:spcAft>
              <a:buClr>
                <a:schemeClr val="dk1"/>
              </a:buClr>
              <a:buSzPts val="930"/>
              <a:buFont typeface="Arial"/>
              <a:buChar char="•"/>
            </a:pPr>
            <a:r>
              <a:rPr lang="en-US" sz="930"/>
              <a:t> Of course, this policy is ineffective if most of the extra pages that are brought in are not referenced.</a:t>
            </a:r>
            <a:endParaRPr/>
          </a:p>
          <a:p>
            <a:pPr indent="0" lvl="1" marL="457200" rtl="0" algn="l">
              <a:lnSpc>
                <a:spcPct val="80000"/>
              </a:lnSpc>
              <a:spcBef>
                <a:spcPts val="279"/>
              </a:spcBef>
              <a:spcAft>
                <a:spcPts val="0"/>
              </a:spcAft>
              <a:buClr>
                <a:schemeClr val="dk1"/>
              </a:buClr>
              <a:buSzPts val="930"/>
              <a:buFont typeface="Arial"/>
              <a:buNone/>
            </a:pPr>
            <a:r>
              <a:t/>
            </a:r>
            <a:endParaRPr sz="930"/>
          </a:p>
          <a:p>
            <a:pPr indent="0" lvl="0" marL="0" rtl="0" algn="l">
              <a:lnSpc>
                <a:spcPct val="80000"/>
              </a:lnSpc>
              <a:spcBef>
                <a:spcPts val="279"/>
              </a:spcBef>
              <a:spcAft>
                <a:spcPts val="0"/>
              </a:spcAft>
              <a:buNone/>
            </a:pPr>
            <a:r>
              <a:rPr lang="en-US" sz="930"/>
              <a:t>The prepaging policy could be employed either when a process first starts up, in which case the programmer would somehow have to designate desired pages, or every time a page fault occurs. </a:t>
            </a:r>
            <a:endParaRPr/>
          </a:p>
          <a:p>
            <a:pPr indent="0" lvl="1" marL="457200" rtl="0" algn="l">
              <a:lnSpc>
                <a:spcPct val="80000"/>
              </a:lnSpc>
              <a:spcBef>
                <a:spcPts val="279"/>
              </a:spcBef>
              <a:spcAft>
                <a:spcPts val="0"/>
              </a:spcAft>
              <a:buNone/>
            </a:pPr>
            <a:r>
              <a:rPr lang="en-US" sz="930"/>
              <a:t>The latter would seem preferable because it is invisible to the programmer. </a:t>
            </a:r>
            <a:endParaRPr/>
          </a:p>
          <a:p>
            <a:pPr indent="0" lvl="0" marL="0" rtl="0" algn="l">
              <a:lnSpc>
                <a:spcPct val="80000"/>
              </a:lnSpc>
              <a:spcBef>
                <a:spcPts val="279"/>
              </a:spcBef>
              <a:spcAft>
                <a:spcPts val="0"/>
              </a:spcAft>
              <a:buNone/>
            </a:pPr>
            <a:r>
              <a:t/>
            </a:r>
            <a:endParaRPr sz="930"/>
          </a:p>
          <a:p>
            <a:pPr indent="0" lvl="0" marL="0" rtl="0" algn="l">
              <a:lnSpc>
                <a:spcPct val="80000"/>
              </a:lnSpc>
              <a:spcBef>
                <a:spcPts val="279"/>
              </a:spcBef>
              <a:spcAft>
                <a:spcPts val="0"/>
              </a:spcAft>
              <a:buNone/>
            </a:pPr>
            <a:r>
              <a:rPr lang="en-US" sz="930"/>
              <a:t>However, the utility of prepaging has not been established.</a:t>
            </a:r>
            <a:endParaRPr/>
          </a:p>
          <a:p>
            <a:pPr indent="0" lvl="0" marL="0" rtl="0" algn="l">
              <a:lnSpc>
                <a:spcPct val="80000"/>
              </a:lnSpc>
              <a:spcBef>
                <a:spcPts val="279"/>
              </a:spcBef>
              <a:spcAft>
                <a:spcPts val="0"/>
              </a:spcAft>
              <a:buNone/>
            </a:pPr>
            <a:r>
              <a:t/>
            </a:r>
            <a:endParaRPr sz="930"/>
          </a:p>
          <a:p>
            <a:pPr indent="0" lvl="0" marL="0" rtl="0" algn="l">
              <a:lnSpc>
                <a:spcPct val="80000"/>
              </a:lnSpc>
              <a:spcBef>
                <a:spcPts val="279"/>
              </a:spcBef>
              <a:spcAft>
                <a:spcPts val="0"/>
              </a:spcAft>
              <a:buNone/>
            </a:pPr>
            <a:r>
              <a:rPr lang="en-US" sz="930"/>
              <a:t>Prepaging should not be confused with swapping.</a:t>
            </a:r>
            <a:endParaRPr/>
          </a:p>
          <a:p>
            <a:pPr indent="-59054" lvl="1" marL="457200" rtl="0" algn="l">
              <a:lnSpc>
                <a:spcPct val="80000"/>
              </a:lnSpc>
              <a:spcBef>
                <a:spcPts val="279"/>
              </a:spcBef>
              <a:spcAft>
                <a:spcPts val="0"/>
              </a:spcAft>
              <a:buClr>
                <a:schemeClr val="dk1"/>
              </a:buClr>
              <a:buSzPts val="930"/>
              <a:buFont typeface="Arial"/>
              <a:buChar char="•"/>
            </a:pPr>
            <a:r>
              <a:rPr lang="en-US" sz="930"/>
              <a:t> When a process is swapped out of memory and put in a suspended state, all of its resident pages are moved out.</a:t>
            </a:r>
            <a:endParaRPr/>
          </a:p>
          <a:p>
            <a:pPr indent="-59054" lvl="1" marL="457200" rtl="0" algn="l">
              <a:lnSpc>
                <a:spcPct val="80000"/>
              </a:lnSpc>
              <a:spcBef>
                <a:spcPts val="279"/>
              </a:spcBef>
              <a:spcAft>
                <a:spcPts val="0"/>
              </a:spcAft>
              <a:buClr>
                <a:schemeClr val="dk1"/>
              </a:buClr>
              <a:buSzPts val="930"/>
              <a:buFont typeface="Arial"/>
              <a:buChar char="•"/>
            </a:pPr>
            <a:r>
              <a:rPr lang="en-US" sz="930"/>
              <a:t> When the process is resumed, all of the pages that were previously in main memory are returned to main memory.</a:t>
            </a:r>
            <a:endParaRPr sz="930"/>
          </a:p>
        </p:txBody>
      </p:sp>
      <p:sp>
        <p:nvSpPr>
          <p:cNvPr id="558" name="Google Shape;558;p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The </a:t>
            </a:r>
            <a:r>
              <a:rPr b="1" lang="en-US"/>
              <a:t>placement policy </a:t>
            </a:r>
            <a:r>
              <a:rPr lang="en-US"/>
              <a:t>determines where in real memory a process piece is to reside.</a:t>
            </a:r>
            <a:endParaRPr/>
          </a:p>
          <a:p>
            <a:pPr indent="0" lvl="0" marL="0" rtl="0" algn="l">
              <a:lnSpc>
                <a:spcPct val="90000"/>
              </a:lnSpc>
              <a:spcBef>
                <a:spcPts val="360"/>
              </a:spcBef>
              <a:spcAft>
                <a:spcPts val="0"/>
              </a:spcAft>
              <a:buNone/>
            </a:pPr>
            <a:r>
              <a:t/>
            </a:r>
            <a:endParaRPr/>
          </a:p>
          <a:p>
            <a:pPr indent="0" lvl="0" marL="0" rtl="0" algn="l">
              <a:lnSpc>
                <a:spcPct val="90000"/>
              </a:lnSpc>
              <a:spcBef>
                <a:spcPts val="360"/>
              </a:spcBef>
              <a:spcAft>
                <a:spcPts val="0"/>
              </a:spcAft>
              <a:buNone/>
            </a:pPr>
            <a:r>
              <a:rPr lang="en-US"/>
              <a:t>In a pure segmentation system, the placement policy is an important design issue;</a:t>
            </a:r>
            <a:endParaRPr/>
          </a:p>
          <a:p>
            <a:pPr indent="0" lvl="1" marL="457200" rtl="0" algn="l">
              <a:lnSpc>
                <a:spcPct val="90000"/>
              </a:lnSpc>
              <a:spcBef>
                <a:spcPts val="360"/>
              </a:spcBef>
              <a:spcAft>
                <a:spcPts val="0"/>
              </a:spcAft>
              <a:buNone/>
            </a:pPr>
            <a:r>
              <a:rPr lang="en-US"/>
              <a:t>policies such as best-fit, first-fit, and etc are possible alternatives. </a:t>
            </a:r>
            <a:endParaRPr/>
          </a:p>
          <a:p>
            <a:pPr indent="0" lvl="1" marL="457200" rtl="0" algn="l">
              <a:lnSpc>
                <a:spcPct val="90000"/>
              </a:lnSpc>
              <a:spcBef>
                <a:spcPts val="360"/>
              </a:spcBef>
              <a:spcAft>
                <a:spcPts val="0"/>
              </a:spcAft>
              <a:buNone/>
            </a:pPr>
            <a:r>
              <a:t/>
            </a:r>
            <a:endParaRPr/>
          </a:p>
          <a:p>
            <a:pPr indent="0" lvl="0" marL="0" rtl="0" algn="l">
              <a:lnSpc>
                <a:spcPct val="90000"/>
              </a:lnSpc>
              <a:spcBef>
                <a:spcPts val="360"/>
              </a:spcBef>
              <a:spcAft>
                <a:spcPts val="0"/>
              </a:spcAft>
              <a:buNone/>
            </a:pPr>
            <a:r>
              <a:rPr lang="en-US"/>
              <a:t>However, for a system that uses either pure paging or paging combined with segmentation, </a:t>
            </a:r>
            <a:endParaRPr/>
          </a:p>
          <a:p>
            <a:pPr indent="0" lvl="1" marL="457200" rtl="0" algn="l">
              <a:lnSpc>
                <a:spcPct val="90000"/>
              </a:lnSpc>
              <a:spcBef>
                <a:spcPts val="360"/>
              </a:spcBef>
              <a:spcAft>
                <a:spcPts val="0"/>
              </a:spcAft>
              <a:buNone/>
            </a:pPr>
            <a:r>
              <a:rPr lang="en-US"/>
              <a:t>placement is usually irrelevant because the address translation hardware and the main memory access hardware can perform their functions for any page-frame combination with equal efficiency.</a:t>
            </a:r>
            <a:endParaRPr/>
          </a:p>
          <a:p>
            <a:pPr indent="0" lvl="1" marL="457200" rtl="0" algn="l">
              <a:lnSpc>
                <a:spcPct val="90000"/>
              </a:lnSpc>
              <a:spcBef>
                <a:spcPts val="360"/>
              </a:spcBef>
              <a:spcAft>
                <a:spcPts val="0"/>
              </a:spcAft>
              <a:buNone/>
            </a:pPr>
            <a:r>
              <a:t/>
            </a:r>
            <a:endParaRPr/>
          </a:p>
        </p:txBody>
      </p:sp>
      <p:sp>
        <p:nvSpPr>
          <p:cNvPr id="565" name="Google Shape;565;p6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1" name="Google Shape;571;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930"/>
              <a:t>This topic is sometimes difficult to explain because several interrelated concepts are involved:</a:t>
            </a:r>
            <a:endParaRPr/>
          </a:p>
          <a:p>
            <a:pPr indent="0" lvl="1" marL="457200" rtl="0" algn="l">
              <a:lnSpc>
                <a:spcPct val="80000"/>
              </a:lnSpc>
              <a:spcBef>
                <a:spcPts val="279"/>
              </a:spcBef>
              <a:spcAft>
                <a:spcPts val="0"/>
              </a:spcAft>
              <a:buNone/>
            </a:pPr>
            <a:r>
              <a:rPr lang="en-US" sz="930"/>
              <a:t>• How many page frames are to be allocated to each active process</a:t>
            </a:r>
            <a:endParaRPr/>
          </a:p>
          <a:p>
            <a:pPr indent="0" lvl="1" marL="457200" rtl="0" algn="l">
              <a:lnSpc>
                <a:spcPct val="80000"/>
              </a:lnSpc>
              <a:spcBef>
                <a:spcPts val="279"/>
              </a:spcBef>
              <a:spcAft>
                <a:spcPts val="0"/>
              </a:spcAft>
              <a:buNone/>
            </a:pPr>
            <a:r>
              <a:rPr lang="en-US" sz="930"/>
              <a:t>• Whether the set of pages to be considered for replacement should be limited to those of the process that caused the page fault or encompass all the page frames in main memory</a:t>
            </a:r>
            <a:endParaRPr/>
          </a:p>
          <a:p>
            <a:pPr indent="0" lvl="1" marL="457200" rtl="0" algn="l">
              <a:lnSpc>
                <a:spcPct val="80000"/>
              </a:lnSpc>
              <a:spcBef>
                <a:spcPts val="279"/>
              </a:spcBef>
              <a:spcAft>
                <a:spcPts val="0"/>
              </a:spcAft>
              <a:buNone/>
            </a:pPr>
            <a:r>
              <a:rPr lang="en-US" sz="930"/>
              <a:t>• Among the set of pages considered, which particular page should be selected for replacement</a:t>
            </a:r>
            <a:endParaRPr/>
          </a:p>
          <a:p>
            <a:pPr indent="0" lvl="1" marL="457200" rtl="0" algn="l">
              <a:lnSpc>
                <a:spcPct val="80000"/>
              </a:lnSpc>
              <a:spcBef>
                <a:spcPts val="279"/>
              </a:spcBef>
              <a:spcAft>
                <a:spcPts val="0"/>
              </a:spcAft>
              <a:buNone/>
            </a:pPr>
            <a:r>
              <a:t/>
            </a:r>
            <a:endParaRPr sz="930"/>
          </a:p>
          <a:p>
            <a:pPr indent="0" lvl="0" marL="0" rtl="0" algn="l">
              <a:lnSpc>
                <a:spcPct val="80000"/>
              </a:lnSpc>
              <a:spcBef>
                <a:spcPts val="279"/>
              </a:spcBef>
              <a:spcAft>
                <a:spcPts val="0"/>
              </a:spcAft>
              <a:buNone/>
            </a:pPr>
            <a:r>
              <a:rPr lang="en-US" sz="930"/>
              <a:t>When all of the frames in main memory are occupied and it is necessary to bring in a new page to satisfy a page fault, </a:t>
            </a:r>
            <a:endParaRPr/>
          </a:p>
          <a:p>
            <a:pPr indent="0" lvl="1" marL="457200" rtl="0" algn="l">
              <a:lnSpc>
                <a:spcPct val="80000"/>
              </a:lnSpc>
              <a:spcBef>
                <a:spcPts val="279"/>
              </a:spcBef>
              <a:spcAft>
                <a:spcPts val="0"/>
              </a:spcAft>
              <a:buNone/>
            </a:pPr>
            <a:r>
              <a:rPr lang="en-US" sz="930"/>
              <a:t>the replacement policy determines which page currently in memory is to be replaced.</a:t>
            </a:r>
            <a:endParaRPr/>
          </a:p>
          <a:p>
            <a:pPr indent="0" lvl="1" marL="457200" rtl="0" algn="l">
              <a:lnSpc>
                <a:spcPct val="80000"/>
              </a:lnSpc>
              <a:spcBef>
                <a:spcPts val="279"/>
              </a:spcBef>
              <a:spcAft>
                <a:spcPts val="0"/>
              </a:spcAft>
              <a:buNone/>
            </a:pPr>
            <a:r>
              <a:t/>
            </a:r>
            <a:endParaRPr sz="930"/>
          </a:p>
        </p:txBody>
      </p:sp>
      <p:sp>
        <p:nvSpPr>
          <p:cNvPr id="572" name="Google Shape;572;p6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One tradeoff that must be considered is that the more elaborate and sophisticated the replacement policy, the greater the hardware and software overhead to implement it</a:t>
            </a:r>
            <a:endParaRPr/>
          </a:p>
        </p:txBody>
      </p:sp>
      <p:sp>
        <p:nvSpPr>
          <p:cNvPr id="579" name="Google Shape;579;p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85" name="Google Shape;585;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One restriction on replacement policy needs to be mentioned before looking at various algorithms: </a:t>
            </a:r>
            <a:endParaRPr/>
          </a:p>
          <a:p>
            <a:pPr indent="-76200" lvl="1" marL="457200" rtl="0" algn="l">
              <a:spcBef>
                <a:spcPts val="360"/>
              </a:spcBef>
              <a:spcAft>
                <a:spcPts val="0"/>
              </a:spcAft>
              <a:buClr>
                <a:schemeClr val="dk1"/>
              </a:buClr>
              <a:buSzPts val="1200"/>
              <a:buFont typeface="Arial"/>
              <a:buChar char="•"/>
            </a:pPr>
            <a:r>
              <a:rPr lang="en-US"/>
              <a:t> Some of the frames in main memory may be locked.</a:t>
            </a:r>
            <a:endParaRPr/>
          </a:p>
          <a:p>
            <a:pPr indent="-76200" lvl="1" marL="457200" rtl="0" algn="l">
              <a:spcBef>
                <a:spcPts val="360"/>
              </a:spcBef>
              <a:spcAft>
                <a:spcPts val="0"/>
              </a:spcAft>
              <a:buClr>
                <a:schemeClr val="dk1"/>
              </a:buClr>
              <a:buSzPts val="1200"/>
              <a:buFont typeface="Arial"/>
              <a:buChar char="•"/>
            </a:pPr>
            <a:r>
              <a:rPr lang="en-US"/>
              <a:t> When a frame is locked, the page currently stored in that frame may not be replaced. </a:t>
            </a:r>
            <a:endParaRPr/>
          </a:p>
          <a:p>
            <a:pPr indent="-76200" lvl="1" marL="457200" rtl="0" algn="l">
              <a:spcBef>
                <a:spcPts val="360"/>
              </a:spcBef>
              <a:spcAft>
                <a:spcPts val="0"/>
              </a:spcAft>
              <a:buClr>
                <a:schemeClr val="dk1"/>
              </a:buClr>
              <a:buSzPts val="1200"/>
              <a:buFont typeface="Arial"/>
              <a:buChar char="•"/>
            </a:pPr>
            <a:r>
              <a:rPr lang="en-US"/>
              <a:t> Much of the kernel of the operating system is held on locked frames, as well as key control structures. </a:t>
            </a:r>
            <a:endParaRPr/>
          </a:p>
          <a:p>
            <a:pPr indent="-76200" lvl="1" marL="457200" rtl="0" algn="l">
              <a:spcBef>
                <a:spcPts val="360"/>
              </a:spcBef>
              <a:spcAft>
                <a:spcPts val="0"/>
              </a:spcAft>
              <a:buClr>
                <a:schemeClr val="dk1"/>
              </a:buClr>
              <a:buSzPts val="1200"/>
              <a:buFont typeface="Arial"/>
              <a:buChar char="•"/>
            </a:pPr>
            <a:r>
              <a:rPr lang="en-US"/>
              <a:t> In addition, I/O buffers and other time-critical areas may be locked into main memory frames.</a:t>
            </a:r>
            <a:endParaRPr/>
          </a:p>
          <a:p>
            <a:pPr indent="0" lvl="1" marL="45720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lang="en-US"/>
              <a:t>Locking is achieved by associating a lock bit with each frame. </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lang="en-US"/>
              <a:t>This bit may be kept in a frame table as well as being included in the current page table.</a:t>
            </a:r>
            <a:endParaRPr/>
          </a:p>
        </p:txBody>
      </p:sp>
      <p:sp>
        <p:nvSpPr>
          <p:cNvPr id="592" name="Google Shape;592;p6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98" name="Google Shape;598;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Figure 8.15 gives an example of the optimal policy. The example assumes a</a:t>
            </a:r>
            <a:endParaRPr/>
          </a:p>
          <a:p>
            <a:pPr indent="0" lvl="0" marL="0" rtl="0" algn="l">
              <a:spcBef>
                <a:spcPts val="360"/>
              </a:spcBef>
              <a:spcAft>
                <a:spcPts val="0"/>
              </a:spcAft>
              <a:buNone/>
            </a:pPr>
            <a:r>
              <a:rPr lang="en-US"/>
              <a:t>fixed frame allocation (fixed resident set size) for this process of three frames. The</a:t>
            </a:r>
            <a:endParaRPr/>
          </a:p>
          <a:p>
            <a:pPr indent="0" lvl="0" marL="0" rtl="0" algn="l">
              <a:spcBef>
                <a:spcPts val="360"/>
              </a:spcBef>
              <a:spcAft>
                <a:spcPts val="0"/>
              </a:spcAft>
              <a:buNone/>
            </a:pPr>
            <a:r>
              <a:rPr lang="en-US"/>
              <a:t>execution of the process requires reference to five distinct pages. The page address</a:t>
            </a:r>
            <a:endParaRPr/>
          </a:p>
          <a:p>
            <a:pPr indent="0" lvl="0" marL="0" rtl="0" algn="l">
              <a:spcBef>
                <a:spcPts val="360"/>
              </a:spcBef>
              <a:spcAft>
                <a:spcPts val="0"/>
              </a:spcAft>
              <a:buNone/>
            </a:pPr>
            <a:r>
              <a:rPr lang="en-US"/>
              <a:t>stream formed by executing the program is</a:t>
            </a:r>
            <a:endParaRPr/>
          </a:p>
          <a:p>
            <a:pPr indent="0" lvl="0" marL="0" rtl="0" algn="l">
              <a:spcBef>
                <a:spcPts val="360"/>
              </a:spcBef>
              <a:spcAft>
                <a:spcPts val="0"/>
              </a:spcAft>
              <a:buNone/>
            </a:pPr>
            <a:r>
              <a:rPr lang="en-US"/>
              <a:t>232152453252</a:t>
            </a:r>
            <a:endParaRPr/>
          </a:p>
          <a:p>
            <a:pPr indent="0" lvl="0" marL="0" rtl="0" algn="l">
              <a:spcBef>
                <a:spcPts val="360"/>
              </a:spcBef>
              <a:spcAft>
                <a:spcPts val="0"/>
              </a:spcAft>
              <a:buNone/>
            </a:pPr>
            <a:r>
              <a:rPr lang="en-US"/>
              <a:t>which means that the first page referenced is 2, the second page referenced is 3, and</a:t>
            </a:r>
            <a:endParaRPr/>
          </a:p>
          <a:p>
            <a:pPr indent="0" lvl="0" marL="0" rtl="0" algn="l">
              <a:spcBef>
                <a:spcPts val="360"/>
              </a:spcBef>
              <a:spcAft>
                <a:spcPts val="0"/>
              </a:spcAft>
              <a:buNone/>
            </a:pPr>
            <a:r>
              <a:rPr lang="en-US"/>
              <a:t>so on. The optimal policy produces three page faults after the frame allocation has</a:t>
            </a:r>
            <a:endParaRPr/>
          </a:p>
          <a:p>
            <a:pPr indent="0" lvl="0" marL="0" rtl="0" algn="l">
              <a:spcBef>
                <a:spcPts val="360"/>
              </a:spcBef>
              <a:spcAft>
                <a:spcPts val="0"/>
              </a:spcAft>
              <a:buNone/>
            </a:pPr>
            <a:r>
              <a:rPr lang="en-US"/>
              <a:t>been filled.</a:t>
            </a:r>
            <a:endParaRPr/>
          </a:p>
          <a:p>
            <a:pPr indent="0" lvl="0" marL="0" rtl="0" algn="l">
              <a:spcBef>
                <a:spcPts val="360"/>
              </a:spcBef>
              <a:spcAft>
                <a:spcPts val="0"/>
              </a:spcAft>
              <a:buNone/>
            </a:pPr>
            <a:r>
              <a:t/>
            </a:r>
            <a:endParaRPr/>
          </a:p>
        </p:txBody>
      </p:sp>
      <p:sp>
        <p:nvSpPr>
          <p:cNvPr id="605" name="Google Shape;605;p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1" name="Google Shape;611;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optimal policy selects for replacement that page for which the time to the next reference is the longest. </a:t>
            </a:r>
            <a:endParaRPr/>
          </a:p>
          <a:p>
            <a:pPr indent="-76200" lvl="1" marL="457200" rtl="0" algn="l">
              <a:spcBef>
                <a:spcPts val="360"/>
              </a:spcBef>
              <a:spcAft>
                <a:spcPts val="0"/>
              </a:spcAft>
              <a:buClr>
                <a:schemeClr val="dk1"/>
              </a:buClr>
              <a:buSzPts val="1200"/>
              <a:buFont typeface="Arial"/>
              <a:buChar char="•"/>
            </a:pPr>
            <a:r>
              <a:rPr lang="en-US"/>
              <a:t> This policy results in the fewest number of page faults. </a:t>
            </a:r>
            <a:endParaRPr/>
          </a:p>
          <a:p>
            <a:pPr indent="-76200" lvl="1" marL="457200" rtl="0" algn="l">
              <a:spcBef>
                <a:spcPts val="360"/>
              </a:spcBef>
              <a:spcAft>
                <a:spcPts val="0"/>
              </a:spcAft>
              <a:buClr>
                <a:schemeClr val="dk1"/>
              </a:buClr>
              <a:buSzPts val="1200"/>
              <a:buFont typeface="Arial"/>
              <a:buChar char="•"/>
            </a:pPr>
            <a:r>
              <a:rPr lang="en-US"/>
              <a:t> </a:t>
            </a:r>
            <a:r>
              <a:rPr b="1" lang="en-US"/>
              <a:t>BUT </a:t>
            </a:r>
            <a:r>
              <a:rPr lang="en-US"/>
              <a:t>Clearly, this policy is impossible to implement, because it would require the operating system to have perfect knowledge of future events. </a:t>
            </a:r>
            <a:endParaRPr/>
          </a:p>
          <a:p>
            <a:pPr indent="-76200" lvl="1" marL="457200" rtl="0" algn="l">
              <a:spcBef>
                <a:spcPts val="360"/>
              </a:spcBef>
              <a:spcAft>
                <a:spcPts val="0"/>
              </a:spcAft>
              <a:buClr>
                <a:schemeClr val="dk1"/>
              </a:buClr>
              <a:buSzPts val="1200"/>
              <a:buFont typeface="Arial"/>
              <a:buChar char="•"/>
            </a:pPr>
            <a:r>
              <a:rPr lang="en-US"/>
              <a:t>However, it does serve as a standard against which to judge real world algorithms.</a:t>
            </a:r>
            <a:br>
              <a:rPr lang="en-US"/>
            </a:br>
            <a:endParaRPr/>
          </a:p>
        </p:txBody>
      </p:sp>
      <p:sp>
        <p:nvSpPr>
          <p:cNvPr id="612" name="Google Shape;612;p6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18" name="Google Shape;618;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5" name="Google Shape;625;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least recently used (LRU) policy replaces the page in memory that has not been referenced for the longest time.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By the principle of locality, this should be the page least likely to be referenced in the near future.</a:t>
            </a:r>
            <a:endParaRPr/>
          </a:p>
          <a:p>
            <a:pPr indent="0" lvl="1" marL="457200" rtl="0" algn="l">
              <a:spcBef>
                <a:spcPts val="360"/>
              </a:spcBef>
              <a:spcAft>
                <a:spcPts val="0"/>
              </a:spcAft>
              <a:buNone/>
            </a:pPr>
            <a:r>
              <a:rPr lang="en-US"/>
              <a:t>And, in fact, the LRU policy does nearly as well as the optimal policy.</a:t>
            </a:r>
            <a:endParaRPr/>
          </a:p>
          <a:p>
            <a:pPr indent="0" lvl="1" marL="457200" rtl="0" algn="l">
              <a:spcBef>
                <a:spcPts val="360"/>
              </a:spcBef>
              <a:spcAft>
                <a:spcPts val="0"/>
              </a:spcAft>
              <a:buNone/>
            </a:pPr>
            <a:r>
              <a:t/>
            </a:r>
            <a:endParaRPr/>
          </a:p>
          <a:p>
            <a:pPr indent="0" lvl="0" marL="0" rtl="0" algn="l">
              <a:spcBef>
                <a:spcPts val="360"/>
              </a:spcBef>
              <a:spcAft>
                <a:spcPts val="0"/>
              </a:spcAft>
              <a:buNone/>
            </a:pPr>
            <a:r>
              <a:rPr lang="en-US"/>
              <a:t>The problem with this approach is the difficulty in implementation.</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One approach would be to tag each page with the time of its last reference; </a:t>
            </a:r>
            <a:endParaRPr/>
          </a:p>
          <a:p>
            <a:pPr indent="-76200" lvl="1" marL="457200" rtl="0" algn="l">
              <a:spcBef>
                <a:spcPts val="360"/>
              </a:spcBef>
              <a:spcAft>
                <a:spcPts val="0"/>
              </a:spcAft>
              <a:buClr>
                <a:schemeClr val="dk1"/>
              </a:buClr>
              <a:buSzPts val="1200"/>
              <a:buFont typeface="Arial"/>
              <a:buChar char="•"/>
            </a:pPr>
            <a:r>
              <a:rPr lang="en-US"/>
              <a:t> this would have to be done at each memory reference, both instruction and data.</a:t>
            </a:r>
            <a:endParaRPr/>
          </a:p>
          <a:p>
            <a:pPr indent="-76200" lvl="1" marL="457200" rtl="0" algn="l">
              <a:spcBef>
                <a:spcPts val="360"/>
              </a:spcBef>
              <a:spcAft>
                <a:spcPts val="0"/>
              </a:spcAft>
              <a:buClr>
                <a:schemeClr val="dk1"/>
              </a:buClr>
              <a:buSzPts val="1200"/>
              <a:buFont typeface="Arial"/>
              <a:buChar char="•"/>
            </a:pPr>
            <a:r>
              <a:rPr lang="en-US"/>
              <a:t> Even if the hardware would support such a scheme, the overhead would be tremendous.</a:t>
            </a:r>
            <a:endParaRPr/>
          </a:p>
          <a:p>
            <a:pPr indent="-76200" lvl="1" marL="457200" rtl="0" algn="l">
              <a:spcBef>
                <a:spcPts val="360"/>
              </a:spcBef>
              <a:spcAft>
                <a:spcPts val="0"/>
              </a:spcAft>
              <a:buClr>
                <a:schemeClr val="dk1"/>
              </a:buClr>
              <a:buSzPts val="1200"/>
              <a:buFont typeface="Arial"/>
              <a:buChar char="•"/>
            </a:pPr>
            <a:r>
              <a:rPr lang="en-US"/>
              <a:t> Alternatively, one could maintain a stack of page references, again an expensive prospect.</a:t>
            </a:r>
            <a:endParaRPr/>
          </a:p>
        </p:txBody>
      </p:sp>
      <p:sp>
        <p:nvSpPr>
          <p:cNvPr id="626" name="Google Shape;626;p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32" name="Google Shape;632;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first-in-first-out (FIFO) policy treats the page frames allocated to a process as a circular buffer, and pages are removed in round-robin style.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All that is required is a pointer that circles through the page frames of the process. </a:t>
            </a:r>
            <a:endParaRPr/>
          </a:p>
          <a:p>
            <a:pPr indent="0" lvl="1" marL="457200" rtl="0" algn="l">
              <a:spcBef>
                <a:spcPts val="360"/>
              </a:spcBef>
              <a:spcAft>
                <a:spcPts val="0"/>
              </a:spcAft>
              <a:buNone/>
            </a:pPr>
            <a:r>
              <a:rPr lang="en-US"/>
              <a:t>This is one of the simplest page replacement policies to implement.</a:t>
            </a:r>
            <a:endParaRPr/>
          </a:p>
          <a:p>
            <a:pPr indent="0" lvl="1" marL="457200" rtl="0" algn="l">
              <a:spcBef>
                <a:spcPts val="360"/>
              </a:spcBef>
              <a:spcAft>
                <a:spcPts val="0"/>
              </a:spcAft>
              <a:buNone/>
            </a:pPr>
            <a:r>
              <a:t/>
            </a:r>
            <a:endParaRPr/>
          </a:p>
          <a:p>
            <a:pPr indent="0" lvl="0" marL="0" rtl="0" algn="l">
              <a:spcBef>
                <a:spcPts val="360"/>
              </a:spcBef>
              <a:spcAft>
                <a:spcPts val="0"/>
              </a:spcAft>
              <a:buNone/>
            </a:pPr>
            <a:r>
              <a:rPr lang="en-US"/>
              <a:t>The logic behind this choice is that one is replacing the page that has been in memory the longest:</a:t>
            </a:r>
            <a:endParaRPr/>
          </a:p>
          <a:p>
            <a:pPr indent="-76200" lvl="1" marL="457200" rtl="0" algn="l">
              <a:spcBef>
                <a:spcPts val="360"/>
              </a:spcBef>
              <a:spcAft>
                <a:spcPts val="0"/>
              </a:spcAft>
              <a:buClr>
                <a:schemeClr val="dk1"/>
              </a:buClr>
              <a:buSzPts val="1200"/>
              <a:buFont typeface="Arial"/>
              <a:buChar char="•"/>
            </a:pPr>
            <a:r>
              <a:rPr lang="en-US"/>
              <a:t>A page fetched into memory a long time ago may have now fallen out of use.</a:t>
            </a:r>
            <a:endParaRPr/>
          </a:p>
          <a:p>
            <a:pPr indent="-76200" lvl="1" marL="457200" rtl="0" algn="l">
              <a:spcBef>
                <a:spcPts val="360"/>
              </a:spcBef>
              <a:spcAft>
                <a:spcPts val="0"/>
              </a:spcAft>
              <a:buClr>
                <a:schemeClr val="dk1"/>
              </a:buClr>
              <a:buSzPts val="1200"/>
              <a:buFont typeface="Arial"/>
              <a:buChar char="•"/>
            </a:pPr>
            <a:r>
              <a:rPr lang="en-US"/>
              <a:t> This reasoning will often be wrong, because there will often be regions of program or data that are heavily used throughout the life of a program.</a:t>
            </a:r>
            <a:endParaRPr/>
          </a:p>
          <a:p>
            <a:pPr indent="-76200" lvl="1" marL="457200" rtl="0" algn="l">
              <a:spcBef>
                <a:spcPts val="360"/>
              </a:spcBef>
              <a:spcAft>
                <a:spcPts val="0"/>
              </a:spcAft>
              <a:buClr>
                <a:schemeClr val="dk1"/>
              </a:buClr>
              <a:buSzPts val="1200"/>
              <a:buFont typeface="Arial"/>
              <a:buChar char="•"/>
            </a:pPr>
            <a:r>
              <a:rPr lang="en-US"/>
              <a:t> Those pages will be repeatedly paged in and out by the FIFO algorithm.</a:t>
            </a:r>
            <a:endParaRPr/>
          </a:p>
        </p:txBody>
      </p:sp>
      <p:sp>
        <p:nvSpPr>
          <p:cNvPr id="640" name="Google Shape;640;p7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 name="Google Shape;646;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Continuing our example in Figure 8.15, the FIFO policy results in six page faults.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Note that LRU recognizes that pages 2 and 5 are referenced more frequently than other pages, whereas FIFO does not.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Although the LRU policy does nearly as well as an optimal policy, it is difficult to implement and imposes significant overhead.</a:t>
            </a:r>
            <a:endParaRPr/>
          </a:p>
          <a:p>
            <a:pPr indent="-76200" lvl="1" marL="457200" rtl="0" algn="l">
              <a:spcBef>
                <a:spcPts val="360"/>
              </a:spcBef>
              <a:spcAft>
                <a:spcPts val="0"/>
              </a:spcAft>
              <a:buClr>
                <a:schemeClr val="dk1"/>
              </a:buClr>
              <a:buSzPts val="1200"/>
              <a:buFont typeface="Arial"/>
              <a:buChar char="•"/>
            </a:pPr>
            <a:r>
              <a:rPr lang="en-US"/>
              <a:t> On the other hand, the FIFO policy is very simple to implement but performs relatively poorly. </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lang="en-US"/>
              <a:t>Over the years, operating system designers have tried a number of other algorithms to approximate the performance of LRU while imposing little overhead.</a:t>
            </a:r>
            <a:endParaRPr/>
          </a:p>
          <a:p>
            <a:pPr indent="0" lvl="0" marL="0" rtl="0" algn="l">
              <a:spcBef>
                <a:spcPts val="360"/>
              </a:spcBef>
              <a:spcAft>
                <a:spcPts val="0"/>
              </a:spcAft>
              <a:buNone/>
            </a:pPr>
            <a:r>
              <a:t/>
            </a:r>
            <a:endParaRPr/>
          </a:p>
        </p:txBody>
      </p:sp>
      <p:sp>
        <p:nvSpPr>
          <p:cNvPr id="647" name="Google Shape;647;p7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54" name="Google Shape;654;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t/>
            </a:r>
            <a:endParaRPr sz="1110"/>
          </a:p>
          <a:p>
            <a:pPr indent="0" lvl="0" marL="0" rtl="0" algn="l">
              <a:lnSpc>
                <a:spcPct val="80000"/>
              </a:lnSpc>
              <a:spcBef>
                <a:spcPts val="333"/>
              </a:spcBef>
              <a:spcAft>
                <a:spcPts val="0"/>
              </a:spcAft>
              <a:buNone/>
            </a:pPr>
            <a:r>
              <a:t/>
            </a:r>
            <a:endParaRPr sz="1110"/>
          </a:p>
          <a:p>
            <a:pPr indent="0" lvl="0" marL="0" rtl="0" algn="l">
              <a:lnSpc>
                <a:spcPct val="80000"/>
              </a:lnSpc>
              <a:spcBef>
                <a:spcPts val="333"/>
              </a:spcBef>
              <a:spcAft>
                <a:spcPts val="0"/>
              </a:spcAft>
              <a:buNone/>
            </a:pPr>
            <a:r>
              <a:rPr lang="en-US" sz="1110"/>
              <a:t>The simplest form of clock policy requires the association of an additional bit with each frame, referred to as the use bit.</a:t>
            </a:r>
            <a:endParaRPr/>
          </a:p>
          <a:p>
            <a:pPr indent="0" lvl="0" marL="0" rtl="0" algn="l">
              <a:lnSpc>
                <a:spcPct val="80000"/>
              </a:lnSpc>
              <a:spcBef>
                <a:spcPts val="333"/>
              </a:spcBef>
              <a:spcAft>
                <a:spcPts val="0"/>
              </a:spcAft>
              <a:buNone/>
            </a:pPr>
            <a:r>
              <a:t/>
            </a:r>
            <a:endParaRPr sz="1110"/>
          </a:p>
          <a:p>
            <a:pPr indent="0" lvl="0" marL="0" rtl="0" algn="l">
              <a:lnSpc>
                <a:spcPct val="80000"/>
              </a:lnSpc>
              <a:spcBef>
                <a:spcPts val="333"/>
              </a:spcBef>
              <a:spcAft>
                <a:spcPts val="0"/>
              </a:spcAft>
              <a:buNone/>
            </a:pPr>
            <a:r>
              <a:rPr lang="en-US" sz="1110"/>
              <a:t>When a page is first loaded into a frame in memory, the use bit for that frame is set to 1.</a:t>
            </a:r>
            <a:endParaRPr/>
          </a:p>
          <a:p>
            <a:pPr indent="-70484" lvl="1" marL="457200" rtl="0" algn="l">
              <a:lnSpc>
                <a:spcPct val="80000"/>
              </a:lnSpc>
              <a:spcBef>
                <a:spcPts val="333"/>
              </a:spcBef>
              <a:spcAft>
                <a:spcPts val="0"/>
              </a:spcAft>
              <a:buClr>
                <a:schemeClr val="dk1"/>
              </a:buClr>
              <a:buSzPts val="1110"/>
              <a:buFont typeface="Arial"/>
              <a:buChar char="•"/>
            </a:pPr>
            <a:r>
              <a:rPr lang="en-US" sz="1110"/>
              <a:t> Whenever the page is subsequently referenced (after the reference that generated the page fault), its use bit is set to 1.</a:t>
            </a:r>
            <a:endParaRPr/>
          </a:p>
          <a:p>
            <a:pPr indent="0" lvl="1" marL="45720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lang="en-US" sz="1110"/>
              <a:t>The set of frames that are candidates for replacement is considered to be a circular buffer, with which a pointer is associated.</a:t>
            </a:r>
            <a:endParaRPr/>
          </a:p>
          <a:p>
            <a:pPr indent="-70484" lvl="1" marL="457200" rtl="0" algn="l">
              <a:lnSpc>
                <a:spcPct val="80000"/>
              </a:lnSpc>
              <a:spcBef>
                <a:spcPts val="333"/>
              </a:spcBef>
              <a:spcAft>
                <a:spcPts val="0"/>
              </a:spcAft>
              <a:buClr>
                <a:schemeClr val="dk1"/>
              </a:buClr>
              <a:buSzPts val="1110"/>
              <a:buFont typeface="Arial"/>
              <a:buChar char="•"/>
            </a:pPr>
            <a:r>
              <a:rPr lang="en-US" sz="1110"/>
              <a:t> When a page is replaced, the pointer is set to indicate the next frame in the buffer after the one just updated.</a:t>
            </a:r>
            <a:endParaRPr/>
          </a:p>
          <a:p>
            <a:pPr indent="-70484" lvl="1" marL="457200" rtl="0" algn="l">
              <a:lnSpc>
                <a:spcPct val="80000"/>
              </a:lnSpc>
              <a:spcBef>
                <a:spcPts val="333"/>
              </a:spcBef>
              <a:spcAft>
                <a:spcPts val="0"/>
              </a:spcAft>
              <a:buClr>
                <a:schemeClr val="dk1"/>
              </a:buClr>
              <a:buSzPts val="1110"/>
              <a:buFont typeface="Arial"/>
              <a:buChar char="•"/>
            </a:pPr>
            <a:r>
              <a:rPr lang="en-US" sz="1110"/>
              <a:t> When it comes time to replace a page, the operating system scans the buffer to find a frame with a use bit set to zero.</a:t>
            </a:r>
            <a:endParaRPr/>
          </a:p>
          <a:p>
            <a:pPr indent="-70484" lvl="1" marL="457200" rtl="0" algn="l">
              <a:lnSpc>
                <a:spcPct val="80000"/>
              </a:lnSpc>
              <a:spcBef>
                <a:spcPts val="333"/>
              </a:spcBef>
              <a:spcAft>
                <a:spcPts val="0"/>
              </a:spcAft>
              <a:buClr>
                <a:schemeClr val="dk1"/>
              </a:buClr>
              <a:buSzPts val="1110"/>
              <a:buFont typeface="Arial"/>
              <a:buChar char="•"/>
            </a:pPr>
            <a:r>
              <a:rPr lang="en-US" sz="1110"/>
              <a:t> Each time it encounters a frame with a use bit of 1, it resets that bit to zero and continues on. </a:t>
            </a:r>
            <a:endParaRPr/>
          </a:p>
          <a:p>
            <a:pPr indent="-70484" lvl="1" marL="457200" rtl="0" algn="l">
              <a:lnSpc>
                <a:spcPct val="80000"/>
              </a:lnSpc>
              <a:spcBef>
                <a:spcPts val="333"/>
              </a:spcBef>
              <a:spcAft>
                <a:spcPts val="0"/>
              </a:spcAft>
              <a:buClr>
                <a:schemeClr val="dk1"/>
              </a:buClr>
              <a:buSzPts val="1110"/>
              <a:buFont typeface="Arial"/>
              <a:buChar char="•"/>
            </a:pPr>
            <a:r>
              <a:rPr lang="en-US" sz="1110"/>
              <a:t> If any of the frames in the buffer have a use bit of zero at the beginning of this process, the first such frame encountered is chosen for replacement.</a:t>
            </a:r>
            <a:endParaRPr/>
          </a:p>
          <a:p>
            <a:pPr indent="-70484" lvl="1" marL="457200" rtl="0" algn="l">
              <a:lnSpc>
                <a:spcPct val="80000"/>
              </a:lnSpc>
              <a:spcBef>
                <a:spcPts val="333"/>
              </a:spcBef>
              <a:spcAft>
                <a:spcPts val="0"/>
              </a:spcAft>
              <a:buClr>
                <a:schemeClr val="dk1"/>
              </a:buClr>
              <a:buSzPts val="1110"/>
              <a:buFont typeface="Arial"/>
              <a:buChar char="•"/>
            </a:pPr>
            <a:r>
              <a:rPr lang="en-US" sz="1110"/>
              <a:t>If all of the frames have a use bit of 1, then the pointer will make one complete cycle through the buffer, setting all the use bits to zero, and stop at its original position, replacing the page in that frame.</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lang="en-US" sz="1110"/>
              <a:t>This policy is similar to FIFO, except that, in the clock policy, any frame with a use bit of 1 is passed over by the algorithm.</a:t>
            </a:r>
            <a:endParaRPr/>
          </a:p>
        </p:txBody>
      </p:sp>
      <p:sp>
        <p:nvSpPr>
          <p:cNvPr id="661" name="Google Shape;661;p7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7" name="Google Shape;667;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presence of an asterisk indicates that the corresponding use bit is equal to 1,</a:t>
            </a:r>
            <a:endParaRPr/>
          </a:p>
          <a:p>
            <a:pPr indent="0" lvl="1" marL="457200" rtl="0" algn="l">
              <a:spcBef>
                <a:spcPts val="360"/>
              </a:spcBef>
              <a:spcAft>
                <a:spcPts val="0"/>
              </a:spcAft>
              <a:buNone/>
            </a:pPr>
            <a:r>
              <a:rPr lang="en-US"/>
              <a:t>and the arrow indicates the current position of the pointer. </a:t>
            </a:r>
            <a:endParaRPr/>
          </a:p>
          <a:p>
            <a:pPr indent="0" lvl="1" marL="457200" rtl="0" algn="l">
              <a:spcBef>
                <a:spcPts val="360"/>
              </a:spcBef>
              <a:spcAft>
                <a:spcPts val="0"/>
              </a:spcAft>
              <a:buNone/>
            </a:pPr>
            <a:r>
              <a:t/>
            </a:r>
            <a:endParaRPr/>
          </a:p>
          <a:p>
            <a:pPr indent="0" lvl="0" marL="0" rtl="0" algn="l">
              <a:spcBef>
                <a:spcPts val="360"/>
              </a:spcBef>
              <a:spcAft>
                <a:spcPts val="0"/>
              </a:spcAft>
              <a:buNone/>
            </a:pPr>
            <a:r>
              <a:rPr lang="en-US"/>
              <a:t>Note that the clock policy is adept at protecting frames 2 and 5 from replacement.</a:t>
            </a:r>
            <a:endParaRPr/>
          </a:p>
        </p:txBody>
      </p:sp>
      <p:sp>
        <p:nvSpPr>
          <p:cNvPr id="668" name="Google Shape;668;p7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75" name="Google Shape;675;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1" name="Google Shape;681;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Continued on next slide</a:t>
            </a:r>
            <a:endParaRPr/>
          </a:p>
          <a:p>
            <a:pPr indent="0" lvl="0" marL="0" rtl="0" algn="l">
              <a:lnSpc>
                <a:spcPct val="90000"/>
              </a:lnSpc>
              <a:spcBef>
                <a:spcPts val="360"/>
              </a:spcBef>
              <a:spcAft>
                <a:spcPts val="0"/>
              </a:spcAft>
              <a:buNone/>
            </a:pPr>
            <a:r>
              <a:t/>
            </a:r>
            <a:endParaRPr/>
          </a:p>
          <a:p>
            <a:pPr indent="0" lvl="0" marL="0" rtl="0" algn="l">
              <a:lnSpc>
                <a:spcPct val="90000"/>
              </a:lnSpc>
              <a:spcBef>
                <a:spcPts val="360"/>
              </a:spcBef>
              <a:spcAft>
                <a:spcPts val="0"/>
              </a:spcAft>
              <a:buNone/>
            </a:pPr>
            <a:r>
              <a:rPr lang="en-US"/>
              <a:t>This figure (8.16) provides an example of the simple clock policy mechanism.</a:t>
            </a:r>
            <a:endParaRPr/>
          </a:p>
          <a:p>
            <a:pPr indent="0" lvl="0" marL="0" rtl="0" algn="l">
              <a:lnSpc>
                <a:spcPct val="90000"/>
              </a:lnSpc>
              <a:spcBef>
                <a:spcPts val="360"/>
              </a:spcBef>
              <a:spcAft>
                <a:spcPts val="0"/>
              </a:spcAft>
              <a:buNone/>
            </a:pPr>
            <a:r>
              <a:t/>
            </a:r>
            <a:endParaRPr/>
          </a:p>
          <a:p>
            <a:pPr indent="0" lvl="0" marL="0" rtl="0" algn="l">
              <a:lnSpc>
                <a:spcPct val="90000"/>
              </a:lnSpc>
              <a:spcBef>
                <a:spcPts val="360"/>
              </a:spcBef>
              <a:spcAft>
                <a:spcPts val="0"/>
              </a:spcAft>
              <a:buNone/>
            </a:pPr>
            <a:r>
              <a:rPr lang="en-US"/>
              <a:t>A circular buffer of </a:t>
            </a:r>
            <a:r>
              <a:rPr i="1" lang="en-US"/>
              <a:t>n</a:t>
            </a:r>
            <a:r>
              <a:rPr lang="en-US"/>
              <a:t> main memory frames is available for page replacement. </a:t>
            </a:r>
            <a:endParaRPr/>
          </a:p>
          <a:p>
            <a:pPr indent="0" lvl="0" marL="0" rtl="0" algn="l">
              <a:lnSpc>
                <a:spcPct val="90000"/>
              </a:lnSpc>
              <a:spcBef>
                <a:spcPts val="360"/>
              </a:spcBef>
              <a:spcAft>
                <a:spcPts val="0"/>
              </a:spcAft>
              <a:buNone/>
            </a:pPr>
            <a:r>
              <a:t/>
            </a:r>
            <a:endParaRPr/>
          </a:p>
          <a:p>
            <a:pPr indent="0" lvl="0" marL="0" rtl="0" algn="l">
              <a:lnSpc>
                <a:spcPct val="90000"/>
              </a:lnSpc>
              <a:spcBef>
                <a:spcPts val="360"/>
              </a:spcBef>
              <a:spcAft>
                <a:spcPts val="0"/>
              </a:spcAft>
              <a:buNone/>
            </a:pPr>
            <a:r>
              <a:rPr lang="en-US"/>
              <a:t>Just prior to the replacement of a page from the buffer with incoming page 727, </a:t>
            </a:r>
            <a:endParaRPr/>
          </a:p>
          <a:p>
            <a:pPr indent="-76200" lvl="1" marL="457200" rtl="0" algn="l">
              <a:lnSpc>
                <a:spcPct val="90000"/>
              </a:lnSpc>
              <a:spcBef>
                <a:spcPts val="360"/>
              </a:spcBef>
              <a:spcAft>
                <a:spcPts val="0"/>
              </a:spcAft>
              <a:buClr>
                <a:schemeClr val="dk1"/>
              </a:buClr>
              <a:buSzPts val="1200"/>
              <a:buFont typeface="Arial"/>
              <a:buChar char="•"/>
            </a:pPr>
            <a:r>
              <a:rPr lang="en-US"/>
              <a:t> the next frame pointer points at frame 2, which contains page 45.</a:t>
            </a:r>
            <a:endParaRPr/>
          </a:p>
          <a:p>
            <a:pPr indent="0" lvl="0" marL="0" rtl="0" algn="l">
              <a:lnSpc>
                <a:spcPct val="90000"/>
              </a:lnSpc>
              <a:spcBef>
                <a:spcPts val="360"/>
              </a:spcBef>
              <a:spcAft>
                <a:spcPts val="0"/>
              </a:spcAft>
              <a:buClr>
                <a:schemeClr val="dk1"/>
              </a:buClr>
              <a:buSzPts val="1200"/>
              <a:buFont typeface="Arial"/>
              <a:buNone/>
            </a:pPr>
            <a:r>
              <a:t/>
            </a:r>
            <a:endParaRPr/>
          </a:p>
          <a:p>
            <a:pPr indent="0" lvl="0" marL="0" rtl="0" algn="l">
              <a:lnSpc>
                <a:spcPct val="90000"/>
              </a:lnSpc>
              <a:spcBef>
                <a:spcPts val="360"/>
              </a:spcBef>
              <a:spcAft>
                <a:spcPts val="0"/>
              </a:spcAft>
              <a:buClr>
                <a:schemeClr val="dk1"/>
              </a:buClr>
              <a:buSzPts val="1200"/>
              <a:buFont typeface="Arial"/>
              <a:buNone/>
            </a:pPr>
            <a:r>
              <a:rPr lang="en-US"/>
              <a:t>The clock policy is now executed.</a:t>
            </a:r>
            <a:endParaRPr/>
          </a:p>
          <a:p>
            <a:pPr indent="-76200" lvl="1" marL="457200" rtl="0" algn="l">
              <a:lnSpc>
                <a:spcPct val="90000"/>
              </a:lnSpc>
              <a:spcBef>
                <a:spcPts val="360"/>
              </a:spcBef>
              <a:spcAft>
                <a:spcPts val="0"/>
              </a:spcAft>
              <a:buClr>
                <a:schemeClr val="dk1"/>
              </a:buClr>
              <a:buSzPts val="1200"/>
              <a:buFont typeface="Arial"/>
              <a:buChar char="•"/>
            </a:pPr>
            <a:r>
              <a:rPr lang="en-US"/>
              <a:t> Because the use bit for page 45 in frame 2 is equal to 1, this page is not replaced.</a:t>
            </a:r>
            <a:endParaRPr/>
          </a:p>
          <a:p>
            <a:pPr indent="-76200" lvl="1" marL="457200" rtl="0" algn="l">
              <a:lnSpc>
                <a:spcPct val="90000"/>
              </a:lnSpc>
              <a:spcBef>
                <a:spcPts val="360"/>
              </a:spcBef>
              <a:spcAft>
                <a:spcPts val="0"/>
              </a:spcAft>
              <a:buClr>
                <a:schemeClr val="dk1"/>
              </a:buClr>
              <a:buSzPts val="1200"/>
              <a:buFont typeface="Arial"/>
              <a:buChar char="•"/>
            </a:pPr>
            <a:r>
              <a:rPr lang="en-US"/>
              <a:t> Instead, the use bit is set to zero and the pointer advances. </a:t>
            </a:r>
            <a:endParaRPr/>
          </a:p>
          <a:p>
            <a:pPr indent="-76200" lvl="1" marL="457200" rtl="0" algn="l">
              <a:lnSpc>
                <a:spcPct val="90000"/>
              </a:lnSpc>
              <a:spcBef>
                <a:spcPts val="360"/>
              </a:spcBef>
              <a:spcAft>
                <a:spcPts val="0"/>
              </a:spcAft>
              <a:buClr>
                <a:schemeClr val="dk1"/>
              </a:buClr>
              <a:buSzPts val="1200"/>
              <a:buFont typeface="Arial"/>
              <a:buChar char="•"/>
            </a:pPr>
            <a:r>
              <a:rPr lang="en-US"/>
              <a:t> Similarly, page 191 in frame 3 is not replaced; its use bit is set to zero and the pointer advances. </a:t>
            </a:r>
            <a:endParaRPr/>
          </a:p>
          <a:p>
            <a:pPr indent="-76200" lvl="1" marL="457200" rtl="0" algn="l">
              <a:lnSpc>
                <a:spcPct val="90000"/>
              </a:lnSpc>
              <a:spcBef>
                <a:spcPts val="360"/>
              </a:spcBef>
              <a:spcAft>
                <a:spcPts val="0"/>
              </a:spcAft>
              <a:buClr>
                <a:schemeClr val="dk1"/>
              </a:buClr>
              <a:buSzPts val="1200"/>
              <a:buFont typeface="Arial"/>
              <a:buChar char="•"/>
            </a:pPr>
            <a:r>
              <a:rPr lang="en-US"/>
              <a:t> In the next frame, frame 4, the use bit is set to 0.Therefore, page 556 is replaced with page 727.</a:t>
            </a:r>
            <a:endParaRPr/>
          </a:p>
          <a:p>
            <a:pPr indent="-76200" lvl="1" marL="457200" rtl="0" algn="l">
              <a:lnSpc>
                <a:spcPct val="90000"/>
              </a:lnSpc>
              <a:spcBef>
                <a:spcPts val="360"/>
              </a:spcBef>
              <a:spcAft>
                <a:spcPts val="0"/>
              </a:spcAft>
              <a:buClr>
                <a:schemeClr val="dk1"/>
              </a:buClr>
              <a:buSzPts val="1200"/>
              <a:buFont typeface="Arial"/>
              <a:buChar char="•"/>
            </a:pPr>
            <a:r>
              <a:rPr lang="en-US"/>
              <a:t>The use bit is set to 1 for this frame and the pointer advances to frame 5, completing the page replacement procedure.</a:t>
            </a:r>
            <a:endParaRPr/>
          </a:p>
        </p:txBody>
      </p:sp>
      <p:sp>
        <p:nvSpPr>
          <p:cNvPr id="682" name="Google Shape;682;p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8" name="Google Shape;688;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Explanation on previous slide</a:t>
            </a:r>
            <a:endParaRPr/>
          </a:p>
        </p:txBody>
      </p:sp>
      <p:sp>
        <p:nvSpPr>
          <p:cNvPr id="689" name="Google Shape;689;p7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5" name="Google Shape;695;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t/>
            </a:r>
            <a:endParaRPr/>
          </a:p>
        </p:txBody>
      </p:sp>
      <p:sp>
        <p:nvSpPr>
          <p:cNvPr id="696" name="Google Shape;696;p7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1110"/>
              <a:t>Figure 8.17 shows the results of an experiment reported in, which compares the four algorithms that we have been discussing; </a:t>
            </a:r>
            <a:endParaRPr/>
          </a:p>
          <a:p>
            <a:pPr indent="0" lvl="0" marL="0" rtl="0" algn="l">
              <a:lnSpc>
                <a:spcPct val="90000"/>
              </a:lnSpc>
              <a:spcBef>
                <a:spcPts val="333"/>
              </a:spcBef>
              <a:spcAft>
                <a:spcPts val="0"/>
              </a:spcAft>
              <a:buNone/>
            </a:pPr>
            <a:r>
              <a:t/>
            </a:r>
            <a:endParaRPr sz="1110"/>
          </a:p>
          <a:p>
            <a:pPr indent="0" lvl="0" marL="0" rtl="0" algn="l">
              <a:lnSpc>
                <a:spcPct val="90000"/>
              </a:lnSpc>
              <a:spcBef>
                <a:spcPts val="333"/>
              </a:spcBef>
              <a:spcAft>
                <a:spcPts val="0"/>
              </a:spcAft>
              <a:buNone/>
            </a:pPr>
            <a:r>
              <a:rPr lang="en-US" sz="1110"/>
              <a:t>It is assumed that the number of page frames assigned to a process is fixed.</a:t>
            </a:r>
            <a:endParaRPr/>
          </a:p>
          <a:p>
            <a:pPr indent="0" lvl="0" marL="0" rtl="0" algn="l">
              <a:lnSpc>
                <a:spcPct val="90000"/>
              </a:lnSpc>
              <a:spcBef>
                <a:spcPts val="333"/>
              </a:spcBef>
              <a:spcAft>
                <a:spcPts val="0"/>
              </a:spcAft>
              <a:buNone/>
            </a:pPr>
            <a:r>
              <a:t/>
            </a:r>
            <a:endParaRPr sz="1110"/>
          </a:p>
          <a:p>
            <a:pPr indent="0" lvl="0" marL="0" rtl="0" algn="l">
              <a:lnSpc>
                <a:spcPct val="90000"/>
              </a:lnSpc>
              <a:spcBef>
                <a:spcPts val="333"/>
              </a:spcBef>
              <a:spcAft>
                <a:spcPts val="0"/>
              </a:spcAft>
              <a:buNone/>
            </a:pPr>
            <a:r>
              <a:rPr lang="en-US" sz="1110"/>
              <a:t>The results are based on the execution of 0.25 x 10</a:t>
            </a:r>
            <a:r>
              <a:rPr baseline="30000" lang="en-US" sz="1110"/>
              <a:t>6 </a:t>
            </a:r>
            <a:r>
              <a:rPr lang="en-US" sz="1110"/>
              <a:t>references in a FORTRAN program, using a page size of 256 words.</a:t>
            </a:r>
            <a:endParaRPr/>
          </a:p>
          <a:p>
            <a:pPr indent="0" lvl="0" marL="0" rtl="0" algn="l">
              <a:lnSpc>
                <a:spcPct val="90000"/>
              </a:lnSpc>
              <a:spcBef>
                <a:spcPts val="333"/>
              </a:spcBef>
              <a:spcAft>
                <a:spcPts val="0"/>
              </a:spcAft>
              <a:buNone/>
            </a:pPr>
            <a:r>
              <a:t/>
            </a:r>
            <a:endParaRPr sz="1110"/>
          </a:p>
          <a:p>
            <a:pPr indent="0" lvl="0" marL="0" rtl="0" algn="l">
              <a:lnSpc>
                <a:spcPct val="90000"/>
              </a:lnSpc>
              <a:spcBef>
                <a:spcPts val="333"/>
              </a:spcBef>
              <a:spcAft>
                <a:spcPts val="0"/>
              </a:spcAft>
              <a:buNone/>
            </a:pPr>
            <a:r>
              <a:rPr lang="en-US" sz="1110"/>
              <a:t>Baer ran the experiment with frame allocations of 6, 8, 10, 12, and 14 frames.</a:t>
            </a:r>
            <a:endParaRPr/>
          </a:p>
          <a:p>
            <a:pPr indent="0" lvl="0" marL="0" rtl="0" algn="l">
              <a:lnSpc>
                <a:spcPct val="90000"/>
              </a:lnSpc>
              <a:spcBef>
                <a:spcPts val="333"/>
              </a:spcBef>
              <a:spcAft>
                <a:spcPts val="0"/>
              </a:spcAft>
              <a:buNone/>
            </a:pPr>
            <a:r>
              <a:t/>
            </a:r>
            <a:endParaRPr sz="1110"/>
          </a:p>
          <a:p>
            <a:pPr indent="0" lvl="0" marL="0" rtl="0" algn="l">
              <a:lnSpc>
                <a:spcPct val="90000"/>
              </a:lnSpc>
              <a:spcBef>
                <a:spcPts val="333"/>
              </a:spcBef>
              <a:spcAft>
                <a:spcPts val="0"/>
              </a:spcAft>
              <a:buNone/>
            </a:pPr>
            <a:r>
              <a:rPr lang="en-US" sz="1110"/>
              <a:t>The differences among the four policies are most striking at small allocations, with FIFO being over a factor of 2 worse than optimal.</a:t>
            </a:r>
            <a:endParaRPr/>
          </a:p>
          <a:p>
            <a:pPr indent="0" lvl="0" marL="0" rtl="0" algn="l">
              <a:lnSpc>
                <a:spcPct val="90000"/>
              </a:lnSpc>
              <a:spcBef>
                <a:spcPts val="333"/>
              </a:spcBef>
              <a:spcAft>
                <a:spcPts val="0"/>
              </a:spcAft>
              <a:buNone/>
            </a:pPr>
            <a:r>
              <a:t/>
            </a:r>
            <a:endParaRPr sz="1110"/>
          </a:p>
          <a:p>
            <a:pPr indent="0" lvl="0" marL="0" rtl="0" algn="l">
              <a:lnSpc>
                <a:spcPct val="90000"/>
              </a:lnSpc>
              <a:spcBef>
                <a:spcPts val="333"/>
              </a:spcBef>
              <a:spcAft>
                <a:spcPts val="0"/>
              </a:spcAft>
              <a:buNone/>
            </a:pPr>
            <a:r>
              <a:rPr lang="en-US" sz="1110"/>
              <a:t>All four curves have the same shape as the idealized behavior shown in Figure 8.11b. </a:t>
            </a:r>
            <a:endParaRPr/>
          </a:p>
          <a:p>
            <a:pPr indent="0" lvl="0" marL="0" rtl="0" algn="l">
              <a:lnSpc>
                <a:spcPct val="90000"/>
              </a:lnSpc>
              <a:spcBef>
                <a:spcPts val="333"/>
              </a:spcBef>
              <a:spcAft>
                <a:spcPts val="0"/>
              </a:spcAft>
              <a:buNone/>
            </a:pPr>
            <a:r>
              <a:t/>
            </a:r>
            <a:endParaRPr sz="1110"/>
          </a:p>
          <a:p>
            <a:pPr indent="0" lvl="0" marL="0" rtl="0" algn="l">
              <a:lnSpc>
                <a:spcPct val="90000"/>
              </a:lnSpc>
              <a:spcBef>
                <a:spcPts val="333"/>
              </a:spcBef>
              <a:spcAft>
                <a:spcPts val="0"/>
              </a:spcAft>
              <a:buNone/>
            </a:pPr>
            <a:r>
              <a:rPr lang="en-US" sz="1110"/>
              <a:t>In order to run efficiently, we would like to be to the right of the knee of the curve (with a small page fault rate) while at the same time keeping a</a:t>
            </a:r>
            <a:endParaRPr/>
          </a:p>
          <a:p>
            <a:pPr indent="0" lvl="0" marL="0" rtl="0" algn="l">
              <a:lnSpc>
                <a:spcPct val="90000"/>
              </a:lnSpc>
              <a:spcBef>
                <a:spcPts val="333"/>
              </a:spcBef>
              <a:spcAft>
                <a:spcPts val="0"/>
              </a:spcAft>
              <a:buNone/>
            </a:pPr>
            <a:r>
              <a:rPr lang="en-US" sz="1110"/>
              <a:t>small frame allocation (to the left of the knee of the curve).</a:t>
            </a:r>
            <a:endParaRPr/>
          </a:p>
          <a:p>
            <a:pPr indent="0" lvl="0" marL="0" rtl="0" algn="l">
              <a:lnSpc>
                <a:spcPct val="90000"/>
              </a:lnSpc>
              <a:spcBef>
                <a:spcPts val="333"/>
              </a:spcBef>
              <a:spcAft>
                <a:spcPts val="0"/>
              </a:spcAft>
              <a:buNone/>
            </a:pPr>
            <a:r>
              <a:t/>
            </a:r>
            <a:endParaRPr sz="1110"/>
          </a:p>
          <a:p>
            <a:pPr indent="0" lvl="0" marL="0" rtl="0" algn="l">
              <a:lnSpc>
                <a:spcPct val="90000"/>
              </a:lnSpc>
              <a:spcBef>
                <a:spcPts val="333"/>
              </a:spcBef>
              <a:spcAft>
                <a:spcPts val="0"/>
              </a:spcAft>
              <a:buNone/>
            </a:pPr>
            <a:r>
              <a:rPr lang="en-US" sz="1110"/>
              <a:t>These two constraints indicate that a desirable mode of operation would be at the knee of the curve.</a:t>
            </a:r>
            <a:endParaRPr sz="1110"/>
          </a:p>
        </p:txBody>
      </p:sp>
      <p:sp>
        <p:nvSpPr>
          <p:cNvPr id="703" name="Google Shape;703;p8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09" name="Google Shape;709;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15" name="Google Shape;715;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21" name="Google Shape;721;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7" name="Google Shape;727;p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660"/>
              <a:t>Although LRU and the clock policies are superior to FIFO, </a:t>
            </a:r>
            <a:endParaRPr/>
          </a:p>
          <a:p>
            <a:pPr indent="0" lvl="1" marL="457200" rtl="0" algn="l">
              <a:lnSpc>
                <a:spcPct val="80000"/>
              </a:lnSpc>
              <a:spcBef>
                <a:spcPts val="198"/>
              </a:spcBef>
              <a:spcAft>
                <a:spcPts val="0"/>
              </a:spcAft>
              <a:buNone/>
            </a:pPr>
            <a:r>
              <a:rPr lang="en-US" sz="660"/>
              <a:t>they both involve complexity and overhead not suffered with FIFO.</a:t>
            </a:r>
            <a:endParaRPr/>
          </a:p>
          <a:p>
            <a:pPr indent="0" lvl="1" marL="457200" rtl="0" algn="l">
              <a:lnSpc>
                <a:spcPct val="80000"/>
              </a:lnSpc>
              <a:spcBef>
                <a:spcPts val="198"/>
              </a:spcBef>
              <a:spcAft>
                <a:spcPts val="0"/>
              </a:spcAft>
              <a:buNone/>
            </a:pPr>
            <a:r>
              <a:t/>
            </a:r>
            <a:endParaRPr sz="660"/>
          </a:p>
          <a:p>
            <a:pPr indent="0" lvl="0" marL="0" rtl="0" algn="l">
              <a:lnSpc>
                <a:spcPct val="80000"/>
              </a:lnSpc>
              <a:spcBef>
                <a:spcPts val="198"/>
              </a:spcBef>
              <a:spcAft>
                <a:spcPts val="0"/>
              </a:spcAft>
              <a:buNone/>
            </a:pPr>
            <a:r>
              <a:rPr lang="en-US" sz="660"/>
              <a:t>There is also the related issue that the cost of replacing a page that has been modified is greater than for one that has not, </a:t>
            </a:r>
            <a:endParaRPr/>
          </a:p>
          <a:p>
            <a:pPr indent="0" lvl="1" marL="457200" rtl="0" algn="l">
              <a:lnSpc>
                <a:spcPct val="80000"/>
              </a:lnSpc>
              <a:spcBef>
                <a:spcPts val="198"/>
              </a:spcBef>
              <a:spcAft>
                <a:spcPts val="0"/>
              </a:spcAft>
              <a:buNone/>
            </a:pPr>
            <a:r>
              <a:rPr lang="en-US" sz="660"/>
              <a:t>because the former must be written back out to secondary memory.</a:t>
            </a:r>
            <a:endParaRPr/>
          </a:p>
          <a:p>
            <a:pPr indent="0" lvl="1" marL="457200" rtl="0" algn="l">
              <a:lnSpc>
                <a:spcPct val="80000"/>
              </a:lnSpc>
              <a:spcBef>
                <a:spcPts val="198"/>
              </a:spcBef>
              <a:spcAft>
                <a:spcPts val="0"/>
              </a:spcAft>
              <a:buNone/>
            </a:pPr>
            <a:r>
              <a:t/>
            </a:r>
            <a:endParaRPr sz="660"/>
          </a:p>
          <a:p>
            <a:pPr indent="0" lvl="0" marL="0" rtl="0" algn="l">
              <a:lnSpc>
                <a:spcPct val="80000"/>
              </a:lnSpc>
              <a:spcBef>
                <a:spcPts val="198"/>
              </a:spcBef>
              <a:spcAft>
                <a:spcPts val="0"/>
              </a:spcAft>
              <a:buNone/>
            </a:pPr>
            <a:r>
              <a:rPr lang="en-US" sz="660"/>
              <a:t>An interesting strategy that can improve paging performance and allow the use of a simpler page replacement policy is page buffering.</a:t>
            </a:r>
            <a:endParaRPr/>
          </a:p>
          <a:p>
            <a:pPr indent="0" lvl="0" marL="0" rtl="0" algn="l">
              <a:lnSpc>
                <a:spcPct val="80000"/>
              </a:lnSpc>
              <a:spcBef>
                <a:spcPts val="198"/>
              </a:spcBef>
              <a:spcAft>
                <a:spcPts val="0"/>
              </a:spcAft>
              <a:buNone/>
            </a:pPr>
            <a:r>
              <a:t/>
            </a:r>
            <a:endParaRPr sz="660"/>
          </a:p>
          <a:p>
            <a:pPr indent="0" lvl="0" marL="0" rtl="0" algn="l">
              <a:lnSpc>
                <a:spcPct val="80000"/>
              </a:lnSpc>
              <a:spcBef>
                <a:spcPts val="198"/>
              </a:spcBef>
              <a:spcAft>
                <a:spcPts val="0"/>
              </a:spcAft>
              <a:buNone/>
            </a:pPr>
            <a:r>
              <a:rPr lang="en-US" sz="660"/>
              <a:t>E.G. VAX VMS approach.</a:t>
            </a:r>
            <a:endParaRPr/>
          </a:p>
          <a:p>
            <a:pPr indent="0" lvl="0" marL="0" rtl="0" algn="l">
              <a:lnSpc>
                <a:spcPct val="80000"/>
              </a:lnSpc>
              <a:spcBef>
                <a:spcPts val="198"/>
              </a:spcBef>
              <a:spcAft>
                <a:spcPts val="0"/>
              </a:spcAft>
              <a:buNone/>
            </a:pPr>
            <a:r>
              <a:t/>
            </a:r>
            <a:endParaRPr sz="660"/>
          </a:p>
          <a:p>
            <a:pPr indent="0" lvl="0" marL="0" rtl="0" algn="l">
              <a:lnSpc>
                <a:spcPct val="80000"/>
              </a:lnSpc>
              <a:spcBef>
                <a:spcPts val="198"/>
              </a:spcBef>
              <a:spcAft>
                <a:spcPts val="0"/>
              </a:spcAft>
              <a:buNone/>
            </a:pPr>
            <a:r>
              <a:rPr lang="en-US" sz="660"/>
              <a:t> The page replacement algorithm is simple FIFO. </a:t>
            </a:r>
            <a:endParaRPr/>
          </a:p>
          <a:p>
            <a:pPr indent="0" lvl="0" marL="0" rtl="0" algn="l">
              <a:lnSpc>
                <a:spcPct val="80000"/>
              </a:lnSpc>
              <a:spcBef>
                <a:spcPts val="198"/>
              </a:spcBef>
              <a:spcAft>
                <a:spcPts val="0"/>
              </a:spcAft>
              <a:buNone/>
            </a:pPr>
            <a:r>
              <a:rPr lang="en-US" sz="660"/>
              <a:t>To improve performance, a replaced page is not lost but rather is assigned to one of two lists: </a:t>
            </a:r>
            <a:endParaRPr/>
          </a:p>
          <a:p>
            <a:pPr indent="-41909" lvl="1" marL="457200" rtl="0" algn="l">
              <a:lnSpc>
                <a:spcPct val="80000"/>
              </a:lnSpc>
              <a:spcBef>
                <a:spcPts val="198"/>
              </a:spcBef>
              <a:spcAft>
                <a:spcPts val="0"/>
              </a:spcAft>
              <a:buClr>
                <a:schemeClr val="dk1"/>
              </a:buClr>
              <a:buSzPts val="660"/>
              <a:buFont typeface="Arial"/>
              <a:buChar char="•"/>
            </a:pPr>
            <a:r>
              <a:rPr lang="en-US" sz="660"/>
              <a:t> the </a:t>
            </a:r>
            <a:r>
              <a:rPr b="1" lang="en-US" sz="660"/>
              <a:t>free page </a:t>
            </a:r>
            <a:r>
              <a:rPr lang="en-US" sz="660"/>
              <a:t>list if the page has not been modified, or </a:t>
            </a:r>
            <a:endParaRPr/>
          </a:p>
          <a:p>
            <a:pPr indent="-41909" lvl="1" marL="457200" rtl="0" algn="l">
              <a:lnSpc>
                <a:spcPct val="80000"/>
              </a:lnSpc>
              <a:spcBef>
                <a:spcPts val="198"/>
              </a:spcBef>
              <a:spcAft>
                <a:spcPts val="0"/>
              </a:spcAft>
              <a:buClr>
                <a:schemeClr val="dk1"/>
              </a:buClr>
              <a:buSzPts val="660"/>
              <a:buFont typeface="Arial"/>
              <a:buChar char="•"/>
            </a:pPr>
            <a:r>
              <a:rPr lang="en-US" sz="660"/>
              <a:t> the </a:t>
            </a:r>
            <a:r>
              <a:rPr b="1" lang="en-US" sz="660"/>
              <a:t>modified page </a:t>
            </a:r>
            <a:r>
              <a:rPr lang="en-US" sz="660"/>
              <a:t>list if it has.</a:t>
            </a:r>
            <a:endParaRPr/>
          </a:p>
          <a:p>
            <a:pPr indent="0" lvl="1" marL="457200" rtl="0" algn="l">
              <a:lnSpc>
                <a:spcPct val="80000"/>
              </a:lnSpc>
              <a:spcBef>
                <a:spcPts val="198"/>
              </a:spcBef>
              <a:spcAft>
                <a:spcPts val="0"/>
              </a:spcAft>
              <a:buClr>
                <a:schemeClr val="dk1"/>
              </a:buClr>
              <a:buSzPts val="660"/>
              <a:buFont typeface="Arial"/>
              <a:buNone/>
            </a:pPr>
            <a:r>
              <a:t/>
            </a:r>
            <a:endParaRPr sz="660"/>
          </a:p>
          <a:p>
            <a:pPr indent="0" lvl="0" marL="0" rtl="0" algn="l">
              <a:lnSpc>
                <a:spcPct val="80000"/>
              </a:lnSpc>
              <a:spcBef>
                <a:spcPts val="198"/>
              </a:spcBef>
              <a:spcAft>
                <a:spcPts val="0"/>
              </a:spcAft>
              <a:buClr>
                <a:schemeClr val="dk1"/>
              </a:buClr>
              <a:buSzPts val="660"/>
              <a:buFont typeface="Arial"/>
              <a:buNone/>
            </a:pPr>
            <a:r>
              <a:rPr b="1" lang="en-US" sz="660"/>
              <a:t>Note that the page is not physically moved about in main memory; </a:t>
            </a:r>
            <a:endParaRPr/>
          </a:p>
          <a:p>
            <a:pPr indent="0" lvl="1" marL="457200" rtl="0" algn="l">
              <a:lnSpc>
                <a:spcPct val="80000"/>
              </a:lnSpc>
              <a:spcBef>
                <a:spcPts val="198"/>
              </a:spcBef>
              <a:spcAft>
                <a:spcPts val="0"/>
              </a:spcAft>
              <a:buClr>
                <a:schemeClr val="dk1"/>
              </a:buClr>
              <a:buSzPts val="660"/>
              <a:buFont typeface="Arial"/>
              <a:buNone/>
            </a:pPr>
            <a:r>
              <a:rPr lang="en-US" sz="660"/>
              <a:t>instead, the entry in the page table for this page is removed and placed in either the free or modified page list.</a:t>
            </a:r>
            <a:endParaRPr/>
          </a:p>
          <a:p>
            <a:pPr indent="0" lvl="0" marL="0" rtl="0" algn="l">
              <a:lnSpc>
                <a:spcPct val="80000"/>
              </a:lnSpc>
              <a:spcBef>
                <a:spcPts val="198"/>
              </a:spcBef>
              <a:spcAft>
                <a:spcPts val="0"/>
              </a:spcAft>
              <a:buNone/>
            </a:pPr>
            <a:r>
              <a:t/>
            </a:r>
            <a:endParaRPr sz="660"/>
          </a:p>
          <a:p>
            <a:pPr indent="0" lvl="0" marL="0" rtl="0" algn="l">
              <a:lnSpc>
                <a:spcPct val="80000"/>
              </a:lnSpc>
              <a:spcBef>
                <a:spcPts val="198"/>
              </a:spcBef>
              <a:spcAft>
                <a:spcPts val="0"/>
              </a:spcAft>
              <a:buNone/>
            </a:pPr>
            <a:r>
              <a:rPr lang="en-US" sz="660"/>
              <a:t>The free page list is a list of page frames available for reading in pages. </a:t>
            </a:r>
            <a:endParaRPr/>
          </a:p>
          <a:p>
            <a:pPr indent="-41909" lvl="1" marL="457200" rtl="0" algn="l">
              <a:lnSpc>
                <a:spcPct val="80000"/>
              </a:lnSpc>
              <a:spcBef>
                <a:spcPts val="198"/>
              </a:spcBef>
              <a:spcAft>
                <a:spcPts val="0"/>
              </a:spcAft>
              <a:buClr>
                <a:schemeClr val="dk1"/>
              </a:buClr>
              <a:buSzPts val="660"/>
              <a:buFont typeface="Arial"/>
              <a:buChar char="•"/>
            </a:pPr>
            <a:r>
              <a:rPr lang="en-US" sz="660"/>
              <a:t> When a page is to be read in, the page frame at the head of the list is used, destroying the page that was there.</a:t>
            </a:r>
            <a:endParaRPr/>
          </a:p>
          <a:p>
            <a:pPr indent="-41909" lvl="1" marL="457200" rtl="0" algn="l">
              <a:lnSpc>
                <a:spcPct val="80000"/>
              </a:lnSpc>
              <a:spcBef>
                <a:spcPts val="198"/>
              </a:spcBef>
              <a:spcAft>
                <a:spcPts val="0"/>
              </a:spcAft>
              <a:buClr>
                <a:schemeClr val="dk1"/>
              </a:buClr>
              <a:buSzPts val="660"/>
              <a:buFont typeface="Arial"/>
              <a:buChar char="•"/>
            </a:pPr>
            <a:r>
              <a:rPr lang="en-US" sz="660"/>
              <a:t> When an unmodified page is to be replaced, it remains in memory and its page frame is added to the tail of the free page list.</a:t>
            </a:r>
            <a:endParaRPr/>
          </a:p>
          <a:p>
            <a:pPr indent="-41909" lvl="1" marL="457200" rtl="0" algn="l">
              <a:lnSpc>
                <a:spcPct val="80000"/>
              </a:lnSpc>
              <a:spcBef>
                <a:spcPts val="198"/>
              </a:spcBef>
              <a:spcAft>
                <a:spcPts val="0"/>
              </a:spcAft>
              <a:buClr>
                <a:schemeClr val="dk1"/>
              </a:buClr>
              <a:buSzPts val="660"/>
              <a:buFont typeface="Arial"/>
              <a:buChar char="•"/>
            </a:pPr>
            <a:r>
              <a:rPr lang="en-US" sz="660"/>
              <a:t> Similarly, when a modified page is to be written out and replaced, its page frame is added to the tail of the modified page list.</a:t>
            </a:r>
            <a:endParaRPr/>
          </a:p>
          <a:p>
            <a:pPr indent="0" lvl="0" marL="0" rtl="0" algn="l">
              <a:lnSpc>
                <a:spcPct val="80000"/>
              </a:lnSpc>
              <a:spcBef>
                <a:spcPts val="198"/>
              </a:spcBef>
              <a:spcAft>
                <a:spcPts val="0"/>
              </a:spcAft>
              <a:buNone/>
            </a:pPr>
            <a:r>
              <a:t/>
            </a:r>
            <a:endParaRPr sz="660"/>
          </a:p>
          <a:p>
            <a:pPr indent="0" lvl="0" marL="0" rtl="0" algn="l">
              <a:lnSpc>
                <a:spcPct val="80000"/>
              </a:lnSpc>
              <a:spcBef>
                <a:spcPts val="198"/>
              </a:spcBef>
              <a:spcAft>
                <a:spcPts val="0"/>
              </a:spcAft>
              <a:buNone/>
            </a:pPr>
            <a:r>
              <a:rPr lang="en-US" sz="660"/>
              <a:t>The important aspect of these manoeuvres is that the page to be replaced remains in memory.</a:t>
            </a:r>
            <a:endParaRPr/>
          </a:p>
          <a:p>
            <a:pPr indent="-41909" lvl="1" marL="457200" rtl="0" algn="l">
              <a:lnSpc>
                <a:spcPct val="80000"/>
              </a:lnSpc>
              <a:spcBef>
                <a:spcPts val="198"/>
              </a:spcBef>
              <a:spcAft>
                <a:spcPts val="0"/>
              </a:spcAft>
              <a:buClr>
                <a:schemeClr val="dk1"/>
              </a:buClr>
              <a:buSzPts val="660"/>
              <a:buFont typeface="Arial"/>
              <a:buChar char="•"/>
            </a:pPr>
            <a:r>
              <a:rPr lang="en-US" sz="660"/>
              <a:t> If the process references that page, it is returned to the resident set of that process at little cost. </a:t>
            </a:r>
            <a:endParaRPr/>
          </a:p>
          <a:p>
            <a:pPr indent="-41909" lvl="1" marL="457200" rtl="0" algn="l">
              <a:lnSpc>
                <a:spcPct val="80000"/>
              </a:lnSpc>
              <a:spcBef>
                <a:spcPts val="198"/>
              </a:spcBef>
              <a:spcAft>
                <a:spcPts val="0"/>
              </a:spcAft>
              <a:buClr>
                <a:schemeClr val="dk1"/>
              </a:buClr>
              <a:buSzPts val="660"/>
              <a:buFont typeface="Arial"/>
              <a:buChar char="•"/>
            </a:pPr>
            <a:r>
              <a:rPr lang="en-US" sz="660"/>
              <a:t> In effect, the free and modified page lists act as a cache of pages. </a:t>
            </a:r>
            <a:endParaRPr/>
          </a:p>
          <a:p>
            <a:pPr indent="0" lvl="0" marL="0" rtl="0" algn="l">
              <a:lnSpc>
                <a:spcPct val="80000"/>
              </a:lnSpc>
              <a:spcBef>
                <a:spcPts val="198"/>
              </a:spcBef>
              <a:spcAft>
                <a:spcPts val="0"/>
              </a:spcAft>
              <a:buClr>
                <a:schemeClr val="dk1"/>
              </a:buClr>
              <a:buSzPts val="660"/>
              <a:buFont typeface="Arial"/>
              <a:buNone/>
            </a:pPr>
            <a:r>
              <a:t/>
            </a:r>
            <a:endParaRPr sz="660"/>
          </a:p>
          <a:p>
            <a:pPr indent="0" lvl="0" marL="0" rtl="0" algn="l">
              <a:lnSpc>
                <a:spcPct val="80000"/>
              </a:lnSpc>
              <a:spcBef>
                <a:spcPts val="198"/>
              </a:spcBef>
              <a:spcAft>
                <a:spcPts val="0"/>
              </a:spcAft>
              <a:buClr>
                <a:schemeClr val="dk1"/>
              </a:buClr>
              <a:buSzPts val="660"/>
              <a:buFont typeface="Arial"/>
              <a:buNone/>
            </a:pPr>
            <a:r>
              <a:rPr lang="en-US" sz="660"/>
              <a:t>The modified page list serves another useful function: </a:t>
            </a:r>
            <a:endParaRPr/>
          </a:p>
          <a:p>
            <a:pPr indent="0" lvl="1" marL="457200" rtl="0" algn="l">
              <a:lnSpc>
                <a:spcPct val="80000"/>
              </a:lnSpc>
              <a:spcBef>
                <a:spcPts val="198"/>
              </a:spcBef>
              <a:spcAft>
                <a:spcPts val="0"/>
              </a:spcAft>
              <a:buClr>
                <a:schemeClr val="dk1"/>
              </a:buClr>
              <a:buSzPts val="660"/>
              <a:buFont typeface="Arial"/>
              <a:buNone/>
            </a:pPr>
            <a:r>
              <a:rPr lang="en-US" sz="660"/>
              <a:t>Modified pages are written out in clusters rather than one at a time - significantly reducing the number of I/O operations and therefore the amount of disk access time.</a:t>
            </a:r>
            <a:endParaRPr/>
          </a:p>
          <a:p>
            <a:pPr indent="0" lvl="0" marL="0" rtl="0" algn="l">
              <a:lnSpc>
                <a:spcPct val="80000"/>
              </a:lnSpc>
              <a:spcBef>
                <a:spcPts val="198"/>
              </a:spcBef>
              <a:spcAft>
                <a:spcPts val="0"/>
              </a:spcAft>
              <a:buNone/>
            </a:pPr>
            <a:r>
              <a:t/>
            </a:r>
            <a:endParaRPr sz="660"/>
          </a:p>
        </p:txBody>
      </p:sp>
      <p:sp>
        <p:nvSpPr>
          <p:cNvPr id="728" name="Google Shape;728;p8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34" name="Google Shape;734;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40" name="Google Shape;740;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6" name="Google Shape;746;p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With paged virtual memory, it is not necessary and indeed may not be possible to bring all of the pages of a process into main memory to prepare it for execution.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Thus, the operating system must decide how many pages to bring in</a:t>
            </a:r>
            <a:endParaRPr/>
          </a:p>
          <a:p>
            <a:pPr indent="0" lvl="1" marL="457200" rtl="0" algn="l">
              <a:spcBef>
                <a:spcPts val="360"/>
              </a:spcBef>
              <a:spcAft>
                <a:spcPts val="0"/>
              </a:spcAft>
              <a:buNone/>
            </a:pPr>
            <a:r>
              <a:rPr lang="en-US"/>
              <a:t>IE , how much main memory to allocate to a particular process. </a:t>
            </a:r>
            <a:endParaRPr/>
          </a:p>
          <a:p>
            <a:pPr indent="0" lvl="1" marL="457200" rtl="0" algn="l">
              <a:spcBef>
                <a:spcPts val="360"/>
              </a:spcBef>
              <a:spcAft>
                <a:spcPts val="0"/>
              </a:spcAft>
              <a:buNone/>
            </a:pPr>
            <a:r>
              <a:t/>
            </a:r>
            <a:endParaRPr/>
          </a:p>
          <a:p>
            <a:pPr indent="0" lvl="0" marL="0" rtl="0" algn="l">
              <a:spcBef>
                <a:spcPts val="360"/>
              </a:spcBef>
              <a:spcAft>
                <a:spcPts val="0"/>
              </a:spcAft>
              <a:buNone/>
            </a:pPr>
            <a:r>
              <a:rPr lang="en-US"/>
              <a:t>Several factors come into play:</a:t>
            </a:r>
            <a:endParaRPr/>
          </a:p>
          <a:p>
            <a:pPr indent="0" lvl="1" marL="457200" rtl="0" algn="l">
              <a:spcBef>
                <a:spcPts val="360"/>
              </a:spcBef>
              <a:spcAft>
                <a:spcPts val="0"/>
              </a:spcAft>
              <a:buNone/>
            </a:pPr>
            <a:r>
              <a:rPr lang="en-US"/>
              <a:t>• The smaller the amount of memory allocated to a process, the more processes that can reside in main memory at any one time. This increases the probability that the operating system will find at least one ready process at any given time and hence reduces the time lost due to swapping.</a:t>
            </a:r>
            <a:endParaRPr/>
          </a:p>
          <a:p>
            <a:pPr indent="0" lvl="1" marL="457200" rtl="0" algn="l">
              <a:spcBef>
                <a:spcPts val="360"/>
              </a:spcBef>
              <a:spcAft>
                <a:spcPts val="0"/>
              </a:spcAft>
              <a:buNone/>
            </a:pPr>
            <a:r>
              <a:rPr lang="en-US"/>
              <a:t>• If a relatively small number of pages of a process are in main memory, then, despite the principle of locality, the rate of page faults will be rather high </a:t>
            </a:r>
            <a:endParaRPr/>
          </a:p>
          <a:p>
            <a:pPr indent="0" lvl="1" marL="457200" rtl="0" algn="l">
              <a:spcBef>
                <a:spcPts val="360"/>
              </a:spcBef>
              <a:spcAft>
                <a:spcPts val="0"/>
              </a:spcAft>
              <a:buNone/>
            </a:pPr>
            <a:r>
              <a:rPr lang="en-US"/>
              <a:t>• Beyond a certain size, additional allocation of main memory to a particular process will have no noticeable effect on the page fault rate for that process because of the principle of locality.</a:t>
            </a:r>
            <a:endParaRPr/>
          </a:p>
        </p:txBody>
      </p:sp>
      <p:sp>
        <p:nvSpPr>
          <p:cNvPr id="747" name="Google Shape;747;p8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3" name="Google Shape;753;p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A </a:t>
            </a:r>
            <a:r>
              <a:rPr b="1" lang="en-US"/>
              <a:t>fixed-allocation policy </a:t>
            </a:r>
            <a:r>
              <a:rPr lang="en-US"/>
              <a:t>gives a process a fixed number of frames in main memory within which to execute.</a:t>
            </a:r>
            <a:endParaRPr/>
          </a:p>
          <a:p>
            <a:pPr indent="-76200" lvl="1" marL="457200" rtl="0" algn="l">
              <a:lnSpc>
                <a:spcPct val="90000"/>
              </a:lnSpc>
              <a:spcBef>
                <a:spcPts val="360"/>
              </a:spcBef>
              <a:spcAft>
                <a:spcPts val="0"/>
              </a:spcAft>
              <a:buClr>
                <a:schemeClr val="dk1"/>
              </a:buClr>
              <a:buSzPts val="1200"/>
              <a:buFont typeface="Arial"/>
              <a:buChar char="•"/>
            </a:pPr>
            <a:r>
              <a:rPr lang="en-US"/>
              <a:t> That number is decided at initial load time (process creation time) and may be determined based on the type of process (interactive, batch, type of application) or may be based on guidance from the programmer or system manager.</a:t>
            </a:r>
            <a:endParaRPr/>
          </a:p>
          <a:p>
            <a:pPr indent="-76200" lvl="1" marL="457200" rtl="0" algn="l">
              <a:lnSpc>
                <a:spcPct val="90000"/>
              </a:lnSpc>
              <a:spcBef>
                <a:spcPts val="360"/>
              </a:spcBef>
              <a:spcAft>
                <a:spcPts val="0"/>
              </a:spcAft>
              <a:buClr>
                <a:schemeClr val="dk1"/>
              </a:buClr>
              <a:buSzPts val="1200"/>
              <a:buFont typeface="Arial"/>
              <a:buChar char="•"/>
            </a:pPr>
            <a:r>
              <a:rPr lang="en-US"/>
              <a:t> Whenever a page fault occurs in the execution of a process, one of the pages of that process must be replaced by the needed page.</a:t>
            </a:r>
            <a:endParaRPr/>
          </a:p>
          <a:p>
            <a:pPr indent="0" lvl="0" marL="0" rtl="0" algn="l">
              <a:lnSpc>
                <a:spcPct val="90000"/>
              </a:lnSpc>
              <a:spcBef>
                <a:spcPts val="360"/>
              </a:spcBef>
              <a:spcAft>
                <a:spcPts val="0"/>
              </a:spcAft>
              <a:buNone/>
            </a:pPr>
            <a:r>
              <a:t/>
            </a:r>
            <a:endParaRPr/>
          </a:p>
          <a:p>
            <a:pPr indent="0" lvl="0" marL="0" rtl="0" algn="l">
              <a:lnSpc>
                <a:spcPct val="90000"/>
              </a:lnSpc>
              <a:spcBef>
                <a:spcPts val="360"/>
              </a:spcBef>
              <a:spcAft>
                <a:spcPts val="0"/>
              </a:spcAft>
              <a:buNone/>
            </a:pPr>
            <a:r>
              <a:rPr b="1" lang="en-US"/>
              <a:t>A variable-allocation policy </a:t>
            </a:r>
            <a:r>
              <a:rPr lang="en-US"/>
              <a:t>allows the number of page frames allocated to a process to be varied over the lifetime of the process.</a:t>
            </a:r>
            <a:endParaRPr/>
          </a:p>
          <a:p>
            <a:pPr indent="-76200" lvl="1" marL="457200" rtl="0" algn="l">
              <a:lnSpc>
                <a:spcPct val="90000"/>
              </a:lnSpc>
              <a:spcBef>
                <a:spcPts val="360"/>
              </a:spcBef>
              <a:spcAft>
                <a:spcPts val="0"/>
              </a:spcAft>
              <a:buClr>
                <a:schemeClr val="dk1"/>
              </a:buClr>
              <a:buSzPts val="1200"/>
              <a:buFont typeface="Arial"/>
              <a:buChar char="•"/>
            </a:pPr>
            <a:r>
              <a:rPr lang="en-US"/>
              <a:t> Ideally, a process that is suffering persistently high levels of page faults, indicating that the principle of locality only holds in a weak form for that process, will be given additional page frames to reduce the page fault rate; </a:t>
            </a:r>
            <a:endParaRPr/>
          </a:p>
          <a:p>
            <a:pPr indent="-76200" lvl="1" marL="457200" rtl="0" algn="l">
              <a:lnSpc>
                <a:spcPct val="90000"/>
              </a:lnSpc>
              <a:spcBef>
                <a:spcPts val="360"/>
              </a:spcBef>
              <a:spcAft>
                <a:spcPts val="0"/>
              </a:spcAft>
              <a:buClr>
                <a:schemeClr val="dk1"/>
              </a:buClr>
              <a:buSzPts val="1200"/>
              <a:buFont typeface="Arial"/>
              <a:buChar char="•"/>
            </a:pPr>
            <a:r>
              <a:rPr lang="en-US"/>
              <a:t> whereas a process with an exceptionally low page fault rate will be given a reduced allocation, with the hope that this will not noticeably increase the page fault rate.</a:t>
            </a:r>
            <a:endParaRPr/>
          </a:p>
          <a:p>
            <a:pPr indent="-76200" lvl="1" marL="457200" rtl="0" algn="l">
              <a:lnSpc>
                <a:spcPct val="90000"/>
              </a:lnSpc>
              <a:spcBef>
                <a:spcPts val="360"/>
              </a:spcBef>
              <a:spcAft>
                <a:spcPts val="0"/>
              </a:spcAft>
              <a:buClr>
                <a:schemeClr val="dk1"/>
              </a:buClr>
              <a:buSzPts val="1200"/>
              <a:buFont typeface="Arial"/>
              <a:buChar char="•"/>
            </a:pPr>
            <a:r>
              <a:rPr lang="en-US"/>
              <a:t> The use of a variable-allocation policy relates to the concept of replacement scope</a:t>
            </a:r>
            <a:endParaRPr/>
          </a:p>
        </p:txBody>
      </p:sp>
      <p:sp>
        <p:nvSpPr>
          <p:cNvPr id="754" name="Google Shape;754;p8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0" name="Google Shape;760;p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scope of a replacement strategy can be categorized as global or local.</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Both types of policies are activated by a page fault when there are no free page frames.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local replacement policy chooses only among the resident pages of the process that generated the page fault in selecting a page to replace.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global replacement policy considers all unlocked pages in main memory as candidates for replacement, regardless of which process owns a particular page.</a:t>
            </a:r>
            <a:endParaRPr/>
          </a:p>
        </p:txBody>
      </p:sp>
      <p:sp>
        <p:nvSpPr>
          <p:cNvPr id="761" name="Google Shape;761;p8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67" name="Google Shape;767;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 name="Google Shape;773;p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 process that is running in main memory with a fixed number of frames.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When a page fault occurs, the operating system must choose which page from among the currently resident pages for this process is to be replaced.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With a fixed-allocation policy, it is necessary to decide ahead of time the amount of allocation to give to a process.</a:t>
            </a:r>
            <a:endParaRPr/>
          </a:p>
          <a:p>
            <a:pPr indent="-76200" lvl="1" marL="457200" rtl="0" algn="l">
              <a:spcBef>
                <a:spcPts val="360"/>
              </a:spcBef>
              <a:spcAft>
                <a:spcPts val="0"/>
              </a:spcAft>
              <a:buClr>
                <a:schemeClr val="dk1"/>
              </a:buClr>
              <a:buSzPts val="1200"/>
              <a:buFont typeface="Arial"/>
              <a:buChar char="•"/>
            </a:pPr>
            <a:r>
              <a:rPr lang="en-US"/>
              <a:t> This could be based on the type of application and the amount requested by the program.</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lang="en-US"/>
              <a:t>Two drawbacks: </a:t>
            </a:r>
            <a:endParaRPr/>
          </a:p>
          <a:p>
            <a:pPr indent="-76200" lvl="1" marL="457200" rtl="0" algn="l">
              <a:spcBef>
                <a:spcPts val="360"/>
              </a:spcBef>
              <a:spcAft>
                <a:spcPts val="0"/>
              </a:spcAft>
              <a:buClr>
                <a:schemeClr val="dk1"/>
              </a:buClr>
              <a:buSzPts val="1200"/>
              <a:buFont typeface="Arial"/>
              <a:buChar char="•"/>
            </a:pPr>
            <a:r>
              <a:rPr lang="en-US"/>
              <a:t> If allocations tend to be too small, then there will be a high page fault rate, causing the entire multiprogramming system to run slowly. </a:t>
            </a:r>
            <a:endParaRPr/>
          </a:p>
          <a:p>
            <a:pPr indent="-76200" lvl="1" marL="457200" rtl="0" algn="l">
              <a:spcBef>
                <a:spcPts val="360"/>
              </a:spcBef>
              <a:spcAft>
                <a:spcPts val="0"/>
              </a:spcAft>
              <a:buClr>
                <a:schemeClr val="dk1"/>
              </a:buClr>
              <a:buSzPts val="1200"/>
              <a:buFont typeface="Arial"/>
              <a:buChar char="•"/>
            </a:pPr>
            <a:r>
              <a:rPr lang="en-US"/>
              <a:t> If allocations tend to be unnecessarily large, then there will be too few programs in main memory and there will either be considerable processor idle time or considerable time spent in swapping.</a:t>
            </a:r>
            <a:endParaRPr/>
          </a:p>
        </p:txBody>
      </p:sp>
      <p:sp>
        <p:nvSpPr>
          <p:cNvPr id="774" name="Google Shape;774;p9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0" name="Google Shape;780;p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1020"/>
              <a:t>This combination is perhaps the easiest to implement and has been adopted in a number of operating systems.</a:t>
            </a:r>
            <a:endParaRPr/>
          </a:p>
          <a:p>
            <a:pPr indent="0" lvl="0" marL="0" rtl="0" algn="l">
              <a:lnSpc>
                <a:spcPct val="80000"/>
              </a:lnSpc>
              <a:spcBef>
                <a:spcPts val="306"/>
              </a:spcBef>
              <a:spcAft>
                <a:spcPts val="0"/>
              </a:spcAft>
              <a:buNone/>
            </a:pPr>
            <a:r>
              <a:t/>
            </a:r>
            <a:endParaRPr sz="1020"/>
          </a:p>
          <a:p>
            <a:pPr indent="0" lvl="0" marL="0" rtl="0" algn="l">
              <a:lnSpc>
                <a:spcPct val="80000"/>
              </a:lnSpc>
              <a:spcBef>
                <a:spcPts val="306"/>
              </a:spcBef>
              <a:spcAft>
                <a:spcPts val="0"/>
              </a:spcAft>
              <a:buNone/>
            </a:pPr>
            <a:r>
              <a:rPr lang="en-US" sz="1020"/>
              <a:t>At any given time, there are a number of processes in main memory, each with a certain number of frames allocated to it.</a:t>
            </a:r>
            <a:endParaRPr/>
          </a:p>
          <a:p>
            <a:pPr indent="0" lvl="1" marL="457200" rtl="0" algn="l">
              <a:lnSpc>
                <a:spcPct val="80000"/>
              </a:lnSpc>
              <a:spcBef>
                <a:spcPts val="306"/>
              </a:spcBef>
              <a:spcAft>
                <a:spcPts val="0"/>
              </a:spcAft>
              <a:buClr>
                <a:schemeClr val="dk1"/>
              </a:buClr>
              <a:buSzPts val="1020"/>
              <a:buFont typeface="Arial"/>
              <a:buNone/>
            </a:pPr>
            <a:r>
              <a:rPr lang="en-US" sz="1020"/>
              <a:t>Typically, the operating system also maintains a list of free frames. </a:t>
            </a:r>
            <a:endParaRPr/>
          </a:p>
          <a:p>
            <a:pPr indent="0" lvl="0" marL="0" rtl="0" algn="l">
              <a:lnSpc>
                <a:spcPct val="80000"/>
              </a:lnSpc>
              <a:spcBef>
                <a:spcPts val="306"/>
              </a:spcBef>
              <a:spcAft>
                <a:spcPts val="0"/>
              </a:spcAft>
              <a:buClr>
                <a:schemeClr val="dk1"/>
              </a:buClr>
              <a:buSzPts val="1020"/>
              <a:buFont typeface="Arial"/>
              <a:buNone/>
            </a:pPr>
            <a:r>
              <a:t/>
            </a:r>
            <a:endParaRPr sz="1020"/>
          </a:p>
          <a:p>
            <a:pPr indent="0" lvl="0" marL="0" rtl="0" algn="l">
              <a:lnSpc>
                <a:spcPct val="80000"/>
              </a:lnSpc>
              <a:spcBef>
                <a:spcPts val="306"/>
              </a:spcBef>
              <a:spcAft>
                <a:spcPts val="0"/>
              </a:spcAft>
              <a:buClr>
                <a:schemeClr val="dk1"/>
              </a:buClr>
              <a:buSzPts val="1020"/>
              <a:buFont typeface="Arial"/>
              <a:buNone/>
            </a:pPr>
            <a:r>
              <a:rPr lang="en-US" sz="1020"/>
              <a:t>When a page fault occurs, a free frame is added to the resident set of a process and the page is brought in. </a:t>
            </a:r>
            <a:endParaRPr/>
          </a:p>
          <a:p>
            <a:pPr indent="0" lvl="1" marL="457200" rtl="0" algn="l">
              <a:lnSpc>
                <a:spcPct val="80000"/>
              </a:lnSpc>
              <a:spcBef>
                <a:spcPts val="306"/>
              </a:spcBef>
              <a:spcAft>
                <a:spcPts val="0"/>
              </a:spcAft>
              <a:buClr>
                <a:schemeClr val="dk1"/>
              </a:buClr>
              <a:buSzPts val="1020"/>
              <a:buFont typeface="Arial"/>
              <a:buNone/>
            </a:pPr>
            <a:r>
              <a:rPr lang="en-US" sz="1020"/>
              <a:t>Thus, a process experiencing page faults will gradually grow in size, which should help reduce overall page faults in the system.</a:t>
            </a:r>
            <a:endParaRPr/>
          </a:p>
          <a:p>
            <a:pPr indent="0" lvl="1" marL="457200" rtl="0" algn="l">
              <a:lnSpc>
                <a:spcPct val="80000"/>
              </a:lnSpc>
              <a:spcBef>
                <a:spcPts val="306"/>
              </a:spcBef>
              <a:spcAft>
                <a:spcPts val="0"/>
              </a:spcAft>
              <a:buClr>
                <a:schemeClr val="dk1"/>
              </a:buClr>
              <a:buSzPts val="1020"/>
              <a:buFont typeface="Arial"/>
              <a:buNone/>
            </a:pPr>
            <a:r>
              <a:t/>
            </a:r>
            <a:endParaRPr sz="1020"/>
          </a:p>
          <a:p>
            <a:pPr indent="0" lvl="0" marL="0" rtl="0" algn="l">
              <a:lnSpc>
                <a:spcPct val="80000"/>
              </a:lnSpc>
              <a:spcBef>
                <a:spcPts val="306"/>
              </a:spcBef>
              <a:spcAft>
                <a:spcPts val="0"/>
              </a:spcAft>
              <a:buClr>
                <a:schemeClr val="dk1"/>
              </a:buClr>
              <a:buSzPts val="1020"/>
              <a:buFont typeface="Arial"/>
              <a:buNone/>
            </a:pPr>
            <a:r>
              <a:rPr lang="en-US" sz="1020"/>
              <a:t>The difficulty with this approach is in the replacement choice. </a:t>
            </a:r>
            <a:endParaRPr/>
          </a:p>
          <a:p>
            <a:pPr indent="-64770" lvl="1" marL="457200" rtl="0" algn="l">
              <a:lnSpc>
                <a:spcPct val="80000"/>
              </a:lnSpc>
              <a:spcBef>
                <a:spcPts val="306"/>
              </a:spcBef>
              <a:spcAft>
                <a:spcPts val="0"/>
              </a:spcAft>
              <a:buClr>
                <a:schemeClr val="dk1"/>
              </a:buClr>
              <a:buSzPts val="1020"/>
              <a:buFont typeface="Arial"/>
              <a:buChar char="•"/>
            </a:pPr>
            <a:r>
              <a:rPr lang="en-US" sz="1020"/>
              <a:t>When there are no free frames available, the operating system must choose a page currently in memory to replace.</a:t>
            </a:r>
            <a:endParaRPr/>
          </a:p>
          <a:p>
            <a:pPr indent="-64770" lvl="1" marL="457200" rtl="0" algn="l">
              <a:lnSpc>
                <a:spcPct val="80000"/>
              </a:lnSpc>
              <a:spcBef>
                <a:spcPts val="306"/>
              </a:spcBef>
              <a:spcAft>
                <a:spcPts val="0"/>
              </a:spcAft>
              <a:buClr>
                <a:schemeClr val="dk1"/>
              </a:buClr>
              <a:buSzPts val="1020"/>
              <a:buFont typeface="Arial"/>
              <a:buChar char="•"/>
            </a:pPr>
            <a:r>
              <a:rPr lang="en-US" sz="1020"/>
              <a:t> The selection is made from among all of the frames in memory, except for locked frames such as those of the kernel.</a:t>
            </a:r>
            <a:endParaRPr/>
          </a:p>
          <a:p>
            <a:pPr indent="-64770" lvl="1" marL="457200" rtl="0" algn="l">
              <a:lnSpc>
                <a:spcPct val="80000"/>
              </a:lnSpc>
              <a:spcBef>
                <a:spcPts val="306"/>
              </a:spcBef>
              <a:spcAft>
                <a:spcPts val="0"/>
              </a:spcAft>
              <a:buClr>
                <a:schemeClr val="dk1"/>
              </a:buClr>
              <a:buSzPts val="1020"/>
              <a:buFont typeface="Arial"/>
              <a:buChar char="•"/>
            </a:pPr>
            <a:r>
              <a:rPr lang="en-US" sz="1020"/>
              <a:t> The process that suffers the reduction in resident set size may not be optimum.</a:t>
            </a:r>
            <a:endParaRPr/>
          </a:p>
        </p:txBody>
      </p:sp>
      <p:sp>
        <p:nvSpPr>
          <p:cNvPr id="781" name="Google Shape;781;p9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7" name="Google Shape;787;p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228600" rtl="0" algn="l">
              <a:spcBef>
                <a:spcPts val="0"/>
              </a:spcBef>
              <a:spcAft>
                <a:spcPts val="0"/>
              </a:spcAft>
              <a:buClr>
                <a:schemeClr val="dk1"/>
              </a:buClr>
              <a:buSzPts val="1200"/>
              <a:buFont typeface="Calibri"/>
              <a:buAutoNum type="arabicPeriod"/>
            </a:pPr>
            <a:r>
              <a:rPr lang="en-US"/>
              <a:t>When a new process is loaded into main memory, allocate to it a certain number of page frames as its resident set, based on application type, program request, or other criteria.</a:t>
            </a:r>
            <a:endParaRPr/>
          </a:p>
          <a:p>
            <a:pPr indent="-228600" lvl="1" marL="685800" rtl="0" algn="l">
              <a:spcBef>
                <a:spcPts val="360"/>
              </a:spcBef>
              <a:spcAft>
                <a:spcPts val="0"/>
              </a:spcAft>
              <a:buClr>
                <a:schemeClr val="dk1"/>
              </a:buClr>
              <a:buSzPts val="1200"/>
              <a:buFont typeface="Arial"/>
              <a:buChar char="•"/>
            </a:pPr>
            <a:r>
              <a:rPr lang="en-US"/>
              <a:t>Use either prepaging or demand paging to fill up the allocation.</a:t>
            </a:r>
            <a:endParaRPr/>
          </a:p>
          <a:p>
            <a:pPr indent="-228600" lvl="1" marL="68580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None/>
            </a:pPr>
            <a:r>
              <a:rPr lang="en-US"/>
              <a:t>2. When a page fault occurs, select the page to replace from among the resident set of the process that suffers the fault.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3. From time to time, re-evaluate the allocation provided to the process, and increase or decrease it to improve overall performance.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With this strategy, the decision to increase or decrease a resident set size is a deliberate one and is based on an assessment of the likely future demands of active processes.</a:t>
            </a:r>
            <a:endParaRPr/>
          </a:p>
          <a:p>
            <a:pPr indent="-76200" lvl="1" marL="457200" rtl="0" algn="l">
              <a:spcBef>
                <a:spcPts val="360"/>
              </a:spcBef>
              <a:spcAft>
                <a:spcPts val="0"/>
              </a:spcAft>
              <a:buClr>
                <a:schemeClr val="dk1"/>
              </a:buClr>
              <a:buSzPts val="1200"/>
              <a:buFont typeface="Arial"/>
              <a:buChar char="•"/>
            </a:pPr>
            <a:r>
              <a:rPr lang="en-US"/>
              <a:t> Because of this evaluation, such a strategy is more complex than a simple global replacement policy.</a:t>
            </a:r>
            <a:endParaRPr/>
          </a:p>
          <a:p>
            <a:pPr indent="-76200" lvl="1" marL="457200" rtl="0" algn="l">
              <a:spcBef>
                <a:spcPts val="360"/>
              </a:spcBef>
              <a:spcAft>
                <a:spcPts val="0"/>
              </a:spcAft>
              <a:buClr>
                <a:schemeClr val="dk1"/>
              </a:buClr>
              <a:buSzPts val="1200"/>
              <a:buFont typeface="Arial"/>
              <a:buChar char="•"/>
            </a:pPr>
            <a:r>
              <a:rPr lang="en-US"/>
              <a:t> However, it may yield better performance.</a:t>
            </a:r>
            <a:endParaRPr/>
          </a:p>
        </p:txBody>
      </p:sp>
      <p:sp>
        <p:nvSpPr>
          <p:cNvPr id="788" name="Google Shape;788;p9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4" name="Google Shape;794;p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95" name="Google Shape;795;p9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01" name="Google Shape;801;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07" name="Google Shape;807;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13" name="Google Shape;813;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19" name="Google Shape;819;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25" name="Google Shape;825;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1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31" name="Google Shape;831;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1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37" name="Google Shape;837;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43" name="Google Shape;843;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2810cf324be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49" name="Google Shape;849;g2810cf324be_0_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50" name="Google Shape;850;g2810cf324be_0_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57" name="Google Shape;857;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63" name="Google Shape;863;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9" name="Google Shape;869;p1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 cleaning policy is the opposite of a fetch policy; it is concerned with determining when a modified page should be written out to secondary memory.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With </a:t>
            </a:r>
            <a:r>
              <a:rPr b="1" lang="en-US"/>
              <a:t>demand cleaning</a:t>
            </a:r>
            <a:r>
              <a:rPr lang="en-US"/>
              <a:t>, a page is written out to secondary memory only when it has been selected for replacement.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a:t>
            </a:r>
            <a:r>
              <a:rPr b="1" lang="en-US"/>
              <a:t>precleaning </a:t>
            </a:r>
            <a:r>
              <a:rPr lang="en-US"/>
              <a:t>policy writes modified pages before their page frames are needed so that pages can be written out in batches.</a:t>
            </a:r>
            <a:endParaRPr/>
          </a:p>
        </p:txBody>
      </p:sp>
      <p:sp>
        <p:nvSpPr>
          <p:cNvPr id="870" name="Google Shape;870;p10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1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76" name="Google Shape;876;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2" name="Google Shape;882;p1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Clean only pages that are replaceable, but decouple the cleaning and replacement operations.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With page buffering, replaced pages can be placed on two lists: </a:t>
            </a:r>
            <a:endParaRPr/>
          </a:p>
          <a:p>
            <a:pPr indent="-76200" lvl="1" marL="457200" rtl="0" algn="l">
              <a:spcBef>
                <a:spcPts val="360"/>
              </a:spcBef>
              <a:spcAft>
                <a:spcPts val="0"/>
              </a:spcAft>
              <a:buClr>
                <a:schemeClr val="dk1"/>
              </a:buClr>
              <a:buSzPts val="1200"/>
              <a:buFont typeface="Arial"/>
              <a:buChar char="•"/>
            </a:pPr>
            <a:r>
              <a:rPr lang="en-US"/>
              <a:t> modified and unmodified. </a:t>
            </a:r>
            <a:endParaRPr/>
          </a:p>
          <a:p>
            <a:pPr indent="0" lvl="1" marL="45720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lang="en-US"/>
              <a:t>The pages on the modified list can periodically be written out in batches and moved to the unmodified list.</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lang="en-US"/>
              <a:t>A page on the unmodified list is either reclaimed if it is referenced, or lost when its frame is assigned to another page.</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t/>
            </a:r>
            <a:endParaRPr/>
          </a:p>
        </p:txBody>
      </p:sp>
      <p:sp>
        <p:nvSpPr>
          <p:cNvPr id="883" name="Google Shape;883;p10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9" name="Google Shape;889;p1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Load control is concerned with determining the number of processes that will be resident in main memory - the multiprogramming level.</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load control policy is critical in effective memory management. </a:t>
            </a:r>
            <a:endParaRPr/>
          </a:p>
          <a:p>
            <a:pPr indent="-76200" lvl="1" marL="457200" rtl="0" algn="l">
              <a:spcBef>
                <a:spcPts val="360"/>
              </a:spcBef>
              <a:spcAft>
                <a:spcPts val="0"/>
              </a:spcAft>
              <a:buClr>
                <a:schemeClr val="dk1"/>
              </a:buClr>
              <a:buSzPts val="1200"/>
              <a:buFont typeface="Arial"/>
              <a:buChar char="•"/>
            </a:pPr>
            <a:r>
              <a:rPr lang="en-US"/>
              <a:t> If too few processes are resident at any one time, then there will be many occasions when all processes are blocked, and much time will be spent in swapping.</a:t>
            </a:r>
            <a:endParaRPr/>
          </a:p>
          <a:p>
            <a:pPr indent="-76200" lvl="1" marL="457200" rtl="0" algn="l">
              <a:spcBef>
                <a:spcPts val="360"/>
              </a:spcBef>
              <a:spcAft>
                <a:spcPts val="0"/>
              </a:spcAft>
              <a:buClr>
                <a:schemeClr val="dk1"/>
              </a:buClr>
              <a:buSzPts val="1200"/>
              <a:buFont typeface="Arial"/>
              <a:buChar char="•"/>
            </a:pPr>
            <a:r>
              <a:rPr lang="en-US"/>
              <a:t> On the other hand, if too many processes are resident, then, on average, the size of the resident set of each process will be inadequate and frequent faulting will occur resulting in thrashing.</a:t>
            </a:r>
            <a:endParaRPr/>
          </a:p>
          <a:p>
            <a:pPr indent="0" lvl="0" marL="0" rtl="0" algn="l">
              <a:spcBef>
                <a:spcPts val="360"/>
              </a:spcBef>
              <a:spcAft>
                <a:spcPts val="0"/>
              </a:spcAft>
              <a:buClr>
                <a:schemeClr val="dk1"/>
              </a:buClr>
              <a:buSzPts val="1200"/>
              <a:buFont typeface="Arial"/>
              <a:buNone/>
            </a:pPr>
            <a:r>
              <a:t/>
            </a:r>
            <a:endParaRPr/>
          </a:p>
        </p:txBody>
      </p:sp>
      <p:sp>
        <p:nvSpPr>
          <p:cNvPr id="890" name="Google Shape;890;p10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p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6" name="Google Shape;896;p1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As the multiprogramming level increases from a small value, one would expect to see processor utilization rise, because there is less chance that all resident processes are blocked.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However, a point is reached at which the average resident set is inadequate.</a:t>
            </a:r>
            <a:endParaRPr/>
          </a:p>
          <a:p>
            <a:pPr indent="-76200" lvl="1" marL="457200" rtl="0" algn="l">
              <a:spcBef>
                <a:spcPts val="360"/>
              </a:spcBef>
              <a:spcAft>
                <a:spcPts val="0"/>
              </a:spcAft>
              <a:buClr>
                <a:schemeClr val="dk1"/>
              </a:buClr>
              <a:buSzPts val="1200"/>
              <a:buFont typeface="Arial"/>
              <a:buChar char="•"/>
            </a:pPr>
            <a:r>
              <a:rPr lang="en-US"/>
              <a:t> At this point, the number of page faults rises dramatically, and processor utilization collapses.</a:t>
            </a:r>
            <a:endParaRPr/>
          </a:p>
        </p:txBody>
      </p:sp>
      <p:sp>
        <p:nvSpPr>
          <p:cNvPr id="897" name="Google Shape;897;p10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3" name="Google Shape;903;p1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If the degree of multiprogramming is to be reduced, one</a:t>
            </a:r>
            <a:endParaRPr/>
          </a:p>
          <a:p>
            <a:pPr indent="0" lvl="0" marL="0" rtl="0" algn="l">
              <a:spcBef>
                <a:spcPts val="360"/>
              </a:spcBef>
              <a:spcAft>
                <a:spcPts val="0"/>
              </a:spcAft>
              <a:buNone/>
            </a:pPr>
            <a:r>
              <a:rPr lang="en-US"/>
              <a:t>or more of the currently resident processes must be suspended (swapped out).</a:t>
            </a:r>
            <a:endParaRPr/>
          </a:p>
          <a:p>
            <a:pPr indent="0" lvl="0" marL="0" rtl="0" algn="l">
              <a:spcBef>
                <a:spcPts val="360"/>
              </a:spcBef>
              <a:spcAft>
                <a:spcPts val="0"/>
              </a:spcAft>
              <a:buNone/>
            </a:pPr>
            <a:r>
              <a:rPr lang="en-US"/>
              <a:t>[CARR84] lists six possibilities:</a:t>
            </a:r>
            <a:endParaRPr/>
          </a:p>
        </p:txBody>
      </p:sp>
      <p:sp>
        <p:nvSpPr>
          <p:cNvPr id="904" name="Google Shape;904;p1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0" name="Google Shape;910;p1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Lowest-priority process: </a:t>
            </a:r>
            <a:endParaRPr/>
          </a:p>
          <a:p>
            <a:pPr indent="-76200" lvl="1" marL="457200" rtl="0" algn="l">
              <a:spcBef>
                <a:spcPts val="360"/>
              </a:spcBef>
              <a:spcAft>
                <a:spcPts val="0"/>
              </a:spcAft>
              <a:buClr>
                <a:schemeClr val="dk1"/>
              </a:buClr>
              <a:buSzPts val="1200"/>
              <a:buFont typeface="Arial"/>
              <a:buChar char="•"/>
            </a:pPr>
            <a:r>
              <a:rPr lang="en-US"/>
              <a:t> This implements a scheduling policy decision and is unrelated to performance issues.</a:t>
            </a:r>
            <a:endParaRPr/>
          </a:p>
          <a:p>
            <a:pPr indent="0" lvl="1" marL="457200" rtl="0" algn="l">
              <a:spcBef>
                <a:spcPts val="360"/>
              </a:spcBef>
              <a:spcAft>
                <a:spcPts val="0"/>
              </a:spcAft>
              <a:buNone/>
            </a:pPr>
            <a:r>
              <a:t/>
            </a:r>
            <a:endParaRPr/>
          </a:p>
          <a:p>
            <a:pPr indent="0" lvl="0" marL="0" rtl="0" algn="l">
              <a:spcBef>
                <a:spcPts val="360"/>
              </a:spcBef>
              <a:spcAft>
                <a:spcPts val="0"/>
              </a:spcAft>
              <a:buNone/>
            </a:pPr>
            <a:r>
              <a:rPr b="1" lang="en-US"/>
              <a:t>Faulting process: </a:t>
            </a:r>
            <a:endParaRPr/>
          </a:p>
          <a:p>
            <a:pPr indent="-76200" lvl="1" marL="457200" rtl="0" algn="l">
              <a:spcBef>
                <a:spcPts val="360"/>
              </a:spcBef>
              <a:spcAft>
                <a:spcPts val="0"/>
              </a:spcAft>
              <a:buClr>
                <a:schemeClr val="dk1"/>
              </a:buClr>
              <a:buSzPts val="1200"/>
              <a:buFont typeface="Arial"/>
              <a:buChar char="•"/>
            </a:pPr>
            <a:r>
              <a:rPr lang="en-US"/>
              <a:t> There is a greater probability that the faulting task does not have its working set resident, and performance would suffer least by suspending it. </a:t>
            </a:r>
            <a:endParaRPr/>
          </a:p>
          <a:p>
            <a:pPr indent="-76200" lvl="1" marL="457200" rtl="0" algn="l">
              <a:spcBef>
                <a:spcPts val="360"/>
              </a:spcBef>
              <a:spcAft>
                <a:spcPts val="0"/>
              </a:spcAft>
              <a:buClr>
                <a:schemeClr val="dk1"/>
              </a:buClr>
              <a:buSzPts val="1200"/>
              <a:buFont typeface="Arial"/>
              <a:buChar char="•"/>
            </a:pPr>
            <a:r>
              <a:rPr lang="en-US"/>
              <a:t> Immediate payoff because it blocks a process that is about to be blocked anyway and it eliminates the overhead of a page replacement and I/O operation.</a:t>
            </a:r>
            <a:endParaRPr/>
          </a:p>
          <a:p>
            <a:pPr indent="0" lvl="0" marL="0" rtl="0" algn="l">
              <a:spcBef>
                <a:spcPts val="360"/>
              </a:spcBef>
              <a:spcAft>
                <a:spcPts val="0"/>
              </a:spcAft>
              <a:buNone/>
            </a:pPr>
            <a:r>
              <a:t/>
            </a:r>
            <a:endParaRPr/>
          </a:p>
          <a:p>
            <a:pPr indent="0" lvl="0" marL="0" rtl="0" algn="l">
              <a:spcBef>
                <a:spcPts val="360"/>
              </a:spcBef>
              <a:spcAft>
                <a:spcPts val="0"/>
              </a:spcAft>
              <a:buNone/>
            </a:pPr>
            <a:r>
              <a:rPr b="1" lang="en-US"/>
              <a:t>Last process activated: </a:t>
            </a:r>
            <a:endParaRPr/>
          </a:p>
          <a:p>
            <a:pPr indent="-76200" lvl="1" marL="457200" rtl="0" algn="l">
              <a:spcBef>
                <a:spcPts val="360"/>
              </a:spcBef>
              <a:spcAft>
                <a:spcPts val="0"/>
              </a:spcAft>
              <a:buClr>
                <a:schemeClr val="dk1"/>
              </a:buClr>
              <a:buSzPts val="1200"/>
              <a:buFont typeface="Arial"/>
              <a:buChar char="•"/>
            </a:pPr>
            <a:r>
              <a:rPr b="1" lang="en-US"/>
              <a:t> </a:t>
            </a:r>
            <a:r>
              <a:rPr lang="en-US"/>
              <a:t>This is the process least likely to have its working set resident.</a:t>
            </a:r>
            <a:endParaRPr/>
          </a:p>
        </p:txBody>
      </p:sp>
      <p:sp>
        <p:nvSpPr>
          <p:cNvPr id="911" name="Google Shape;911;p1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1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7" name="Google Shape;917;p1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Process with the smallest resident set: </a:t>
            </a:r>
            <a:endParaRPr/>
          </a:p>
          <a:p>
            <a:pPr indent="-76200" lvl="1" marL="457200" rtl="0" algn="l">
              <a:spcBef>
                <a:spcPts val="360"/>
              </a:spcBef>
              <a:spcAft>
                <a:spcPts val="0"/>
              </a:spcAft>
              <a:buClr>
                <a:schemeClr val="dk1"/>
              </a:buClr>
              <a:buSzPts val="1200"/>
              <a:buFont typeface="Arial"/>
              <a:buChar char="•"/>
            </a:pPr>
            <a:r>
              <a:rPr b="1" lang="en-US"/>
              <a:t> </a:t>
            </a:r>
            <a:r>
              <a:rPr lang="en-US"/>
              <a:t>This will require the least future effort to reload.</a:t>
            </a:r>
            <a:endParaRPr/>
          </a:p>
          <a:p>
            <a:pPr indent="-76200" lvl="1" marL="457200" rtl="0" algn="l">
              <a:spcBef>
                <a:spcPts val="360"/>
              </a:spcBef>
              <a:spcAft>
                <a:spcPts val="0"/>
              </a:spcAft>
              <a:buClr>
                <a:schemeClr val="dk1"/>
              </a:buClr>
              <a:buSzPts val="1200"/>
              <a:buFont typeface="Arial"/>
              <a:buChar char="•"/>
            </a:pPr>
            <a:r>
              <a:rPr lang="en-US"/>
              <a:t> However, it penalizes programs with strong locality.</a:t>
            </a:r>
            <a:endParaRPr/>
          </a:p>
          <a:p>
            <a:pPr indent="0" lvl="1" marL="45720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None/>
            </a:pPr>
            <a:r>
              <a:rPr b="1" lang="en-US"/>
              <a:t>Largest process:</a:t>
            </a:r>
            <a:endParaRPr/>
          </a:p>
          <a:p>
            <a:pPr indent="-76200" lvl="1" marL="457200" rtl="0" algn="l">
              <a:spcBef>
                <a:spcPts val="360"/>
              </a:spcBef>
              <a:spcAft>
                <a:spcPts val="0"/>
              </a:spcAft>
              <a:buClr>
                <a:schemeClr val="dk1"/>
              </a:buClr>
              <a:buSzPts val="1200"/>
              <a:buFont typeface="Arial"/>
              <a:buChar char="•"/>
            </a:pPr>
            <a:r>
              <a:rPr lang="en-US"/>
              <a:t> This obtains the most free frames in an overcommitted memory, making additional deactivations unlikely soon.</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rPr b="1" lang="en-US"/>
              <a:t>Process with the largest remaining execution window: </a:t>
            </a:r>
            <a:endParaRPr/>
          </a:p>
          <a:p>
            <a:pPr indent="-76200" lvl="1" marL="457200" rtl="0" algn="l">
              <a:spcBef>
                <a:spcPts val="360"/>
              </a:spcBef>
              <a:spcAft>
                <a:spcPts val="0"/>
              </a:spcAft>
              <a:buClr>
                <a:schemeClr val="dk1"/>
              </a:buClr>
              <a:buSzPts val="1200"/>
              <a:buFont typeface="Arial"/>
              <a:buChar char="•"/>
            </a:pPr>
            <a:r>
              <a:rPr b="1" lang="en-US"/>
              <a:t> </a:t>
            </a:r>
            <a:r>
              <a:rPr lang="en-US"/>
              <a:t>In most process scheduling schemes, a process may only run for a certain quantum of time before being interrupted and placed at the end of the Ready queue. </a:t>
            </a:r>
            <a:endParaRPr/>
          </a:p>
          <a:p>
            <a:pPr indent="-76200" lvl="1" marL="457200" rtl="0" algn="l">
              <a:spcBef>
                <a:spcPts val="360"/>
              </a:spcBef>
              <a:spcAft>
                <a:spcPts val="0"/>
              </a:spcAft>
              <a:buClr>
                <a:schemeClr val="dk1"/>
              </a:buClr>
              <a:buSzPts val="1200"/>
              <a:buFont typeface="Arial"/>
              <a:buChar char="•"/>
            </a:pPr>
            <a:r>
              <a:rPr lang="en-US"/>
              <a:t> This approximates a shortest-processing-time-first scheduling discipline.</a:t>
            </a:r>
            <a:endParaRPr/>
          </a:p>
        </p:txBody>
      </p:sp>
      <p:sp>
        <p:nvSpPr>
          <p:cNvPr id="918" name="Google Shape;918;p1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1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11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Arial"/>
                <a:ea typeface="Arial"/>
                <a:cs typeface="Arial"/>
                <a:sym typeface="Arial"/>
              </a:defRPr>
            </a:lvl1pPr>
            <a:lvl2pPr indent="0" lvl="1" marL="0" marR="0" algn="r">
              <a:spcBef>
                <a:spcPts val="0"/>
              </a:spcBef>
              <a:spcAft>
                <a:spcPts val="0"/>
              </a:spcAft>
              <a:buNone/>
              <a:defRPr b="0" i="0" sz="1200" u="none" cap="none" strike="noStrike">
                <a:solidFill>
                  <a:srgbClr val="888888"/>
                </a:solidFill>
                <a:latin typeface="Arial"/>
                <a:ea typeface="Arial"/>
                <a:cs typeface="Arial"/>
                <a:sym typeface="Arial"/>
              </a:defRPr>
            </a:lvl2pPr>
            <a:lvl3pPr indent="0" lvl="2" marL="0" marR="0" algn="r">
              <a:spcBef>
                <a:spcPts val="0"/>
              </a:spcBef>
              <a:spcAft>
                <a:spcPts val="0"/>
              </a:spcAft>
              <a:buNone/>
              <a:defRPr b="0" i="0" sz="1200" u="none" cap="none" strike="noStrike">
                <a:solidFill>
                  <a:srgbClr val="888888"/>
                </a:solidFill>
                <a:latin typeface="Arial"/>
                <a:ea typeface="Arial"/>
                <a:cs typeface="Arial"/>
                <a:sym typeface="Arial"/>
              </a:defRPr>
            </a:lvl3pPr>
            <a:lvl4pPr indent="0" lvl="3" marL="0" marR="0" algn="r">
              <a:spcBef>
                <a:spcPts val="0"/>
              </a:spcBef>
              <a:spcAft>
                <a:spcPts val="0"/>
              </a:spcAft>
              <a:buNone/>
              <a:defRPr b="0" i="0" sz="1200" u="none" cap="none" strike="noStrike">
                <a:solidFill>
                  <a:srgbClr val="888888"/>
                </a:solidFill>
                <a:latin typeface="Arial"/>
                <a:ea typeface="Arial"/>
                <a:cs typeface="Arial"/>
                <a:sym typeface="Arial"/>
              </a:defRPr>
            </a:lvl4pPr>
            <a:lvl5pPr indent="0" lvl="4" marL="0" marR="0" algn="r">
              <a:spcBef>
                <a:spcPts val="0"/>
              </a:spcBef>
              <a:spcAft>
                <a:spcPts val="0"/>
              </a:spcAft>
              <a:buNone/>
              <a:defRPr b="0" i="0" sz="1200" u="none" cap="none" strike="noStrike">
                <a:solidFill>
                  <a:srgbClr val="888888"/>
                </a:solidFill>
                <a:latin typeface="Arial"/>
                <a:ea typeface="Arial"/>
                <a:cs typeface="Arial"/>
                <a:sym typeface="Arial"/>
              </a:defRPr>
            </a:lvl5pPr>
            <a:lvl6pPr indent="0" lvl="5" marL="0" marR="0" algn="r">
              <a:spcBef>
                <a:spcPts val="0"/>
              </a:spcBef>
              <a:spcAft>
                <a:spcPts val="0"/>
              </a:spcAft>
              <a:buNone/>
              <a:defRPr b="0" i="0" sz="1200" u="none" cap="none" strike="noStrike">
                <a:solidFill>
                  <a:srgbClr val="888888"/>
                </a:solidFill>
                <a:latin typeface="Arial"/>
                <a:ea typeface="Arial"/>
                <a:cs typeface="Arial"/>
                <a:sym typeface="Arial"/>
              </a:defRPr>
            </a:lvl6pPr>
            <a:lvl7pPr indent="0" lvl="6" marL="0" marR="0" algn="r">
              <a:spcBef>
                <a:spcPts val="0"/>
              </a:spcBef>
              <a:spcAft>
                <a:spcPts val="0"/>
              </a:spcAft>
              <a:buNone/>
              <a:defRPr b="0" i="0" sz="1200" u="none" cap="none" strike="noStrike">
                <a:solidFill>
                  <a:srgbClr val="888888"/>
                </a:solidFill>
                <a:latin typeface="Arial"/>
                <a:ea typeface="Arial"/>
                <a:cs typeface="Arial"/>
                <a:sym typeface="Arial"/>
              </a:defRPr>
            </a:lvl7pPr>
            <a:lvl8pPr indent="0" lvl="7" marL="0" marR="0" algn="r">
              <a:spcBef>
                <a:spcPts val="0"/>
              </a:spcBef>
              <a:spcAft>
                <a:spcPts val="0"/>
              </a:spcAft>
              <a:buNone/>
              <a:defRPr b="0" i="0" sz="1200" u="none" cap="none" strike="noStrike">
                <a:solidFill>
                  <a:srgbClr val="888888"/>
                </a:solidFill>
                <a:latin typeface="Arial"/>
                <a:ea typeface="Arial"/>
                <a:cs typeface="Arial"/>
                <a:sym typeface="Arial"/>
              </a:defRPr>
            </a:lvl8pPr>
            <a:lvl9pPr indent="0" lvl="8" marL="0" marR="0" algn="r">
              <a:spcBef>
                <a:spcPts val="0"/>
              </a:spcBef>
              <a:spcAft>
                <a:spcPts val="0"/>
              </a:spcAft>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pic>
        <p:nvPicPr>
          <p:cNvPr descr="green.gif" id="22" name="Google Shape;22;p115"/>
          <p:cNvPicPr preferRelativeResize="0"/>
          <p:nvPr/>
        </p:nvPicPr>
        <p:blipFill rotWithShape="1">
          <a:blip r:embed="rId2">
            <a:alphaModFix/>
          </a:blip>
          <a:srcRect b="0" l="0" r="0" t="0"/>
          <a:stretch/>
        </p:blipFill>
        <p:spPr>
          <a:xfrm>
            <a:off x="8429625" y="5562600"/>
            <a:ext cx="714375" cy="838200"/>
          </a:xfrm>
          <a:prstGeom prst="rect">
            <a:avLst/>
          </a:prstGeom>
          <a:noFill/>
          <a:ln>
            <a:noFill/>
          </a:ln>
        </p:spPr>
      </p:pic>
      <p:pic>
        <p:nvPicPr>
          <p:cNvPr descr="hand.gif" id="23" name="Google Shape;23;p115"/>
          <p:cNvPicPr preferRelativeResize="0"/>
          <p:nvPr/>
        </p:nvPicPr>
        <p:blipFill rotWithShape="1">
          <a:blip r:embed="rId3">
            <a:alphaModFix/>
          </a:blip>
          <a:srcRect b="0" l="0" r="0" t="0"/>
          <a:stretch/>
        </p:blipFill>
        <p:spPr>
          <a:xfrm>
            <a:off x="0" y="6115050"/>
            <a:ext cx="1190625" cy="742950"/>
          </a:xfrm>
          <a:prstGeom prst="rect">
            <a:avLst/>
          </a:prstGeom>
          <a:noFill/>
          <a:ln>
            <a:noFill/>
          </a:ln>
        </p:spPr>
      </p:pic>
      <p:sp>
        <p:nvSpPr>
          <p:cNvPr id="24" name="Google Shape;24;p115"/>
          <p:cNvSpPr/>
          <p:nvPr/>
        </p:nvSpPr>
        <p:spPr>
          <a:xfrm>
            <a:off x="1171575" y="6124575"/>
            <a:ext cx="7286625" cy="219075"/>
          </a:xfrm>
          <a:custGeom>
            <a:rect b="b" l="l" r="r" t="t"/>
            <a:pathLst>
              <a:path extrusionOk="0" h="219075" w="728662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pic>
        <p:nvPicPr>
          <p:cNvPr descr="top.gif" id="25" name="Google Shape;25;p115"/>
          <p:cNvPicPr preferRelativeResize="0"/>
          <p:nvPr/>
        </p:nvPicPr>
        <p:blipFill rotWithShape="1">
          <a:blip r:embed="rId4">
            <a:alphaModFix/>
          </a:blip>
          <a:srcRect b="0" l="0" r="0" t="0"/>
          <a:stretch/>
        </p:blipFill>
        <p:spPr>
          <a:xfrm rot="-2749819">
            <a:off x="-155575" y="330200"/>
            <a:ext cx="2000250" cy="1047750"/>
          </a:xfrm>
          <a:prstGeom prst="rect">
            <a:avLst/>
          </a:prstGeom>
          <a:noFill/>
          <a:ln>
            <a:noFill/>
          </a:ln>
        </p:spPr>
      </p:pic>
      <p:sp>
        <p:nvSpPr>
          <p:cNvPr id="26" name="Google Shape;26;p1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115"/>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81000" lvl="3" marL="1828800" algn="l">
              <a:spcBef>
                <a:spcPts val="480"/>
              </a:spcBef>
              <a:spcAft>
                <a:spcPts val="0"/>
              </a:spcAft>
              <a:buClr>
                <a:schemeClr val="dk1"/>
              </a:buClr>
              <a:buSzPts val="2400"/>
              <a:buChar char="–"/>
              <a:defRPr sz="2400"/>
            </a:lvl4pPr>
            <a:lvl5pPr indent="-381000" lvl="4" marL="2286000" algn="l">
              <a:spcBef>
                <a:spcPts val="480"/>
              </a:spcBef>
              <a:spcAft>
                <a:spcPts val="0"/>
              </a:spcAft>
              <a:buClr>
                <a:schemeClr val="dk1"/>
              </a:buClr>
              <a:buSzPts val="2400"/>
              <a:buChar char="»"/>
              <a:defRPr sz="24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1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 name="Google Shape;30;p1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1" name="Google Shape;31;p1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Arial"/>
                <a:ea typeface="Arial"/>
                <a:cs typeface="Arial"/>
                <a:sym typeface="Arial"/>
              </a:defRPr>
            </a:lvl1pPr>
            <a:lvl2pPr indent="0" lvl="1" marL="0" marR="0" algn="r">
              <a:spcBef>
                <a:spcPts val="0"/>
              </a:spcBef>
              <a:spcAft>
                <a:spcPts val="0"/>
              </a:spcAft>
              <a:buNone/>
              <a:defRPr sz="1200">
                <a:solidFill>
                  <a:srgbClr val="888888"/>
                </a:solidFill>
                <a:latin typeface="Arial"/>
                <a:ea typeface="Arial"/>
                <a:cs typeface="Arial"/>
                <a:sym typeface="Arial"/>
              </a:defRPr>
            </a:lvl2pPr>
            <a:lvl3pPr indent="0" lvl="2" marL="0" marR="0" algn="r">
              <a:spcBef>
                <a:spcPts val="0"/>
              </a:spcBef>
              <a:spcAft>
                <a:spcPts val="0"/>
              </a:spcAft>
              <a:buNone/>
              <a:defRPr sz="1200">
                <a:solidFill>
                  <a:srgbClr val="888888"/>
                </a:solidFill>
                <a:latin typeface="Arial"/>
                <a:ea typeface="Arial"/>
                <a:cs typeface="Arial"/>
                <a:sym typeface="Arial"/>
              </a:defRPr>
            </a:lvl3pPr>
            <a:lvl4pPr indent="0" lvl="3" marL="0" marR="0" algn="r">
              <a:spcBef>
                <a:spcPts val="0"/>
              </a:spcBef>
              <a:spcAft>
                <a:spcPts val="0"/>
              </a:spcAft>
              <a:buNone/>
              <a:defRPr sz="1200">
                <a:solidFill>
                  <a:srgbClr val="888888"/>
                </a:solidFill>
                <a:latin typeface="Arial"/>
                <a:ea typeface="Arial"/>
                <a:cs typeface="Arial"/>
                <a:sym typeface="Arial"/>
              </a:defRPr>
            </a:lvl4pPr>
            <a:lvl5pPr indent="0" lvl="4" marL="0" marR="0" algn="r">
              <a:spcBef>
                <a:spcPts val="0"/>
              </a:spcBef>
              <a:spcAft>
                <a:spcPts val="0"/>
              </a:spcAft>
              <a:buNone/>
              <a:defRPr sz="1200">
                <a:solidFill>
                  <a:srgbClr val="888888"/>
                </a:solidFill>
                <a:latin typeface="Arial"/>
                <a:ea typeface="Arial"/>
                <a:cs typeface="Arial"/>
                <a:sym typeface="Arial"/>
              </a:defRPr>
            </a:lvl5pPr>
            <a:lvl6pPr indent="0" lvl="5" marL="0" marR="0" algn="r">
              <a:spcBef>
                <a:spcPts val="0"/>
              </a:spcBef>
              <a:spcAft>
                <a:spcPts val="0"/>
              </a:spcAft>
              <a:buNone/>
              <a:defRPr sz="1200">
                <a:solidFill>
                  <a:srgbClr val="888888"/>
                </a:solidFill>
                <a:latin typeface="Arial"/>
                <a:ea typeface="Arial"/>
                <a:cs typeface="Arial"/>
                <a:sym typeface="Arial"/>
              </a:defRPr>
            </a:lvl6pPr>
            <a:lvl7pPr indent="0" lvl="6" marL="0" marR="0" algn="r">
              <a:spcBef>
                <a:spcPts val="0"/>
              </a:spcBef>
              <a:spcAft>
                <a:spcPts val="0"/>
              </a:spcAft>
              <a:buNone/>
              <a:defRPr sz="1200">
                <a:solidFill>
                  <a:srgbClr val="888888"/>
                </a:solidFill>
                <a:latin typeface="Arial"/>
                <a:ea typeface="Arial"/>
                <a:cs typeface="Arial"/>
                <a:sym typeface="Arial"/>
              </a:defRPr>
            </a:lvl7pPr>
            <a:lvl8pPr indent="0" lvl="7" marL="0" marR="0" algn="r">
              <a:spcBef>
                <a:spcPts val="0"/>
              </a:spcBef>
              <a:spcAft>
                <a:spcPts val="0"/>
              </a:spcAft>
              <a:buNone/>
              <a:defRPr sz="1200">
                <a:solidFill>
                  <a:srgbClr val="888888"/>
                </a:solidFill>
                <a:latin typeface="Arial"/>
                <a:ea typeface="Arial"/>
                <a:cs typeface="Arial"/>
                <a:sym typeface="Arial"/>
              </a:defRPr>
            </a:lvl8pPr>
            <a:lvl9pPr indent="0" lvl="8" marL="0" marR="0" algn="r">
              <a:spcBef>
                <a:spcPts val="0"/>
              </a:spcBef>
              <a:spcAft>
                <a:spcPts val="0"/>
              </a:spcAft>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1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1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8" name="Google Shape;38;p1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Arial"/>
                <a:ea typeface="Arial"/>
                <a:cs typeface="Arial"/>
                <a:sym typeface="Arial"/>
              </a:defRPr>
            </a:lvl1pPr>
            <a:lvl2pPr indent="0" lvl="1" marL="0" marR="0" algn="r">
              <a:spcBef>
                <a:spcPts val="0"/>
              </a:spcBef>
              <a:spcAft>
                <a:spcPts val="0"/>
              </a:spcAft>
              <a:buNone/>
              <a:defRPr sz="1200">
                <a:solidFill>
                  <a:srgbClr val="888888"/>
                </a:solidFill>
                <a:latin typeface="Arial"/>
                <a:ea typeface="Arial"/>
                <a:cs typeface="Arial"/>
                <a:sym typeface="Arial"/>
              </a:defRPr>
            </a:lvl2pPr>
            <a:lvl3pPr indent="0" lvl="2" marL="0" marR="0" algn="r">
              <a:spcBef>
                <a:spcPts val="0"/>
              </a:spcBef>
              <a:spcAft>
                <a:spcPts val="0"/>
              </a:spcAft>
              <a:buNone/>
              <a:defRPr sz="1200">
                <a:solidFill>
                  <a:srgbClr val="888888"/>
                </a:solidFill>
                <a:latin typeface="Arial"/>
                <a:ea typeface="Arial"/>
                <a:cs typeface="Arial"/>
                <a:sym typeface="Arial"/>
              </a:defRPr>
            </a:lvl3pPr>
            <a:lvl4pPr indent="0" lvl="3" marL="0" marR="0" algn="r">
              <a:spcBef>
                <a:spcPts val="0"/>
              </a:spcBef>
              <a:spcAft>
                <a:spcPts val="0"/>
              </a:spcAft>
              <a:buNone/>
              <a:defRPr sz="1200">
                <a:solidFill>
                  <a:srgbClr val="888888"/>
                </a:solidFill>
                <a:latin typeface="Arial"/>
                <a:ea typeface="Arial"/>
                <a:cs typeface="Arial"/>
                <a:sym typeface="Arial"/>
              </a:defRPr>
            </a:lvl4pPr>
            <a:lvl5pPr indent="0" lvl="4" marL="0" marR="0" algn="r">
              <a:spcBef>
                <a:spcPts val="0"/>
              </a:spcBef>
              <a:spcAft>
                <a:spcPts val="0"/>
              </a:spcAft>
              <a:buNone/>
              <a:defRPr sz="1200">
                <a:solidFill>
                  <a:srgbClr val="888888"/>
                </a:solidFill>
                <a:latin typeface="Arial"/>
                <a:ea typeface="Arial"/>
                <a:cs typeface="Arial"/>
                <a:sym typeface="Arial"/>
              </a:defRPr>
            </a:lvl5pPr>
            <a:lvl6pPr indent="0" lvl="5" marL="0" marR="0" algn="r">
              <a:spcBef>
                <a:spcPts val="0"/>
              </a:spcBef>
              <a:spcAft>
                <a:spcPts val="0"/>
              </a:spcAft>
              <a:buNone/>
              <a:defRPr sz="1200">
                <a:solidFill>
                  <a:srgbClr val="888888"/>
                </a:solidFill>
                <a:latin typeface="Arial"/>
                <a:ea typeface="Arial"/>
                <a:cs typeface="Arial"/>
                <a:sym typeface="Arial"/>
              </a:defRPr>
            </a:lvl6pPr>
            <a:lvl7pPr indent="0" lvl="6" marL="0" marR="0" algn="r">
              <a:spcBef>
                <a:spcPts val="0"/>
              </a:spcBef>
              <a:spcAft>
                <a:spcPts val="0"/>
              </a:spcAft>
              <a:buNone/>
              <a:defRPr sz="1200">
                <a:solidFill>
                  <a:srgbClr val="888888"/>
                </a:solidFill>
                <a:latin typeface="Arial"/>
                <a:ea typeface="Arial"/>
                <a:cs typeface="Arial"/>
                <a:sym typeface="Arial"/>
              </a:defRPr>
            </a:lvl7pPr>
            <a:lvl8pPr indent="0" lvl="7" marL="0" marR="0" algn="r">
              <a:spcBef>
                <a:spcPts val="0"/>
              </a:spcBef>
              <a:spcAft>
                <a:spcPts val="0"/>
              </a:spcAft>
              <a:buNone/>
              <a:defRPr sz="1200">
                <a:solidFill>
                  <a:srgbClr val="888888"/>
                </a:solidFill>
                <a:latin typeface="Arial"/>
                <a:ea typeface="Arial"/>
                <a:cs typeface="Arial"/>
                <a:sym typeface="Arial"/>
              </a:defRPr>
            </a:lvl8pPr>
            <a:lvl9pPr indent="0" lvl="8" marL="0" marR="0" algn="r">
              <a:spcBef>
                <a:spcPts val="0"/>
              </a:spcBef>
              <a:spcAft>
                <a:spcPts val="0"/>
              </a:spcAft>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 name="Google Shape;43;p11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4" name="Google Shape;44;p11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5" name="Google Shape;45;p11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6" name="Google Shape;46;p11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7" name="Google Shape;47;p1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Arial"/>
                <a:ea typeface="Arial"/>
                <a:cs typeface="Arial"/>
                <a:sym typeface="Arial"/>
              </a:defRPr>
            </a:lvl1pPr>
            <a:lvl2pPr indent="0" lvl="1" marL="0" marR="0" algn="r">
              <a:spcBef>
                <a:spcPts val="0"/>
              </a:spcBef>
              <a:spcAft>
                <a:spcPts val="0"/>
              </a:spcAft>
              <a:buNone/>
              <a:defRPr sz="1200">
                <a:solidFill>
                  <a:srgbClr val="888888"/>
                </a:solidFill>
                <a:latin typeface="Arial"/>
                <a:ea typeface="Arial"/>
                <a:cs typeface="Arial"/>
                <a:sym typeface="Arial"/>
              </a:defRPr>
            </a:lvl2pPr>
            <a:lvl3pPr indent="0" lvl="2" marL="0" marR="0" algn="r">
              <a:spcBef>
                <a:spcPts val="0"/>
              </a:spcBef>
              <a:spcAft>
                <a:spcPts val="0"/>
              </a:spcAft>
              <a:buNone/>
              <a:defRPr sz="1200">
                <a:solidFill>
                  <a:srgbClr val="888888"/>
                </a:solidFill>
                <a:latin typeface="Arial"/>
                <a:ea typeface="Arial"/>
                <a:cs typeface="Arial"/>
                <a:sym typeface="Arial"/>
              </a:defRPr>
            </a:lvl3pPr>
            <a:lvl4pPr indent="0" lvl="3" marL="0" marR="0" algn="r">
              <a:spcBef>
                <a:spcPts val="0"/>
              </a:spcBef>
              <a:spcAft>
                <a:spcPts val="0"/>
              </a:spcAft>
              <a:buNone/>
              <a:defRPr sz="1200">
                <a:solidFill>
                  <a:srgbClr val="888888"/>
                </a:solidFill>
                <a:latin typeface="Arial"/>
                <a:ea typeface="Arial"/>
                <a:cs typeface="Arial"/>
                <a:sym typeface="Arial"/>
              </a:defRPr>
            </a:lvl4pPr>
            <a:lvl5pPr indent="0" lvl="4" marL="0" marR="0" algn="r">
              <a:spcBef>
                <a:spcPts val="0"/>
              </a:spcBef>
              <a:spcAft>
                <a:spcPts val="0"/>
              </a:spcAft>
              <a:buNone/>
              <a:defRPr sz="1200">
                <a:solidFill>
                  <a:srgbClr val="888888"/>
                </a:solidFill>
                <a:latin typeface="Arial"/>
                <a:ea typeface="Arial"/>
                <a:cs typeface="Arial"/>
                <a:sym typeface="Arial"/>
              </a:defRPr>
            </a:lvl5pPr>
            <a:lvl6pPr indent="0" lvl="5" marL="0" marR="0" algn="r">
              <a:spcBef>
                <a:spcPts val="0"/>
              </a:spcBef>
              <a:spcAft>
                <a:spcPts val="0"/>
              </a:spcAft>
              <a:buNone/>
              <a:defRPr sz="1200">
                <a:solidFill>
                  <a:srgbClr val="888888"/>
                </a:solidFill>
                <a:latin typeface="Arial"/>
                <a:ea typeface="Arial"/>
                <a:cs typeface="Arial"/>
                <a:sym typeface="Arial"/>
              </a:defRPr>
            </a:lvl6pPr>
            <a:lvl7pPr indent="0" lvl="6" marL="0" marR="0" algn="r">
              <a:spcBef>
                <a:spcPts val="0"/>
              </a:spcBef>
              <a:spcAft>
                <a:spcPts val="0"/>
              </a:spcAft>
              <a:buNone/>
              <a:defRPr sz="1200">
                <a:solidFill>
                  <a:srgbClr val="888888"/>
                </a:solidFill>
                <a:latin typeface="Arial"/>
                <a:ea typeface="Arial"/>
                <a:cs typeface="Arial"/>
                <a:sym typeface="Arial"/>
              </a:defRPr>
            </a:lvl7pPr>
            <a:lvl8pPr indent="0" lvl="7" marL="0" marR="0" algn="r">
              <a:spcBef>
                <a:spcPts val="0"/>
              </a:spcBef>
              <a:spcAft>
                <a:spcPts val="0"/>
              </a:spcAft>
              <a:buNone/>
              <a:defRPr sz="1200">
                <a:solidFill>
                  <a:srgbClr val="888888"/>
                </a:solidFill>
                <a:latin typeface="Arial"/>
                <a:ea typeface="Arial"/>
                <a:cs typeface="Arial"/>
                <a:sym typeface="Arial"/>
              </a:defRPr>
            </a:lvl8pPr>
            <a:lvl9pPr indent="0" lvl="8" marL="0" marR="0" algn="r">
              <a:spcBef>
                <a:spcPts val="0"/>
              </a:spcBef>
              <a:spcAft>
                <a:spcPts val="0"/>
              </a:spcAft>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1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1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Arial"/>
                <a:ea typeface="Arial"/>
                <a:cs typeface="Arial"/>
                <a:sym typeface="Arial"/>
              </a:defRPr>
            </a:lvl1pPr>
            <a:lvl2pPr indent="0" lvl="1" marL="0" marR="0" algn="r">
              <a:spcBef>
                <a:spcPts val="0"/>
              </a:spcBef>
              <a:spcAft>
                <a:spcPts val="0"/>
              </a:spcAft>
              <a:buNone/>
              <a:defRPr sz="1200">
                <a:solidFill>
                  <a:srgbClr val="888888"/>
                </a:solidFill>
                <a:latin typeface="Arial"/>
                <a:ea typeface="Arial"/>
                <a:cs typeface="Arial"/>
                <a:sym typeface="Arial"/>
              </a:defRPr>
            </a:lvl2pPr>
            <a:lvl3pPr indent="0" lvl="2" marL="0" marR="0" algn="r">
              <a:spcBef>
                <a:spcPts val="0"/>
              </a:spcBef>
              <a:spcAft>
                <a:spcPts val="0"/>
              </a:spcAft>
              <a:buNone/>
              <a:defRPr sz="1200">
                <a:solidFill>
                  <a:srgbClr val="888888"/>
                </a:solidFill>
                <a:latin typeface="Arial"/>
                <a:ea typeface="Arial"/>
                <a:cs typeface="Arial"/>
                <a:sym typeface="Arial"/>
              </a:defRPr>
            </a:lvl3pPr>
            <a:lvl4pPr indent="0" lvl="3" marL="0" marR="0" algn="r">
              <a:spcBef>
                <a:spcPts val="0"/>
              </a:spcBef>
              <a:spcAft>
                <a:spcPts val="0"/>
              </a:spcAft>
              <a:buNone/>
              <a:defRPr sz="1200">
                <a:solidFill>
                  <a:srgbClr val="888888"/>
                </a:solidFill>
                <a:latin typeface="Arial"/>
                <a:ea typeface="Arial"/>
                <a:cs typeface="Arial"/>
                <a:sym typeface="Arial"/>
              </a:defRPr>
            </a:lvl4pPr>
            <a:lvl5pPr indent="0" lvl="4" marL="0" marR="0" algn="r">
              <a:spcBef>
                <a:spcPts val="0"/>
              </a:spcBef>
              <a:spcAft>
                <a:spcPts val="0"/>
              </a:spcAft>
              <a:buNone/>
              <a:defRPr sz="1200">
                <a:solidFill>
                  <a:srgbClr val="888888"/>
                </a:solidFill>
                <a:latin typeface="Arial"/>
                <a:ea typeface="Arial"/>
                <a:cs typeface="Arial"/>
                <a:sym typeface="Arial"/>
              </a:defRPr>
            </a:lvl5pPr>
            <a:lvl6pPr indent="0" lvl="5" marL="0" marR="0" algn="r">
              <a:spcBef>
                <a:spcPts val="0"/>
              </a:spcBef>
              <a:spcAft>
                <a:spcPts val="0"/>
              </a:spcAft>
              <a:buNone/>
              <a:defRPr sz="1200">
                <a:solidFill>
                  <a:srgbClr val="888888"/>
                </a:solidFill>
                <a:latin typeface="Arial"/>
                <a:ea typeface="Arial"/>
                <a:cs typeface="Arial"/>
                <a:sym typeface="Arial"/>
              </a:defRPr>
            </a:lvl6pPr>
            <a:lvl7pPr indent="0" lvl="6" marL="0" marR="0" algn="r">
              <a:spcBef>
                <a:spcPts val="0"/>
              </a:spcBef>
              <a:spcAft>
                <a:spcPts val="0"/>
              </a:spcAft>
              <a:buNone/>
              <a:defRPr sz="1200">
                <a:solidFill>
                  <a:srgbClr val="888888"/>
                </a:solidFill>
                <a:latin typeface="Arial"/>
                <a:ea typeface="Arial"/>
                <a:cs typeface="Arial"/>
                <a:sym typeface="Arial"/>
              </a:defRPr>
            </a:lvl7pPr>
            <a:lvl8pPr indent="0" lvl="7" marL="0" marR="0" algn="r">
              <a:spcBef>
                <a:spcPts val="0"/>
              </a:spcBef>
              <a:spcAft>
                <a:spcPts val="0"/>
              </a:spcAft>
              <a:buNone/>
              <a:defRPr sz="1200">
                <a:solidFill>
                  <a:srgbClr val="888888"/>
                </a:solidFill>
                <a:latin typeface="Arial"/>
                <a:ea typeface="Arial"/>
                <a:cs typeface="Arial"/>
                <a:sym typeface="Arial"/>
              </a:defRPr>
            </a:lvl8pPr>
            <a:lvl9pPr indent="0" lvl="8" marL="0" marR="0" algn="r">
              <a:spcBef>
                <a:spcPts val="0"/>
              </a:spcBef>
              <a:spcAft>
                <a:spcPts val="0"/>
              </a:spcAft>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1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Arial"/>
                <a:ea typeface="Arial"/>
                <a:cs typeface="Arial"/>
                <a:sym typeface="Arial"/>
              </a:defRPr>
            </a:lvl1pPr>
            <a:lvl2pPr indent="0" lvl="1" marL="0" marR="0" algn="r">
              <a:spcBef>
                <a:spcPts val="0"/>
              </a:spcBef>
              <a:spcAft>
                <a:spcPts val="0"/>
              </a:spcAft>
              <a:buNone/>
              <a:defRPr sz="1200">
                <a:solidFill>
                  <a:srgbClr val="888888"/>
                </a:solidFill>
                <a:latin typeface="Arial"/>
                <a:ea typeface="Arial"/>
                <a:cs typeface="Arial"/>
                <a:sym typeface="Arial"/>
              </a:defRPr>
            </a:lvl2pPr>
            <a:lvl3pPr indent="0" lvl="2" marL="0" marR="0" algn="r">
              <a:spcBef>
                <a:spcPts val="0"/>
              </a:spcBef>
              <a:spcAft>
                <a:spcPts val="0"/>
              </a:spcAft>
              <a:buNone/>
              <a:defRPr sz="1200">
                <a:solidFill>
                  <a:srgbClr val="888888"/>
                </a:solidFill>
                <a:latin typeface="Arial"/>
                <a:ea typeface="Arial"/>
                <a:cs typeface="Arial"/>
                <a:sym typeface="Arial"/>
              </a:defRPr>
            </a:lvl3pPr>
            <a:lvl4pPr indent="0" lvl="3" marL="0" marR="0" algn="r">
              <a:spcBef>
                <a:spcPts val="0"/>
              </a:spcBef>
              <a:spcAft>
                <a:spcPts val="0"/>
              </a:spcAft>
              <a:buNone/>
              <a:defRPr sz="1200">
                <a:solidFill>
                  <a:srgbClr val="888888"/>
                </a:solidFill>
                <a:latin typeface="Arial"/>
                <a:ea typeface="Arial"/>
                <a:cs typeface="Arial"/>
                <a:sym typeface="Arial"/>
              </a:defRPr>
            </a:lvl4pPr>
            <a:lvl5pPr indent="0" lvl="4" marL="0" marR="0" algn="r">
              <a:spcBef>
                <a:spcPts val="0"/>
              </a:spcBef>
              <a:spcAft>
                <a:spcPts val="0"/>
              </a:spcAft>
              <a:buNone/>
              <a:defRPr sz="1200">
                <a:solidFill>
                  <a:srgbClr val="888888"/>
                </a:solidFill>
                <a:latin typeface="Arial"/>
                <a:ea typeface="Arial"/>
                <a:cs typeface="Arial"/>
                <a:sym typeface="Arial"/>
              </a:defRPr>
            </a:lvl5pPr>
            <a:lvl6pPr indent="0" lvl="5" marL="0" marR="0" algn="r">
              <a:spcBef>
                <a:spcPts val="0"/>
              </a:spcBef>
              <a:spcAft>
                <a:spcPts val="0"/>
              </a:spcAft>
              <a:buNone/>
              <a:defRPr sz="1200">
                <a:solidFill>
                  <a:srgbClr val="888888"/>
                </a:solidFill>
                <a:latin typeface="Arial"/>
                <a:ea typeface="Arial"/>
                <a:cs typeface="Arial"/>
                <a:sym typeface="Arial"/>
              </a:defRPr>
            </a:lvl6pPr>
            <a:lvl7pPr indent="0" lvl="6" marL="0" marR="0" algn="r">
              <a:spcBef>
                <a:spcPts val="0"/>
              </a:spcBef>
              <a:spcAft>
                <a:spcPts val="0"/>
              </a:spcAft>
              <a:buNone/>
              <a:defRPr sz="1200">
                <a:solidFill>
                  <a:srgbClr val="888888"/>
                </a:solidFill>
                <a:latin typeface="Arial"/>
                <a:ea typeface="Arial"/>
                <a:cs typeface="Arial"/>
                <a:sym typeface="Arial"/>
              </a:defRPr>
            </a:lvl7pPr>
            <a:lvl8pPr indent="0" lvl="7" marL="0" marR="0" algn="r">
              <a:spcBef>
                <a:spcPts val="0"/>
              </a:spcBef>
              <a:spcAft>
                <a:spcPts val="0"/>
              </a:spcAft>
              <a:buNone/>
              <a:defRPr sz="1200">
                <a:solidFill>
                  <a:srgbClr val="888888"/>
                </a:solidFill>
                <a:latin typeface="Arial"/>
                <a:ea typeface="Arial"/>
                <a:cs typeface="Arial"/>
                <a:sym typeface="Arial"/>
              </a:defRPr>
            </a:lvl8pPr>
            <a:lvl9pPr indent="0" lvl="8" marL="0" marR="0" algn="r">
              <a:spcBef>
                <a:spcPts val="0"/>
              </a:spcBef>
              <a:spcAft>
                <a:spcPts val="0"/>
              </a:spcAft>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1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1" name="Google Shape;61;p1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2" name="Google Shape;62;p1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3" name="Google Shape;63;p1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Arial"/>
                <a:ea typeface="Arial"/>
                <a:cs typeface="Arial"/>
                <a:sym typeface="Arial"/>
              </a:defRPr>
            </a:lvl1pPr>
            <a:lvl2pPr indent="0" lvl="1" marL="0" marR="0" algn="r">
              <a:spcBef>
                <a:spcPts val="0"/>
              </a:spcBef>
              <a:spcAft>
                <a:spcPts val="0"/>
              </a:spcAft>
              <a:buNone/>
              <a:defRPr sz="1200">
                <a:solidFill>
                  <a:srgbClr val="888888"/>
                </a:solidFill>
                <a:latin typeface="Arial"/>
                <a:ea typeface="Arial"/>
                <a:cs typeface="Arial"/>
                <a:sym typeface="Arial"/>
              </a:defRPr>
            </a:lvl2pPr>
            <a:lvl3pPr indent="0" lvl="2" marL="0" marR="0" algn="r">
              <a:spcBef>
                <a:spcPts val="0"/>
              </a:spcBef>
              <a:spcAft>
                <a:spcPts val="0"/>
              </a:spcAft>
              <a:buNone/>
              <a:defRPr sz="1200">
                <a:solidFill>
                  <a:srgbClr val="888888"/>
                </a:solidFill>
                <a:latin typeface="Arial"/>
                <a:ea typeface="Arial"/>
                <a:cs typeface="Arial"/>
                <a:sym typeface="Arial"/>
              </a:defRPr>
            </a:lvl3pPr>
            <a:lvl4pPr indent="0" lvl="3" marL="0" marR="0" algn="r">
              <a:spcBef>
                <a:spcPts val="0"/>
              </a:spcBef>
              <a:spcAft>
                <a:spcPts val="0"/>
              </a:spcAft>
              <a:buNone/>
              <a:defRPr sz="1200">
                <a:solidFill>
                  <a:srgbClr val="888888"/>
                </a:solidFill>
                <a:latin typeface="Arial"/>
                <a:ea typeface="Arial"/>
                <a:cs typeface="Arial"/>
                <a:sym typeface="Arial"/>
              </a:defRPr>
            </a:lvl4pPr>
            <a:lvl5pPr indent="0" lvl="4" marL="0" marR="0" algn="r">
              <a:spcBef>
                <a:spcPts val="0"/>
              </a:spcBef>
              <a:spcAft>
                <a:spcPts val="0"/>
              </a:spcAft>
              <a:buNone/>
              <a:defRPr sz="1200">
                <a:solidFill>
                  <a:srgbClr val="888888"/>
                </a:solidFill>
                <a:latin typeface="Arial"/>
                <a:ea typeface="Arial"/>
                <a:cs typeface="Arial"/>
                <a:sym typeface="Arial"/>
              </a:defRPr>
            </a:lvl5pPr>
            <a:lvl6pPr indent="0" lvl="5" marL="0" marR="0" algn="r">
              <a:spcBef>
                <a:spcPts val="0"/>
              </a:spcBef>
              <a:spcAft>
                <a:spcPts val="0"/>
              </a:spcAft>
              <a:buNone/>
              <a:defRPr sz="1200">
                <a:solidFill>
                  <a:srgbClr val="888888"/>
                </a:solidFill>
                <a:latin typeface="Arial"/>
                <a:ea typeface="Arial"/>
                <a:cs typeface="Arial"/>
                <a:sym typeface="Arial"/>
              </a:defRPr>
            </a:lvl6pPr>
            <a:lvl7pPr indent="0" lvl="6" marL="0" marR="0" algn="r">
              <a:spcBef>
                <a:spcPts val="0"/>
              </a:spcBef>
              <a:spcAft>
                <a:spcPts val="0"/>
              </a:spcAft>
              <a:buNone/>
              <a:defRPr sz="1200">
                <a:solidFill>
                  <a:srgbClr val="888888"/>
                </a:solidFill>
                <a:latin typeface="Arial"/>
                <a:ea typeface="Arial"/>
                <a:cs typeface="Arial"/>
                <a:sym typeface="Arial"/>
              </a:defRPr>
            </a:lvl7pPr>
            <a:lvl8pPr indent="0" lvl="7" marL="0" marR="0" algn="r">
              <a:spcBef>
                <a:spcPts val="0"/>
              </a:spcBef>
              <a:spcAft>
                <a:spcPts val="0"/>
              </a:spcAft>
              <a:buNone/>
              <a:defRPr sz="1200">
                <a:solidFill>
                  <a:srgbClr val="888888"/>
                </a:solidFill>
                <a:latin typeface="Arial"/>
                <a:ea typeface="Arial"/>
                <a:cs typeface="Arial"/>
                <a:sym typeface="Arial"/>
              </a:defRPr>
            </a:lvl8pPr>
            <a:lvl9pPr indent="0" lvl="8" marL="0" marR="0" algn="r">
              <a:spcBef>
                <a:spcPts val="0"/>
              </a:spcBef>
              <a:spcAft>
                <a:spcPts val="0"/>
              </a:spcAft>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1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122"/>
          <p:cNvSpPr/>
          <p:nvPr>
            <p:ph idx="2" type="pic"/>
          </p:nvPr>
        </p:nvSpPr>
        <p:spPr>
          <a:xfrm>
            <a:off x="1792288" y="612775"/>
            <a:ext cx="5486400" cy="4114800"/>
          </a:xfrm>
          <a:prstGeom prst="rect">
            <a:avLst/>
          </a:prstGeom>
          <a:noFill/>
          <a:ln>
            <a:noFill/>
          </a:ln>
        </p:spPr>
      </p:sp>
      <p:sp>
        <p:nvSpPr>
          <p:cNvPr id="69" name="Google Shape;69;p1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0" name="Google Shape;70;p1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Arial"/>
                <a:ea typeface="Arial"/>
                <a:cs typeface="Arial"/>
                <a:sym typeface="Arial"/>
              </a:defRPr>
            </a:lvl1pPr>
            <a:lvl2pPr indent="0" lvl="1" marL="0" marR="0" algn="r">
              <a:spcBef>
                <a:spcPts val="0"/>
              </a:spcBef>
              <a:spcAft>
                <a:spcPts val="0"/>
              </a:spcAft>
              <a:buNone/>
              <a:defRPr sz="1200">
                <a:solidFill>
                  <a:srgbClr val="888888"/>
                </a:solidFill>
                <a:latin typeface="Arial"/>
                <a:ea typeface="Arial"/>
                <a:cs typeface="Arial"/>
                <a:sym typeface="Arial"/>
              </a:defRPr>
            </a:lvl2pPr>
            <a:lvl3pPr indent="0" lvl="2" marL="0" marR="0" algn="r">
              <a:spcBef>
                <a:spcPts val="0"/>
              </a:spcBef>
              <a:spcAft>
                <a:spcPts val="0"/>
              </a:spcAft>
              <a:buNone/>
              <a:defRPr sz="1200">
                <a:solidFill>
                  <a:srgbClr val="888888"/>
                </a:solidFill>
                <a:latin typeface="Arial"/>
                <a:ea typeface="Arial"/>
                <a:cs typeface="Arial"/>
                <a:sym typeface="Arial"/>
              </a:defRPr>
            </a:lvl3pPr>
            <a:lvl4pPr indent="0" lvl="3" marL="0" marR="0" algn="r">
              <a:spcBef>
                <a:spcPts val="0"/>
              </a:spcBef>
              <a:spcAft>
                <a:spcPts val="0"/>
              </a:spcAft>
              <a:buNone/>
              <a:defRPr sz="1200">
                <a:solidFill>
                  <a:srgbClr val="888888"/>
                </a:solidFill>
                <a:latin typeface="Arial"/>
                <a:ea typeface="Arial"/>
                <a:cs typeface="Arial"/>
                <a:sym typeface="Arial"/>
              </a:defRPr>
            </a:lvl4pPr>
            <a:lvl5pPr indent="0" lvl="4" marL="0" marR="0" algn="r">
              <a:spcBef>
                <a:spcPts val="0"/>
              </a:spcBef>
              <a:spcAft>
                <a:spcPts val="0"/>
              </a:spcAft>
              <a:buNone/>
              <a:defRPr sz="1200">
                <a:solidFill>
                  <a:srgbClr val="888888"/>
                </a:solidFill>
                <a:latin typeface="Arial"/>
                <a:ea typeface="Arial"/>
                <a:cs typeface="Arial"/>
                <a:sym typeface="Arial"/>
              </a:defRPr>
            </a:lvl5pPr>
            <a:lvl6pPr indent="0" lvl="5" marL="0" marR="0" algn="r">
              <a:spcBef>
                <a:spcPts val="0"/>
              </a:spcBef>
              <a:spcAft>
                <a:spcPts val="0"/>
              </a:spcAft>
              <a:buNone/>
              <a:defRPr sz="1200">
                <a:solidFill>
                  <a:srgbClr val="888888"/>
                </a:solidFill>
                <a:latin typeface="Arial"/>
                <a:ea typeface="Arial"/>
                <a:cs typeface="Arial"/>
                <a:sym typeface="Arial"/>
              </a:defRPr>
            </a:lvl6pPr>
            <a:lvl7pPr indent="0" lvl="6" marL="0" marR="0" algn="r">
              <a:spcBef>
                <a:spcPts val="0"/>
              </a:spcBef>
              <a:spcAft>
                <a:spcPts val="0"/>
              </a:spcAft>
              <a:buNone/>
              <a:defRPr sz="1200">
                <a:solidFill>
                  <a:srgbClr val="888888"/>
                </a:solidFill>
                <a:latin typeface="Arial"/>
                <a:ea typeface="Arial"/>
                <a:cs typeface="Arial"/>
                <a:sym typeface="Arial"/>
              </a:defRPr>
            </a:lvl7pPr>
            <a:lvl8pPr indent="0" lvl="7" marL="0" marR="0" algn="r">
              <a:spcBef>
                <a:spcPts val="0"/>
              </a:spcBef>
              <a:spcAft>
                <a:spcPts val="0"/>
              </a:spcAft>
              <a:buNone/>
              <a:defRPr sz="1200">
                <a:solidFill>
                  <a:srgbClr val="888888"/>
                </a:solidFill>
                <a:latin typeface="Arial"/>
                <a:ea typeface="Arial"/>
                <a:cs typeface="Arial"/>
                <a:sym typeface="Arial"/>
              </a:defRPr>
            </a:lvl8pPr>
            <a:lvl9pPr indent="0" lvl="8" marL="0" marR="0" algn="r">
              <a:spcBef>
                <a:spcPts val="0"/>
              </a:spcBef>
              <a:spcAft>
                <a:spcPts val="0"/>
              </a:spcAft>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1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5" name="Google Shape;75;p1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6" name="Google Shape;76;p1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Arial"/>
                <a:ea typeface="Arial"/>
                <a:cs typeface="Arial"/>
                <a:sym typeface="Arial"/>
              </a:defRPr>
            </a:lvl1pPr>
            <a:lvl2pPr indent="0" lvl="1" marL="0" marR="0" algn="r">
              <a:spcBef>
                <a:spcPts val="0"/>
              </a:spcBef>
              <a:spcAft>
                <a:spcPts val="0"/>
              </a:spcAft>
              <a:buNone/>
              <a:defRPr sz="1200">
                <a:solidFill>
                  <a:srgbClr val="888888"/>
                </a:solidFill>
                <a:latin typeface="Arial"/>
                <a:ea typeface="Arial"/>
                <a:cs typeface="Arial"/>
                <a:sym typeface="Arial"/>
              </a:defRPr>
            </a:lvl2pPr>
            <a:lvl3pPr indent="0" lvl="2" marL="0" marR="0" algn="r">
              <a:spcBef>
                <a:spcPts val="0"/>
              </a:spcBef>
              <a:spcAft>
                <a:spcPts val="0"/>
              </a:spcAft>
              <a:buNone/>
              <a:defRPr sz="1200">
                <a:solidFill>
                  <a:srgbClr val="888888"/>
                </a:solidFill>
                <a:latin typeface="Arial"/>
                <a:ea typeface="Arial"/>
                <a:cs typeface="Arial"/>
                <a:sym typeface="Arial"/>
              </a:defRPr>
            </a:lvl3pPr>
            <a:lvl4pPr indent="0" lvl="3" marL="0" marR="0" algn="r">
              <a:spcBef>
                <a:spcPts val="0"/>
              </a:spcBef>
              <a:spcAft>
                <a:spcPts val="0"/>
              </a:spcAft>
              <a:buNone/>
              <a:defRPr sz="1200">
                <a:solidFill>
                  <a:srgbClr val="888888"/>
                </a:solidFill>
                <a:latin typeface="Arial"/>
                <a:ea typeface="Arial"/>
                <a:cs typeface="Arial"/>
                <a:sym typeface="Arial"/>
              </a:defRPr>
            </a:lvl4pPr>
            <a:lvl5pPr indent="0" lvl="4" marL="0" marR="0" algn="r">
              <a:spcBef>
                <a:spcPts val="0"/>
              </a:spcBef>
              <a:spcAft>
                <a:spcPts val="0"/>
              </a:spcAft>
              <a:buNone/>
              <a:defRPr sz="1200">
                <a:solidFill>
                  <a:srgbClr val="888888"/>
                </a:solidFill>
                <a:latin typeface="Arial"/>
                <a:ea typeface="Arial"/>
                <a:cs typeface="Arial"/>
                <a:sym typeface="Arial"/>
              </a:defRPr>
            </a:lvl5pPr>
            <a:lvl6pPr indent="0" lvl="5" marL="0" marR="0" algn="r">
              <a:spcBef>
                <a:spcPts val="0"/>
              </a:spcBef>
              <a:spcAft>
                <a:spcPts val="0"/>
              </a:spcAft>
              <a:buNone/>
              <a:defRPr sz="1200">
                <a:solidFill>
                  <a:srgbClr val="888888"/>
                </a:solidFill>
                <a:latin typeface="Arial"/>
                <a:ea typeface="Arial"/>
                <a:cs typeface="Arial"/>
                <a:sym typeface="Arial"/>
              </a:defRPr>
            </a:lvl6pPr>
            <a:lvl7pPr indent="0" lvl="6" marL="0" marR="0" algn="r">
              <a:spcBef>
                <a:spcPts val="0"/>
              </a:spcBef>
              <a:spcAft>
                <a:spcPts val="0"/>
              </a:spcAft>
              <a:buNone/>
              <a:defRPr sz="1200">
                <a:solidFill>
                  <a:srgbClr val="888888"/>
                </a:solidFill>
                <a:latin typeface="Arial"/>
                <a:ea typeface="Arial"/>
                <a:cs typeface="Arial"/>
                <a:sym typeface="Arial"/>
              </a:defRPr>
            </a:lvl7pPr>
            <a:lvl8pPr indent="0" lvl="7" marL="0" marR="0" algn="r">
              <a:spcBef>
                <a:spcPts val="0"/>
              </a:spcBef>
              <a:spcAft>
                <a:spcPts val="0"/>
              </a:spcAft>
              <a:buNone/>
              <a:defRPr sz="1200">
                <a:solidFill>
                  <a:srgbClr val="888888"/>
                </a:solidFill>
                <a:latin typeface="Arial"/>
                <a:ea typeface="Arial"/>
                <a:cs typeface="Arial"/>
                <a:sym typeface="Arial"/>
              </a:defRPr>
            </a:lvl8pPr>
            <a:lvl9pPr indent="0" lvl="8" marL="0" marR="0" algn="r">
              <a:spcBef>
                <a:spcPts val="0"/>
              </a:spcBef>
              <a:spcAft>
                <a:spcPts val="0"/>
              </a:spcAft>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1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1" name="Google Shape;81;p1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 name="Google Shape;82;p1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Arial"/>
                <a:ea typeface="Arial"/>
                <a:cs typeface="Arial"/>
                <a:sym typeface="Arial"/>
              </a:defRPr>
            </a:lvl1pPr>
            <a:lvl2pPr indent="0" lvl="1" marL="0" marR="0" algn="r">
              <a:spcBef>
                <a:spcPts val="0"/>
              </a:spcBef>
              <a:spcAft>
                <a:spcPts val="0"/>
              </a:spcAft>
              <a:buNone/>
              <a:defRPr sz="1200">
                <a:solidFill>
                  <a:srgbClr val="888888"/>
                </a:solidFill>
                <a:latin typeface="Arial"/>
                <a:ea typeface="Arial"/>
                <a:cs typeface="Arial"/>
                <a:sym typeface="Arial"/>
              </a:defRPr>
            </a:lvl2pPr>
            <a:lvl3pPr indent="0" lvl="2" marL="0" marR="0" algn="r">
              <a:spcBef>
                <a:spcPts val="0"/>
              </a:spcBef>
              <a:spcAft>
                <a:spcPts val="0"/>
              </a:spcAft>
              <a:buNone/>
              <a:defRPr sz="1200">
                <a:solidFill>
                  <a:srgbClr val="888888"/>
                </a:solidFill>
                <a:latin typeface="Arial"/>
                <a:ea typeface="Arial"/>
                <a:cs typeface="Arial"/>
                <a:sym typeface="Arial"/>
              </a:defRPr>
            </a:lvl3pPr>
            <a:lvl4pPr indent="0" lvl="3" marL="0" marR="0" algn="r">
              <a:spcBef>
                <a:spcPts val="0"/>
              </a:spcBef>
              <a:spcAft>
                <a:spcPts val="0"/>
              </a:spcAft>
              <a:buNone/>
              <a:defRPr sz="1200">
                <a:solidFill>
                  <a:srgbClr val="888888"/>
                </a:solidFill>
                <a:latin typeface="Arial"/>
                <a:ea typeface="Arial"/>
                <a:cs typeface="Arial"/>
                <a:sym typeface="Arial"/>
              </a:defRPr>
            </a:lvl4pPr>
            <a:lvl5pPr indent="0" lvl="4" marL="0" marR="0" algn="r">
              <a:spcBef>
                <a:spcPts val="0"/>
              </a:spcBef>
              <a:spcAft>
                <a:spcPts val="0"/>
              </a:spcAft>
              <a:buNone/>
              <a:defRPr sz="1200">
                <a:solidFill>
                  <a:srgbClr val="888888"/>
                </a:solidFill>
                <a:latin typeface="Arial"/>
                <a:ea typeface="Arial"/>
                <a:cs typeface="Arial"/>
                <a:sym typeface="Arial"/>
              </a:defRPr>
            </a:lvl5pPr>
            <a:lvl6pPr indent="0" lvl="5" marL="0" marR="0" algn="r">
              <a:spcBef>
                <a:spcPts val="0"/>
              </a:spcBef>
              <a:spcAft>
                <a:spcPts val="0"/>
              </a:spcAft>
              <a:buNone/>
              <a:defRPr sz="1200">
                <a:solidFill>
                  <a:srgbClr val="888888"/>
                </a:solidFill>
                <a:latin typeface="Arial"/>
                <a:ea typeface="Arial"/>
                <a:cs typeface="Arial"/>
                <a:sym typeface="Arial"/>
              </a:defRPr>
            </a:lvl6pPr>
            <a:lvl7pPr indent="0" lvl="6" marL="0" marR="0" algn="r">
              <a:spcBef>
                <a:spcPts val="0"/>
              </a:spcBef>
              <a:spcAft>
                <a:spcPts val="0"/>
              </a:spcAft>
              <a:buNone/>
              <a:defRPr sz="1200">
                <a:solidFill>
                  <a:srgbClr val="888888"/>
                </a:solidFill>
                <a:latin typeface="Arial"/>
                <a:ea typeface="Arial"/>
                <a:cs typeface="Arial"/>
                <a:sym typeface="Arial"/>
              </a:defRPr>
            </a:lvl7pPr>
            <a:lvl8pPr indent="0" lvl="7" marL="0" marR="0" algn="r">
              <a:spcBef>
                <a:spcPts val="0"/>
              </a:spcBef>
              <a:spcAft>
                <a:spcPts val="0"/>
              </a:spcAft>
              <a:buNone/>
              <a:defRPr sz="1200">
                <a:solidFill>
                  <a:srgbClr val="888888"/>
                </a:solidFill>
                <a:latin typeface="Arial"/>
                <a:ea typeface="Arial"/>
                <a:cs typeface="Arial"/>
                <a:sym typeface="Arial"/>
              </a:defRPr>
            </a:lvl8pPr>
            <a:lvl9pPr indent="0" lvl="8" marL="0" marR="0" algn="r">
              <a:spcBef>
                <a:spcPts val="0"/>
              </a:spcBef>
              <a:spcAft>
                <a:spcPts val="0"/>
              </a:spcAft>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1" name="Shape 91"/>
        <p:cNvGrpSpPr/>
        <p:nvPr/>
      </p:nvGrpSpPr>
      <p:grpSpPr>
        <a:xfrm>
          <a:off x="0" y="0"/>
          <a:ext cx="0" cy="0"/>
          <a:chOff x="0" y="0"/>
          <a:chExt cx="0" cy="0"/>
        </a:xfrm>
      </p:grpSpPr>
      <p:sp>
        <p:nvSpPr>
          <p:cNvPr id="92" name="Google Shape;92;p12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3" name="Google Shape;93;p12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94" name="Google Shape;94;p1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7" name="Shape 97"/>
        <p:cNvGrpSpPr/>
        <p:nvPr/>
      </p:nvGrpSpPr>
      <p:grpSpPr>
        <a:xfrm>
          <a:off x="0" y="0"/>
          <a:ext cx="0" cy="0"/>
          <a:chOff x="0" y="0"/>
          <a:chExt cx="0" cy="0"/>
        </a:xfrm>
      </p:grpSpPr>
      <p:sp>
        <p:nvSpPr>
          <p:cNvPr id="98" name="Google Shape;98;p1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9" name="Google Shape;99;p1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0" name="Google Shape;100;p1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3" name="Shape 103"/>
        <p:cNvGrpSpPr/>
        <p:nvPr/>
      </p:nvGrpSpPr>
      <p:grpSpPr>
        <a:xfrm>
          <a:off x="0" y="0"/>
          <a:ext cx="0" cy="0"/>
          <a:chOff x="0" y="0"/>
          <a:chExt cx="0" cy="0"/>
        </a:xfrm>
      </p:grpSpPr>
      <p:sp>
        <p:nvSpPr>
          <p:cNvPr id="104" name="Google Shape;104;p12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5" name="Google Shape;105;p12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06" name="Google Shape;106;p1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9" name="Shape 109"/>
        <p:cNvGrpSpPr/>
        <p:nvPr/>
      </p:nvGrpSpPr>
      <p:grpSpPr>
        <a:xfrm>
          <a:off x="0" y="0"/>
          <a:ext cx="0" cy="0"/>
          <a:chOff x="0" y="0"/>
          <a:chExt cx="0" cy="0"/>
        </a:xfrm>
      </p:grpSpPr>
      <p:sp>
        <p:nvSpPr>
          <p:cNvPr id="110" name="Google Shape;110;p1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1" name="Google Shape;111;p12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2" name="Google Shape;112;p12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3" name="Google Shape;113;p1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6" name="Shape 116"/>
        <p:cNvGrpSpPr/>
        <p:nvPr/>
      </p:nvGrpSpPr>
      <p:grpSpPr>
        <a:xfrm>
          <a:off x="0" y="0"/>
          <a:ext cx="0" cy="0"/>
          <a:chOff x="0" y="0"/>
          <a:chExt cx="0" cy="0"/>
        </a:xfrm>
      </p:grpSpPr>
      <p:sp>
        <p:nvSpPr>
          <p:cNvPr id="117" name="Google Shape;117;p1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8" name="Google Shape;118;p13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19" name="Google Shape;119;p13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0" name="Google Shape;120;p13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1" name="Google Shape;121;p13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2" name="Google Shape;122;p1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1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5" name="Shape 125"/>
        <p:cNvGrpSpPr/>
        <p:nvPr/>
      </p:nvGrpSpPr>
      <p:grpSpPr>
        <a:xfrm>
          <a:off x="0" y="0"/>
          <a:ext cx="0" cy="0"/>
          <a:chOff x="0" y="0"/>
          <a:chExt cx="0" cy="0"/>
        </a:xfrm>
      </p:grpSpPr>
      <p:sp>
        <p:nvSpPr>
          <p:cNvPr id="126" name="Google Shape;126;p1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7" name="Google Shape;127;p1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1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1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0" name="Shape 130"/>
        <p:cNvGrpSpPr/>
        <p:nvPr/>
      </p:nvGrpSpPr>
      <p:grpSpPr>
        <a:xfrm>
          <a:off x="0" y="0"/>
          <a:ext cx="0" cy="0"/>
          <a:chOff x="0" y="0"/>
          <a:chExt cx="0" cy="0"/>
        </a:xfrm>
      </p:grpSpPr>
      <p:sp>
        <p:nvSpPr>
          <p:cNvPr id="131" name="Google Shape;131;p1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1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13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6" name="Google Shape;136;p13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37" name="Google Shape;137;p13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38" name="Google Shape;138;p1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1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1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13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3" name="Google Shape;143;p134"/>
          <p:cNvSpPr/>
          <p:nvPr>
            <p:ph idx="2" type="pic"/>
          </p:nvPr>
        </p:nvSpPr>
        <p:spPr>
          <a:xfrm>
            <a:off x="1792288" y="612775"/>
            <a:ext cx="5486400" cy="4114800"/>
          </a:xfrm>
          <a:prstGeom prst="rect">
            <a:avLst/>
          </a:prstGeom>
          <a:noFill/>
          <a:ln>
            <a:noFill/>
          </a:ln>
        </p:spPr>
      </p:sp>
      <p:sp>
        <p:nvSpPr>
          <p:cNvPr id="144" name="Google Shape;144;p13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45" name="Google Shape;145;p1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1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1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1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0" name="Google Shape;150;p13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1" name="Google Shape;151;p1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1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1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13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6" name="Google Shape;156;p13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7" name="Google Shape;157;p1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1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1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9pPr>
          </a:lstStyle>
          <a:p/>
        </p:txBody>
      </p:sp>
      <p:sp>
        <p:nvSpPr>
          <p:cNvPr id="11" name="Google Shape;11;p1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1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88888"/>
                </a:solidFill>
                <a:latin typeface="Arial"/>
                <a:ea typeface="Arial"/>
                <a:cs typeface="Arial"/>
                <a:sym typeface="Arial"/>
              </a:defRPr>
            </a:lvl1pPr>
            <a:lvl2pPr indent="0" lvl="1" marL="0" marR="0" rtl="0" algn="r">
              <a:spcBef>
                <a:spcPts val="0"/>
              </a:spcBef>
              <a:spcAft>
                <a:spcPts val="0"/>
              </a:spcAft>
              <a:buNone/>
              <a:defRPr b="0" i="0" sz="1200" u="none" cap="none" strike="noStrike">
                <a:solidFill>
                  <a:srgbClr val="888888"/>
                </a:solidFill>
                <a:latin typeface="Arial"/>
                <a:ea typeface="Arial"/>
                <a:cs typeface="Arial"/>
                <a:sym typeface="Arial"/>
              </a:defRPr>
            </a:lvl2pPr>
            <a:lvl3pPr indent="0" lvl="2" marL="0" marR="0" rtl="0" algn="r">
              <a:spcBef>
                <a:spcPts val="0"/>
              </a:spcBef>
              <a:spcAft>
                <a:spcPts val="0"/>
              </a:spcAft>
              <a:buNone/>
              <a:defRPr b="0" i="0" sz="1200" u="none" cap="none" strike="noStrike">
                <a:solidFill>
                  <a:srgbClr val="888888"/>
                </a:solidFill>
                <a:latin typeface="Arial"/>
                <a:ea typeface="Arial"/>
                <a:cs typeface="Arial"/>
                <a:sym typeface="Arial"/>
              </a:defRPr>
            </a:lvl3pPr>
            <a:lvl4pPr indent="0" lvl="3" marL="0" marR="0" rtl="0" algn="r">
              <a:spcBef>
                <a:spcPts val="0"/>
              </a:spcBef>
              <a:spcAft>
                <a:spcPts val="0"/>
              </a:spcAft>
              <a:buNone/>
              <a:defRPr b="0" i="0" sz="1200" u="none" cap="none" strike="noStrike">
                <a:solidFill>
                  <a:srgbClr val="888888"/>
                </a:solidFill>
                <a:latin typeface="Arial"/>
                <a:ea typeface="Arial"/>
                <a:cs typeface="Arial"/>
                <a:sym typeface="Arial"/>
              </a:defRPr>
            </a:lvl4pPr>
            <a:lvl5pPr indent="0" lvl="4" marL="0" marR="0" rtl="0" algn="r">
              <a:spcBef>
                <a:spcPts val="0"/>
              </a:spcBef>
              <a:spcAft>
                <a:spcPts val="0"/>
              </a:spcAft>
              <a:buNone/>
              <a:defRPr b="0" i="0" sz="1200" u="none" cap="none" strike="noStrike">
                <a:solidFill>
                  <a:srgbClr val="888888"/>
                </a:solidFill>
                <a:latin typeface="Arial"/>
                <a:ea typeface="Arial"/>
                <a:cs typeface="Arial"/>
                <a:sym typeface="Arial"/>
              </a:defRPr>
            </a:lvl5pPr>
            <a:lvl6pPr indent="0" lvl="5" marL="0" marR="0" rtl="0" algn="r">
              <a:spcBef>
                <a:spcPts val="0"/>
              </a:spcBef>
              <a:spcAft>
                <a:spcPts val="0"/>
              </a:spcAft>
              <a:buNone/>
              <a:defRPr b="0" i="0" sz="1200" u="none" cap="none" strike="noStrike">
                <a:solidFill>
                  <a:srgbClr val="888888"/>
                </a:solidFill>
                <a:latin typeface="Arial"/>
                <a:ea typeface="Arial"/>
                <a:cs typeface="Arial"/>
                <a:sym typeface="Arial"/>
              </a:defRPr>
            </a:lvl6pPr>
            <a:lvl7pPr indent="0" lvl="6" marL="0" marR="0" rtl="0" algn="r">
              <a:spcBef>
                <a:spcPts val="0"/>
              </a:spcBef>
              <a:spcAft>
                <a:spcPts val="0"/>
              </a:spcAft>
              <a:buNone/>
              <a:defRPr b="0" i="0" sz="1200" u="none" cap="none" strike="noStrike">
                <a:solidFill>
                  <a:srgbClr val="888888"/>
                </a:solidFill>
                <a:latin typeface="Arial"/>
                <a:ea typeface="Arial"/>
                <a:cs typeface="Arial"/>
                <a:sym typeface="Arial"/>
              </a:defRPr>
            </a:lvl7pPr>
            <a:lvl8pPr indent="0" lvl="7" marL="0" marR="0" rtl="0" algn="r">
              <a:spcBef>
                <a:spcPts val="0"/>
              </a:spcBef>
              <a:spcAft>
                <a:spcPts val="0"/>
              </a:spcAft>
              <a:buNone/>
              <a:defRPr b="0" i="0" sz="1200" u="none" cap="none" strike="noStrike">
                <a:solidFill>
                  <a:srgbClr val="888888"/>
                </a:solidFill>
                <a:latin typeface="Arial"/>
                <a:ea typeface="Arial"/>
                <a:cs typeface="Arial"/>
                <a:sym typeface="Arial"/>
              </a:defRPr>
            </a:lvl8pPr>
            <a:lvl9pPr indent="0" lvl="8" marL="0" marR="0" rtl="0" algn="r">
              <a:spcBef>
                <a:spcPts val="0"/>
              </a:spcBef>
              <a:spcAft>
                <a:spcPts val="0"/>
              </a:spcAft>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1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87" name="Google Shape;87;p1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8" name="Google Shape;88;p1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9" name="Google Shape;89;p1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0" name="Google Shape;90;p1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sz="1200">
                <a:solidFill>
                  <a:srgbClr val="888888"/>
                </a:solidFill>
                <a:latin typeface="Calibri"/>
                <a:ea typeface="Calibri"/>
                <a:cs typeface="Calibri"/>
                <a:sym typeface="Calibri"/>
              </a:defRPr>
            </a:lvl1pPr>
            <a:lvl2pPr indent="0" lvl="1" marL="0" marR="0" rtl="0" algn="r">
              <a:spcBef>
                <a:spcPts val="0"/>
              </a:spcBef>
              <a:spcAft>
                <a:spcPts val="0"/>
              </a:spcAft>
              <a:buNone/>
              <a:defRPr sz="1200">
                <a:solidFill>
                  <a:srgbClr val="888888"/>
                </a:solidFill>
                <a:latin typeface="Calibri"/>
                <a:ea typeface="Calibri"/>
                <a:cs typeface="Calibri"/>
                <a:sym typeface="Calibri"/>
              </a:defRPr>
            </a:lvl2pPr>
            <a:lvl3pPr indent="0" lvl="2" marL="0" marR="0" rtl="0" algn="r">
              <a:spcBef>
                <a:spcPts val="0"/>
              </a:spcBef>
              <a:spcAft>
                <a:spcPts val="0"/>
              </a:spcAft>
              <a:buNone/>
              <a:defRPr sz="1200">
                <a:solidFill>
                  <a:srgbClr val="888888"/>
                </a:solidFill>
                <a:latin typeface="Calibri"/>
                <a:ea typeface="Calibri"/>
                <a:cs typeface="Calibri"/>
                <a:sym typeface="Calibri"/>
              </a:defRPr>
            </a:lvl3pPr>
            <a:lvl4pPr indent="0" lvl="3" marL="0" marR="0" rtl="0" algn="r">
              <a:spcBef>
                <a:spcPts val="0"/>
              </a:spcBef>
              <a:spcAft>
                <a:spcPts val="0"/>
              </a:spcAft>
              <a:buNone/>
              <a:defRPr sz="1200">
                <a:solidFill>
                  <a:srgbClr val="888888"/>
                </a:solidFill>
                <a:latin typeface="Calibri"/>
                <a:ea typeface="Calibri"/>
                <a:cs typeface="Calibri"/>
                <a:sym typeface="Calibri"/>
              </a:defRPr>
            </a:lvl4pPr>
            <a:lvl5pPr indent="0" lvl="4" marL="0" marR="0" rtl="0" algn="r">
              <a:spcBef>
                <a:spcPts val="0"/>
              </a:spcBef>
              <a:spcAft>
                <a:spcPts val="0"/>
              </a:spcAft>
              <a:buNone/>
              <a:defRPr sz="1200">
                <a:solidFill>
                  <a:srgbClr val="888888"/>
                </a:solidFill>
                <a:latin typeface="Calibri"/>
                <a:ea typeface="Calibri"/>
                <a:cs typeface="Calibri"/>
                <a:sym typeface="Calibri"/>
              </a:defRPr>
            </a:lvl5pPr>
            <a:lvl6pPr indent="0" lvl="5" marL="0" marR="0" rtl="0" algn="r">
              <a:spcBef>
                <a:spcPts val="0"/>
              </a:spcBef>
              <a:spcAft>
                <a:spcPts val="0"/>
              </a:spcAft>
              <a:buNone/>
              <a:defRPr sz="1200">
                <a:solidFill>
                  <a:srgbClr val="888888"/>
                </a:solidFill>
                <a:latin typeface="Calibri"/>
                <a:ea typeface="Calibri"/>
                <a:cs typeface="Calibri"/>
                <a:sym typeface="Calibri"/>
              </a:defRPr>
            </a:lvl6pPr>
            <a:lvl7pPr indent="0" lvl="6" marL="0" marR="0" rtl="0" algn="r">
              <a:spcBef>
                <a:spcPts val="0"/>
              </a:spcBef>
              <a:spcAft>
                <a:spcPts val="0"/>
              </a:spcAft>
              <a:buNone/>
              <a:defRPr sz="1200">
                <a:solidFill>
                  <a:srgbClr val="888888"/>
                </a:solidFill>
                <a:latin typeface="Calibri"/>
                <a:ea typeface="Calibri"/>
                <a:cs typeface="Calibri"/>
                <a:sym typeface="Calibri"/>
              </a:defRPr>
            </a:lvl7pPr>
            <a:lvl8pPr indent="0" lvl="7" marL="0" marR="0" rtl="0" algn="r">
              <a:spcBef>
                <a:spcPts val="0"/>
              </a:spcBef>
              <a:spcAft>
                <a:spcPts val="0"/>
              </a:spcAft>
              <a:buNone/>
              <a:defRPr sz="1200">
                <a:solidFill>
                  <a:srgbClr val="888888"/>
                </a:solidFill>
                <a:latin typeface="Calibri"/>
                <a:ea typeface="Calibri"/>
                <a:cs typeface="Calibri"/>
                <a:sym typeface="Calibri"/>
              </a:defRPr>
            </a:lvl8pPr>
            <a:lvl9pPr indent="0" lvl="8" marL="0" marR="0" rtl="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5.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7.gi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0.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1.gi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3.gi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4.gi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2.gi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5.gi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6.gi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1.gi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7.gi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18.gi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9.gi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23.png"/><Relationship Id="rId4" Type="http://schemas.openxmlformats.org/officeDocument/2006/relationships/image" Target="../media/image2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23.png"/><Relationship Id="rId4" Type="http://schemas.openxmlformats.org/officeDocument/2006/relationships/image" Target="../media/image2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23.png"/><Relationship Id="rId4" Type="http://schemas.openxmlformats.org/officeDocument/2006/relationships/image" Target="../media/image2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23.png"/><Relationship Id="rId4" Type="http://schemas.openxmlformats.org/officeDocument/2006/relationships/image" Target="../media/image2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30.gi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31.gi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2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35.gi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3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3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3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34.gif"/></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descr="transparent.gif" id="165" name="Google Shape;165;p1"/>
          <p:cNvPicPr preferRelativeResize="0"/>
          <p:nvPr/>
        </p:nvPicPr>
        <p:blipFill rotWithShape="1">
          <a:blip r:embed="rId3">
            <a:alphaModFix/>
          </a:blip>
          <a:srcRect b="0" l="0" r="0" t="0"/>
          <a:stretch/>
        </p:blipFill>
        <p:spPr>
          <a:xfrm>
            <a:off x="2430463" y="1676400"/>
            <a:ext cx="4046537" cy="4233863"/>
          </a:xfrm>
          <a:prstGeom prst="rect">
            <a:avLst/>
          </a:prstGeom>
          <a:noFill/>
          <a:ln>
            <a:noFill/>
          </a:ln>
        </p:spPr>
      </p:pic>
      <p:sp>
        <p:nvSpPr>
          <p:cNvPr id="166" name="Google Shape;166;p1"/>
          <p:cNvSpPr txBox="1"/>
          <p:nvPr>
            <p:ph type="ctrTitle"/>
          </p:nvPr>
        </p:nvSpPr>
        <p:spPr>
          <a:xfrm>
            <a:off x="685800" y="2644775"/>
            <a:ext cx="7772400" cy="14700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8</a:t>
            </a:r>
            <a:br>
              <a:rPr lang="en-US"/>
            </a:br>
            <a:r>
              <a:rPr lang="en-US"/>
              <a:t>Virtual Memory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2"/>
          <p:cNvPicPr preferRelativeResize="0"/>
          <p:nvPr/>
        </p:nvPicPr>
        <p:blipFill rotWithShape="1">
          <a:blip r:embed="rId3">
            <a:alphaModFix/>
          </a:blip>
          <a:srcRect b="0" l="0" r="0" t="0"/>
          <a:stretch/>
        </p:blipFill>
        <p:spPr>
          <a:xfrm>
            <a:off x="0" y="0"/>
            <a:ext cx="9143999"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Key points in</a:t>
            </a:r>
            <a:br>
              <a:rPr lang="en-US"/>
            </a:br>
            <a:r>
              <a:rPr lang="en-US"/>
              <a:t>Memory Management</a:t>
            </a:r>
            <a:endParaRPr/>
          </a:p>
        </p:txBody>
      </p:sp>
      <p:sp>
        <p:nvSpPr>
          <p:cNvPr id="179" name="Google Shape;179;p3"/>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514350" lvl="0" marL="514350" rtl="0" algn="just">
              <a:spcBef>
                <a:spcPts val="0"/>
              </a:spcBef>
              <a:spcAft>
                <a:spcPts val="0"/>
              </a:spcAft>
              <a:buClr>
                <a:schemeClr val="dk1"/>
              </a:buClr>
              <a:buSzPts val="2400"/>
              <a:buFont typeface="Arial"/>
              <a:buAutoNum type="arabicPeriod"/>
            </a:pPr>
            <a:r>
              <a:rPr lang="en-US" sz="2400"/>
              <a:t>Memory references in a process are </a:t>
            </a:r>
            <a:r>
              <a:rPr lang="en-US" sz="2400">
                <a:solidFill>
                  <a:schemeClr val="accent1"/>
                </a:solidFill>
              </a:rPr>
              <a:t>logical addresses</a:t>
            </a:r>
            <a:r>
              <a:rPr lang="en-US" sz="2400"/>
              <a:t>, dynamically translated into </a:t>
            </a:r>
            <a:r>
              <a:rPr lang="en-US" sz="2400">
                <a:solidFill>
                  <a:schemeClr val="accent1"/>
                </a:solidFill>
              </a:rPr>
              <a:t>physical addresses </a:t>
            </a:r>
            <a:r>
              <a:rPr lang="en-US" sz="2400"/>
              <a:t>at run time</a:t>
            </a:r>
            <a:endParaRPr/>
          </a:p>
          <a:p>
            <a:pPr indent="-514350" lvl="1" marL="971550" rtl="0" algn="just">
              <a:spcBef>
                <a:spcPts val="480"/>
              </a:spcBef>
              <a:spcAft>
                <a:spcPts val="0"/>
              </a:spcAft>
              <a:buClr>
                <a:schemeClr val="dk1"/>
              </a:buClr>
              <a:buSzPts val="2400"/>
              <a:buChar char="–"/>
            </a:pPr>
            <a:r>
              <a:rPr lang="en-US" sz="2400"/>
              <a:t>A process may be swapped in and out of main memory occupying different regions at different times during execution</a:t>
            </a:r>
            <a:endParaRPr/>
          </a:p>
          <a:p>
            <a:pPr indent="-361950" lvl="1" marL="971550" rtl="0" algn="just">
              <a:spcBef>
                <a:spcPts val="480"/>
              </a:spcBef>
              <a:spcAft>
                <a:spcPts val="0"/>
              </a:spcAft>
              <a:buClr>
                <a:schemeClr val="dk1"/>
              </a:buClr>
              <a:buSzPts val="2400"/>
              <a:buNone/>
            </a:pPr>
            <a:r>
              <a:t/>
            </a:r>
            <a:endParaRPr sz="2400"/>
          </a:p>
          <a:p>
            <a:pPr indent="-514350" lvl="0" marL="514350" rtl="0" algn="just">
              <a:spcBef>
                <a:spcPts val="480"/>
              </a:spcBef>
              <a:spcAft>
                <a:spcPts val="0"/>
              </a:spcAft>
              <a:buClr>
                <a:schemeClr val="dk1"/>
              </a:buClr>
              <a:buSzPts val="2400"/>
              <a:buFont typeface="Arial"/>
              <a:buAutoNum type="arabicPeriod"/>
            </a:pPr>
            <a:r>
              <a:rPr lang="en-US" sz="2400"/>
              <a:t>A process may be broken up into pieces that do not need to located contiguously in main memory</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Breakthrough in </a:t>
            </a:r>
            <a:br>
              <a:rPr lang="en-US"/>
            </a:br>
            <a:r>
              <a:rPr lang="en-US"/>
              <a:t>Memory Management</a:t>
            </a:r>
            <a:endParaRPr/>
          </a:p>
        </p:txBody>
      </p:sp>
      <p:sp>
        <p:nvSpPr>
          <p:cNvPr id="186" name="Google Shape;186;p4"/>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b="1" lang="en-US" sz="2400">
                <a:solidFill>
                  <a:schemeClr val="accent1"/>
                </a:solidFill>
              </a:rPr>
              <a:t>If both </a:t>
            </a:r>
            <a:r>
              <a:rPr lang="en-US" sz="2400"/>
              <a:t>of those two characteristics are </a:t>
            </a:r>
            <a:r>
              <a:rPr lang="en-US" sz="2400">
                <a:solidFill>
                  <a:schemeClr val="accent1"/>
                </a:solidFill>
              </a:rPr>
              <a:t>present</a:t>
            </a:r>
            <a:r>
              <a:rPr lang="en-US" sz="2400"/>
              <a:t>, </a:t>
            </a:r>
            <a:endParaRPr/>
          </a:p>
          <a:p>
            <a:pPr indent="-285750" lvl="1" marL="742950" rtl="0" algn="just">
              <a:spcBef>
                <a:spcPts val="480"/>
              </a:spcBef>
              <a:spcAft>
                <a:spcPts val="0"/>
              </a:spcAft>
              <a:buClr>
                <a:schemeClr val="dk1"/>
              </a:buClr>
              <a:buSzPts val="2400"/>
              <a:buChar char="–"/>
            </a:pPr>
            <a:r>
              <a:rPr lang="en-US" sz="2400"/>
              <a:t>Then it is not necessary that all of the pages or all of the segments of a process be in main memory during execution</a:t>
            </a:r>
            <a:endParaRPr/>
          </a:p>
          <a:p>
            <a:pPr indent="-133350" lvl="1" marL="74295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If the </a:t>
            </a:r>
            <a:r>
              <a:rPr lang="en-US" sz="2400">
                <a:solidFill>
                  <a:schemeClr val="accent1"/>
                </a:solidFill>
              </a:rPr>
              <a:t>next instruction</a:t>
            </a:r>
            <a:r>
              <a:rPr lang="en-US" sz="2400"/>
              <a:t>, and the </a:t>
            </a:r>
            <a:r>
              <a:rPr lang="en-US" sz="2400">
                <a:solidFill>
                  <a:schemeClr val="accent1"/>
                </a:solidFill>
              </a:rPr>
              <a:t>next data location </a:t>
            </a:r>
            <a:r>
              <a:rPr lang="en-US" sz="2400"/>
              <a:t>are in memory then execution can proceed </a:t>
            </a:r>
            <a:endParaRPr/>
          </a:p>
          <a:p>
            <a:pPr indent="-285750" lvl="1" marL="742950" rtl="0" algn="just">
              <a:spcBef>
                <a:spcPts val="480"/>
              </a:spcBef>
              <a:spcAft>
                <a:spcPts val="0"/>
              </a:spcAft>
              <a:buClr>
                <a:schemeClr val="dk1"/>
              </a:buClr>
              <a:buSzPts val="2400"/>
              <a:buChar char="–"/>
            </a:pPr>
            <a:r>
              <a:rPr lang="en-US" sz="2400"/>
              <a:t>at least for some time</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Execution of a Process</a:t>
            </a:r>
            <a:endParaRPr/>
          </a:p>
        </p:txBody>
      </p:sp>
      <p:sp>
        <p:nvSpPr>
          <p:cNvPr id="193" name="Google Shape;193;p5"/>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Operating system brings into main memory only </a:t>
            </a:r>
            <a:r>
              <a:rPr lang="en-US" sz="2400">
                <a:solidFill>
                  <a:schemeClr val="accent1"/>
                </a:solidFill>
              </a:rPr>
              <a:t>one or a few pieces</a:t>
            </a:r>
            <a:r>
              <a:rPr lang="en-US" sz="2400"/>
              <a:t> of the process</a:t>
            </a:r>
            <a:endParaRPr/>
          </a:p>
          <a:p>
            <a:pPr indent="-285750" lvl="1" marL="742950" rtl="0" algn="just">
              <a:spcBef>
                <a:spcPts val="480"/>
              </a:spcBef>
              <a:spcAft>
                <a:spcPts val="0"/>
              </a:spcAft>
              <a:buClr>
                <a:schemeClr val="dk1"/>
              </a:buClr>
              <a:buSzPts val="2400"/>
              <a:buChar char="–"/>
            </a:pPr>
            <a:r>
              <a:rPr lang="en-US" sz="2400"/>
              <a:t>Including initial program and data pieces</a:t>
            </a:r>
            <a:endParaRPr/>
          </a:p>
          <a:p>
            <a:pPr indent="-133350" lvl="1" marL="74295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accent1"/>
              </a:buClr>
              <a:buSzPts val="2400"/>
              <a:buChar char="•"/>
            </a:pPr>
            <a:r>
              <a:rPr b="1" lang="en-US" sz="2400">
                <a:solidFill>
                  <a:schemeClr val="accent1"/>
                </a:solidFill>
              </a:rPr>
              <a:t>Resident set</a:t>
            </a:r>
            <a:endParaRPr/>
          </a:p>
          <a:p>
            <a:pPr indent="-285750" lvl="1" marL="742950" rtl="0" algn="just">
              <a:spcBef>
                <a:spcPts val="480"/>
              </a:spcBef>
              <a:spcAft>
                <a:spcPts val="0"/>
              </a:spcAft>
              <a:buClr>
                <a:schemeClr val="dk1"/>
              </a:buClr>
              <a:buSzPts val="2400"/>
              <a:buChar char="–"/>
            </a:pPr>
            <a:r>
              <a:rPr lang="en-US" sz="2400"/>
              <a:t>Portion of process that is actually in main memory at a given time</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Execution of a Process</a:t>
            </a:r>
            <a:endParaRPr/>
          </a:p>
        </p:txBody>
      </p:sp>
      <p:sp>
        <p:nvSpPr>
          <p:cNvPr id="199" name="Google Shape;199;p6"/>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As the process executes, it </a:t>
            </a:r>
            <a:r>
              <a:rPr lang="en-US" sz="2400">
                <a:solidFill>
                  <a:schemeClr val="accent1"/>
                </a:solidFill>
              </a:rPr>
              <a:t>runs smoothly </a:t>
            </a:r>
            <a:r>
              <a:rPr lang="en-US" sz="2400"/>
              <a:t>as long as all memory references are </a:t>
            </a:r>
            <a:r>
              <a:rPr lang="en-US" sz="2400">
                <a:solidFill>
                  <a:schemeClr val="accent1"/>
                </a:solidFill>
              </a:rPr>
              <a:t>within resident set</a:t>
            </a:r>
            <a:endParaRPr/>
          </a:p>
          <a:p>
            <a:pPr indent="-285750" lvl="1" marL="742950" rtl="0" algn="just">
              <a:spcBef>
                <a:spcPts val="480"/>
              </a:spcBef>
              <a:spcAft>
                <a:spcPts val="0"/>
              </a:spcAft>
              <a:buClr>
                <a:schemeClr val="dk1"/>
              </a:buClr>
              <a:buSzPts val="2400"/>
              <a:buChar char="–"/>
            </a:pPr>
            <a:r>
              <a:rPr lang="en-US" sz="2400"/>
              <a:t>Segment / Page Table is used to translate logical address to physical address</a:t>
            </a:r>
            <a:endParaRPr/>
          </a:p>
          <a:p>
            <a:pPr indent="-133350" lvl="1" marL="74295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If CPU encounters a </a:t>
            </a:r>
            <a:r>
              <a:rPr lang="en-US" sz="2400">
                <a:solidFill>
                  <a:schemeClr val="accent1"/>
                </a:solidFill>
              </a:rPr>
              <a:t>logical address </a:t>
            </a:r>
            <a:r>
              <a:rPr lang="en-US" sz="2400"/>
              <a:t>that is </a:t>
            </a:r>
            <a:r>
              <a:rPr lang="en-US" sz="2400">
                <a:solidFill>
                  <a:schemeClr val="accent1"/>
                </a:solidFill>
              </a:rPr>
              <a:t>not present</a:t>
            </a:r>
            <a:r>
              <a:rPr lang="en-US" sz="2400"/>
              <a:t> in main memory,</a:t>
            </a:r>
            <a:endParaRPr/>
          </a:p>
          <a:p>
            <a:pPr indent="-285750" lvl="1" marL="742950" rtl="0" algn="just">
              <a:spcBef>
                <a:spcPts val="480"/>
              </a:spcBef>
              <a:spcAft>
                <a:spcPts val="0"/>
              </a:spcAft>
              <a:buClr>
                <a:schemeClr val="dk1"/>
              </a:buClr>
              <a:buSzPts val="2400"/>
              <a:buChar char="–"/>
            </a:pPr>
            <a:r>
              <a:rPr lang="en-US" sz="2400"/>
              <a:t>An </a:t>
            </a:r>
            <a:r>
              <a:rPr lang="en-US" sz="2400">
                <a:solidFill>
                  <a:schemeClr val="accent1"/>
                </a:solidFill>
              </a:rPr>
              <a:t>interrupt</a:t>
            </a:r>
            <a:r>
              <a:rPr lang="en-US" sz="2400"/>
              <a:t> is generated</a:t>
            </a:r>
            <a:endParaRPr/>
          </a:p>
          <a:p>
            <a:pPr indent="-342900" lvl="0" marL="342900" rtl="0" algn="just">
              <a:spcBef>
                <a:spcPts val="480"/>
              </a:spcBef>
              <a:spcAft>
                <a:spcPts val="0"/>
              </a:spcAft>
              <a:buClr>
                <a:schemeClr val="dk1"/>
              </a:buClr>
              <a:buSzPts val="2400"/>
              <a:buChar char="•"/>
            </a:pPr>
            <a:r>
              <a:rPr lang="en-US" sz="2400"/>
              <a:t>Current process is put into </a:t>
            </a:r>
            <a:r>
              <a:rPr lang="en-US" sz="2400">
                <a:solidFill>
                  <a:schemeClr val="accent1"/>
                </a:solidFill>
              </a:rPr>
              <a:t>blocking state </a:t>
            </a:r>
            <a:r>
              <a:rPr lang="en-US" sz="2400"/>
              <a:t>and </a:t>
            </a:r>
            <a:r>
              <a:rPr lang="en-US" sz="2400">
                <a:solidFill>
                  <a:schemeClr val="accent1"/>
                </a:solidFill>
              </a:rPr>
              <a:t>OS gains control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Execution of a Process</a:t>
            </a:r>
            <a:endParaRPr/>
          </a:p>
        </p:txBody>
      </p:sp>
      <p:sp>
        <p:nvSpPr>
          <p:cNvPr id="206" name="Google Shape;206;p7"/>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lang="en-US" sz="2400">
                <a:solidFill>
                  <a:schemeClr val="accent1"/>
                </a:solidFill>
              </a:rPr>
              <a:t>Piece</a:t>
            </a:r>
            <a:r>
              <a:rPr lang="en-US" sz="2400"/>
              <a:t> of process that contains the logical address </a:t>
            </a:r>
            <a:r>
              <a:rPr lang="en-US" sz="2400">
                <a:solidFill>
                  <a:schemeClr val="accent1"/>
                </a:solidFill>
              </a:rPr>
              <a:t>is brought</a:t>
            </a:r>
            <a:r>
              <a:rPr lang="en-US" sz="2400"/>
              <a:t> into main memory</a:t>
            </a:r>
            <a:endParaRPr/>
          </a:p>
          <a:p>
            <a:pPr indent="-285750" lvl="1" marL="742950" rtl="0" algn="just">
              <a:spcBef>
                <a:spcPts val="480"/>
              </a:spcBef>
              <a:spcAft>
                <a:spcPts val="0"/>
              </a:spcAft>
              <a:buClr>
                <a:schemeClr val="dk1"/>
              </a:buClr>
              <a:buSzPts val="2400"/>
              <a:buChar char="–"/>
            </a:pPr>
            <a:r>
              <a:rPr lang="en-US" sz="2400"/>
              <a:t>Operating system issues a </a:t>
            </a:r>
            <a:r>
              <a:rPr lang="en-US" sz="2400">
                <a:solidFill>
                  <a:schemeClr val="accent1"/>
                </a:solidFill>
              </a:rPr>
              <a:t>disk I/O </a:t>
            </a:r>
            <a:r>
              <a:rPr lang="en-US" sz="2400"/>
              <a:t>Read request</a:t>
            </a:r>
            <a:endParaRPr/>
          </a:p>
          <a:p>
            <a:pPr indent="-285750" lvl="1" marL="742950" rtl="0" algn="just">
              <a:spcBef>
                <a:spcPts val="480"/>
              </a:spcBef>
              <a:spcAft>
                <a:spcPts val="0"/>
              </a:spcAft>
              <a:buClr>
                <a:schemeClr val="accent1"/>
              </a:buClr>
              <a:buSzPts val="2400"/>
              <a:buChar char="–"/>
            </a:pPr>
            <a:r>
              <a:rPr lang="en-US" sz="2400">
                <a:solidFill>
                  <a:schemeClr val="accent1"/>
                </a:solidFill>
              </a:rPr>
              <a:t>Another process </a:t>
            </a:r>
            <a:r>
              <a:rPr lang="en-US" sz="2400"/>
              <a:t>is </a:t>
            </a:r>
            <a:r>
              <a:rPr lang="en-US" sz="2400">
                <a:solidFill>
                  <a:schemeClr val="accent1"/>
                </a:solidFill>
              </a:rPr>
              <a:t>dispatched</a:t>
            </a:r>
            <a:r>
              <a:rPr lang="en-US" sz="2400"/>
              <a:t> to run while the disk I/O takes place</a:t>
            </a:r>
            <a:endParaRPr/>
          </a:p>
          <a:p>
            <a:pPr indent="-285750" lvl="1" marL="742950" rtl="0" algn="just">
              <a:spcBef>
                <a:spcPts val="480"/>
              </a:spcBef>
              <a:spcAft>
                <a:spcPts val="0"/>
              </a:spcAft>
              <a:buClr>
                <a:schemeClr val="dk1"/>
              </a:buClr>
              <a:buSzPts val="2400"/>
              <a:buChar char="–"/>
            </a:pPr>
            <a:r>
              <a:rPr lang="en-US" sz="2400"/>
              <a:t>An </a:t>
            </a:r>
            <a:r>
              <a:rPr lang="en-US" sz="2400">
                <a:solidFill>
                  <a:schemeClr val="accent1"/>
                </a:solidFill>
              </a:rPr>
              <a:t>interrupt</a:t>
            </a:r>
            <a:r>
              <a:rPr lang="en-US" sz="2400"/>
              <a:t> is issued when disk </a:t>
            </a:r>
            <a:r>
              <a:rPr lang="en-US" sz="2400">
                <a:solidFill>
                  <a:schemeClr val="accent1"/>
                </a:solidFill>
              </a:rPr>
              <a:t>I/O complete </a:t>
            </a:r>
            <a:r>
              <a:rPr lang="en-US" sz="2400"/>
              <a:t>which causes the operating system to place the </a:t>
            </a:r>
            <a:r>
              <a:rPr lang="en-US" sz="2400">
                <a:solidFill>
                  <a:schemeClr val="accent1"/>
                </a:solidFill>
              </a:rPr>
              <a:t>affected process</a:t>
            </a:r>
            <a:r>
              <a:rPr lang="en-US" sz="2400"/>
              <a:t> in the </a:t>
            </a:r>
            <a:r>
              <a:rPr lang="en-US" sz="2400">
                <a:solidFill>
                  <a:schemeClr val="accent1"/>
                </a:solidFill>
              </a:rPr>
              <a:t>Ready state</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Implications of </a:t>
            </a:r>
            <a:br>
              <a:rPr lang="en-US"/>
            </a:br>
            <a:r>
              <a:rPr lang="en-US"/>
              <a:t>this new strategy</a:t>
            </a:r>
            <a:endParaRPr/>
          </a:p>
        </p:txBody>
      </p:sp>
      <p:sp>
        <p:nvSpPr>
          <p:cNvPr id="213" name="Google Shape;213;p8"/>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lang="en-US" sz="2400">
                <a:solidFill>
                  <a:schemeClr val="accent1"/>
                </a:solidFill>
              </a:rPr>
              <a:t>More processes </a:t>
            </a:r>
            <a:r>
              <a:rPr lang="en-US" sz="2400"/>
              <a:t>may be maintained in </a:t>
            </a:r>
            <a:r>
              <a:rPr lang="en-US" sz="2400">
                <a:solidFill>
                  <a:schemeClr val="accent1"/>
                </a:solidFill>
              </a:rPr>
              <a:t>main memory</a:t>
            </a:r>
            <a:endParaRPr/>
          </a:p>
          <a:p>
            <a:pPr indent="-285750" lvl="1" marL="742950" rtl="0" algn="just">
              <a:spcBef>
                <a:spcPts val="480"/>
              </a:spcBef>
              <a:spcAft>
                <a:spcPts val="0"/>
              </a:spcAft>
              <a:buClr>
                <a:schemeClr val="dk1"/>
              </a:buClr>
              <a:buSzPts val="2400"/>
              <a:buChar char="–"/>
            </a:pPr>
            <a:r>
              <a:rPr lang="en-US" sz="2400"/>
              <a:t>Only load in some of the pieces of each process</a:t>
            </a:r>
            <a:endParaRPr/>
          </a:p>
          <a:p>
            <a:pPr indent="-285750" lvl="1" marL="742950" rtl="0" algn="just">
              <a:spcBef>
                <a:spcPts val="480"/>
              </a:spcBef>
              <a:spcAft>
                <a:spcPts val="0"/>
              </a:spcAft>
              <a:buClr>
                <a:schemeClr val="dk1"/>
              </a:buClr>
              <a:buSzPts val="2400"/>
              <a:buChar char="–"/>
            </a:pPr>
            <a:r>
              <a:rPr lang="en-US" sz="2400"/>
              <a:t>With so many processes in main memory, it is very likely a process will be in the Ready state at any particular time</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A </a:t>
            </a:r>
            <a:r>
              <a:rPr lang="en-US" sz="2400">
                <a:solidFill>
                  <a:schemeClr val="accent1"/>
                </a:solidFill>
              </a:rPr>
              <a:t>process</a:t>
            </a:r>
            <a:r>
              <a:rPr lang="en-US" sz="2400"/>
              <a:t> may be </a:t>
            </a:r>
            <a:r>
              <a:rPr lang="en-US" sz="2400">
                <a:solidFill>
                  <a:schemeClr val="accent1"/>
                </a:solidFill>
              </a:rPr>
              <a:t>larger than </a:t>
            </a:r>
            <a:r>
              <a:rPr lang="en-US" sz="2400"/>
              <a:t>all of </a:t>
            </a:r>
            <a:r>
              <a:rPr lang="en-US" sz="2400">
                <a:solidFill>
                  <a:schemeClr val="accent1"/>
                </a:solidFill>
              </a:rPr>
              <a:t>main memory</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Real and </a:t>
            </a:r>
            <a:br>
              <a:rPr lang="en-US"/>
            </a:br>
            <a:r>
              <a:rPr lang="en-US"/>
              <a:t>Virtual Memory</a:t>
            </a:r>
            <a:endParaRPr/>
          </a:p>
        </p:txBody>
      </p:sp>
      <p:sp>
        <p:nvSpPr>
          <p:cNvPr id="220" name="Google Shape;220;p9"/>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b="1" lang="en-US" sz="2400">
                <a:solidFill>
                  <a:schemeClr val="accent1"/>
                </a:solidFill>
              </a:rPr>
              <a:t>Real memory</a:t>
            </a:r>
            <a:endParaRPr/>
          </a:p>
          <a:p>
            <a:pPr indent="-285750" lvl="1" marL="742950" rtl="0" algn="just">
              <a:spcBef>
                <a:spcPts val="480"/>
              </a:spcBef>
              <a:spcAft>
                <a:spcPts val="0"/>
              </a:spcAft>
              <a:buClr>
                <a:schemeClr val="dk1"/>
              </a:buClr>
              <a:buSzPts val="2400"/>
              <a:buChar char="–"/>
            </a:pPr>
            <a:r>
              <a:rPr lang="en-US" sz="2400"/>
              <a:t>Main memory, the actual RAM</a:t>
            </a:r>
            <a:endParaRPr/>
          </a:p>
          <a:p>
            <a:pPr indent="-285750" lvl="1" marL="742950" rtl="0" algn="just">
              <a:spcBef>
                <a:spcPts val="480"/>
              </a:spcBef>
              <a:spcAft>
                <a:spcPts val="0"/>
              </a:spcAft>
              <a:buClr>
                <a:schemeClr val="dk1"/>
              </a:buClr>
              <a:buSzPts val="2400"/>
              <a:buChar char="–"/>
            </a:pPr>
            <a:r>
              <a:rPr lang="en-US" sz="2400"/>
              <a:t>Process executes only in main memory</a:t>
            </a:r>
            <a:endParaRPr/>
          </a:p>
          <a:p>
            <a:pPr indent="-133350" lvl="1" marL="74295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accent1"/>
              </a:buClr>
              <a:buSzPts val="2400"/>
              <a:buChar char="•"/>
            </a:pPr>
            <a:r>
              <a:rPr b="1" lang="en-US" sz="2400">
                <a:solidFill>
                  <a:schemeClr val="accent1"/>
                </a:solidFill>
              </a:rPr>
              <a:t>Virtual memory</a:t>
            </a:r>
            <a:endParaRPr/>
          </a:p>
          <a:p>
            <a:pPr indent="-285750" lvl="1" marL="742950" rtl="0" algn="just">
              <a:spcBef>
                <a:spcPts val="480"/>
              </a:spcBef>
              <a:spcAft>
                <a:spcPts val="0"/>
              </a:spcAft>
              <a:buClr>
                <a:schemeClr val="dk1"/>
              </a:buClr>
              <a:buSzPts val="2400"/>
              <a:buChar char="–"/>
            </a:pPr>
            <a:r>
              <a:rPr lang="en-US" sz="2400"/>
              <a:t>Memory on disk</a:t>
            </a:r>
            <a:endParaRPr/>
          </a:p>
          <a:p>
            <a:pPr indent="-285750" lvl="1" marL="742950" rtl="0" algn="just">
              <a:spcBef>
                <a:spcPts val="480"/>
              </a:spcBef>
              <a:spcAft>
                <a:spcPts val="0"/>
              </a:spcAft>
              <a:buClr>
                <a:schemeClr val="dk1"/>
              </a:buClr>
              <a:buSzPts val="2400"/>
              <a:buChar char="–"/>
            </a:pPr>
            <a:r>
              <a:rPr lang="en-US" sz="2400"/>
              <a:t>Allows for effective multiprogramming </a:t>
            </a:r>
            <a:endParaRPr/>
          </a:p>
          <a:p>
            <a:pPr indent="-285750" lvl="1" marL="742950" rtl="0" algn="just">
              <a:spcBef>
                <a:spcPts val="480"/>
              </a:spcBef>
              <a:spcAft>
                <a:spcPts val="0"/>
              </a:spcAft>
              <a:buClr>
                <a:schemeClr val="dk1"/>
              </a:buClr>
              <a:buSzPts val="2400"/>
              <a:buChar char="–"/>
            </a:pPr>
            <a:r>
              <a:rPr lang="en-US" sz="2400"/>
              <a:t>Relieves the user of tight constraints of main memory</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Locality and Virtual Memory</a:t>
            </a:r>
            <a:endParaRPr/>
          </a:p>
        </p:txBody>
      </p:sp>
      <p:sp>
        <p:nvSpPr>
          <p:cNvPr id="226" name="Google Shape;226;p10"/>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Consider a </a:t>
            </a:r>
            <a:r>
              <a:rPr lang="en-US" sz="2400">
                <a:solidFill>
                  <a:schemeClr val="accent1"/>
                </a:solidFill>
              </a:rPr>
              <a:t>very large process</a:t>
            </a:r>
            <a:r>
              <a:rPr lang="en-US" sz="2400"/>
              <a:t>, with long program and large amount of data</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During a </a:t>
            </a:r>
            <a:r>
              <a:rPr lang="en-US" sz="2400">
                <a:solidFill>
                  <a:schemeClr val="accent1"/>
                </a:solidFill>
              </a:rPr>
              <a:t>small period </a:t>
            </a:r>
            <a:r>
              <a:rPr lang="en-US" sz="2400"/>
              <a:t>of time, a </a:t>
            </a:r>
            <a:r>
              <a:rPr lang="en-US" sz="2400">
                <a:solidFill>
                  <a:schemeClr val="accent1"/>
                </a:solidFill>
              </a:rPr>
              <a:t>small section </a:t>
            </a:r>
            <a:r>
              <a:rPr lang="en-US" sz="2400"/>
              <a:t>of </a:t>
            </a:r>
            <a:r>
              <a:rPr lang="en-US" sz="2400">
                <a:solidFill>
                  <a:schemeClr val="accent1"/>
                </a:solidFill>
              </a:rPr>
              <a:t>program</a:t>
            </a:r>
            <a:r>
              <a:rPr lang="en-US" sz="2400"/>
              <a:t> and some </a:t>
            </a:r>
            <a:r>
              <a:rPr lang="en-US" sz="2400">
                <a:solidFill>
                  <a:schemeClr val="accent1"/>
                </a:solidFill>
              </a:rPr>
              <a:t>set of data </a:t>
            </a:r>
            <a:r>
              <a:rPr lang="en-US" sz="2400"/>
              <a:t>are accessed</a:t>
            </a:r>
            <a:endParaRPr/>
          </a:p>
          <a:p>
            <a:pPr indent="-342900" lvl="0" marL="342900" rtl="0" algn="just">
              <a:spcBef>
                <a:spcPts val="480"/>
              </a:spcBef>
              <a:spcAft>
                <a:spcPts val="0"/>
              </a:spcAft>
              <a:buClr>
                <a:schemeClr val="dk1"/>
              </a:buClr>
              <a:buSzPts val="2400"/>
              <a:buChar char="•"/>
            </a:pPr>
            <a:r>
              <a:rPr lang="en-US" sz="2400"/>
              <a:t>Hence it is </a:t>
            </a:r>
            <a:r>
              <a:rPr lang="en-US" sz="2400">
                <a:solidFill>
                  <a:schemeClr val="accent1"/>
                </a:solidFill>
              </a:rPr>
              <a:t>wasteful</a:t>
            </a:r>
            <a:r>
              <a:rPr lang="en-US" sz="2400"/>
              <a:t> to load </a:t>
            </a:r>
            <a:r>
              <a:rPr lang="en-US" sz="2400">
                <a:solidFill>
                  <a:schemeClr val="accent1"/>
                </a:solidFill>
              </a:rPr>
              <a:t>entire process </a:t>
            </a:r>
            <a:r>
              <a:rPr lang="en-US" sz="2400"/>
              <a:t>when only some part is going to be used before the process is </a:t>
            </a:r>
            <a:r>
              <a:rPr lang="en-US" sz="2400">
                <a:solidFill>
                  <a:schemeClr val="accent1"/>
                </a:solidFill>
              </a:rPr>
              <a:t>swapped out</a:t>
            </a:r>
            <a:endParaRPr/>
          </a:p>
          <a:p>
            <a:pPr indent="-342900" lvl="0" marL="342900" rtl="0" algn="just">
              <a:spcBef>
                <a:spcPts val="480"/>
              </a:spcBef>
              <a:spcAft>
                <a:spcPts val="0"/>
              </a:spcAft>
              <a:buClr>
                <a:schemeClr val="dk1"/>
              </a:buClr>
              <a:buSzPts val="2400"/>
              <a:buChar char="•"/>
            </a:pPr>
            <a:r>
              <a:rPr lang="en-US" sz="2400"/>
              <a:t>When </a:t>
            </a:r>
            <a:r>
              <a:rPr lang="en-US" sz="2400">
                <a:solidFill>
                  <a:schemeClr val="accent1"/>
                </a:solidFill>
              </a:rPr>
              <a:t>branching</a:t>
            </a:r>
            <a:r>
              <a:rPr lang="en-US" sz="2400"/>
              <a:t> occurs, </a:t>
            </a:r>
            <a:r>
              <a:rPr lang="en-US" sz="2400">
                <a:solidFill>
                  <a:schemeClr val="accent1"/>
                </a:solidFill>
              </a:rPr>
              <a:t>fault</a:t>
            </a:r>
            <a:r>
              <a:rPr lang="en-US" sz="2400"/>
              <a:t> is triggered</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Locality and Virtual Memory</a:t>
            </a:r>
            <a:endParaRPr/>
          </a:p>
        </p:txBody>
      </p:sp>
      <p:sp>
        <p:nvSpPr>
          <p:cNvPr id="232" name="Google Shape;232;p11"/>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b="1" lang="en-US" sz="2400">
                <a:solidFill>
                  <a:schemeClr val="accent1"/>
                </a:solidFill>
              </a:rPr>
              <a:t>Advantages of given approach:</a:t>
            </a:r>
            <a:endParaRPr/>
          </a:p>
          <a:p>
            <a:pPr indent="-285750" lvl="1" marL="742950" rtl="0" algn="just">
              <a:spcBef>
                <a:spcPts val="480"/>
              </a:spcBef>
              <a:spcAft>
                <a:spcPts val="0"/>
              </a:spcAft>
              <a:buClr>
                <a:schemeClr val="dk1"/>
              </a:buClr>
              <a:buSzPts val="2400"/>
              <a:buChar char="–"/>
            </a:pPr>
            <a:r>
              <a:rPr lang="en-US" sz="2400"/>
              <a:t>More processes maintained in main memory</a:t>
            </a:r>
            <a:endParaRPr/>
          </a:p>
          <a:p>
            <a:pPr indent="-285750" lvl="1" marL="742950" rtl="0" algn="just">
              <a:spcBef>
                <a:spcPts val="480"/>
              </a:spcBef>
              <a:spcAft>
                <a:spcPts val="0"/>
              </a:spcAft>
              <a:buClr>
                <a:schemeClr val="dk1"/>
              </a:buClr>
              <a:buSzPts val="2400"/>
              <a:buChar char="–"/>
            </a:pPr>
            <a:r>
              <a:rPr lang="en-US" sz="2400"/>
              <a:t>Loading a few pieces will save time</a:t>
            </a:r>
            <a:endParaRPr/>
          </a:p>
          <a:p>
            <a:pPr indent="-133350" lvl="1" marL="74295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accent1"/>
              </a:buClr>
              <a:buSzPts val="2400"/>
              <a:buChar char="•"/>
            </a:pPr>
            <a:r>
              <a:rPr b="1" lang="en-US" sz="2400">
                <a:solidFill>
                  <a:schemeClr val="accent1"/>
                </a:solidFill>
              </a:rPr>
              <a:t>Problem??</a:t>
            </a:r>
            <a:endParaRPr/>
          </a:p>
          <a:p>
            <a:pPr indent="-285750" lvl="1" marL="742950" rtl="0" algn="just">
              <a:spcBef>
                <a:spcPts val="480"/>
              </a:spcBef>
              <a:spcAft>
                <a:spcPts val="0"/>
              </a:spcAft>
              <a:buClr>
                <a:schemeClr val="accent1"/>
              </a:buClr>
              <a:buSzPts val="2400"/>
              <a:buChar char="–"/>
            </a:pPr>
            <a:r>
              <a:rPr lang="en-US" sz="2400">
                <a:solidFill>
                  <a:schemeClr val="accent1"/>
                </a:solidFill>
              </a:rPr>
              <a:t>Thrashing</a:t>
            </a:r>
            <a:endParaRPr/>
          </a:p>
          <a:p>
            <a:pPr indent="-228600" lvl="2" marL="1143000" rtl="0" algn="just">
              <a:spcBef>
                <a:spcPts val="480"/>
              </a:spcBef>
              <a:spcAft>
                <a:spcPts val="0"/>
              </a:spcAft>
              <a:buClr>
                <a:schemeClr val="dk1"/>
              </a:buClr>
              <a:buSzPts val="2400"/>
              <a:buChar char="•"/>
            </a:pPr>
            <a:r>
              <a:rPr lang="en-US"/>
              <a:t>Throw out the piece just before it is required</a:t>
            </a:r>
            <a:endParaRPr/>
          </a:p>
          <a:p>
            <a:pPr indent="-228600" lvl="2" marL="1143000" rtl="0" algn="just">
              <a:spcBef>
                <a:spcPts val="480"/>
              </a:spcBef>
              <a:spcAft>
                <a:spcPts val="0"/>
              </a:spcAft>
              <a:buClr>
                <a:schemeClr val="dk1"/>
              </a:buClr>
              <a:buSzPts val="2400"/>
              <a:buChar char="•"/>
            </a:pPr>
            <a:r>
              <a:rPr lang="en-US"/>
              <a:t>Hence, </a:t>
            </a:r>
            <a:r>
              <a:rPr lang="en-US">
                <a:solidFill>
                  <a:schemeClr val="accent1"/>
                </a:solidFill>
              </a:rPr>
              <a:t>which pages </a:t>
            </a:r>
            <a:r>
              <a:rPr lang="en-US"/>
              <a:t>should be </a:t>
            </a:r>
            <a:r>
              <a:rPr lang="en-US">
                <a:solidFill>
                  <a:schemeClr val="accent1"/>
                </a:solidFill>
              </a:rPr>
              <a:t>replaced</a:t>
            </a:r>
            <a:r>
              <a:rPr lang="en-US"/>
              <a:t> is a concern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Thrashing</a:t>
            </a:r>
            <a:endParaRPr/>
          </a:p>
        </p:txBody>
      </p:sp>
      <p:sp>
        <p:nvSpPr>
          <p:cNvPr id="239" name="Google Shape;239;p12"/>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Font typeface="Arial"/>
              <a:buChar char="•"/>
            </a:pPr>
            <a:r>
              <a:rPr lang="en-US" sz="2400"/>
              <a:t>A </a:t>
            </a:r>
            <a:r>
              <a:rPr lang="en-US" sz="2400">
                <a:solidFill>
                  <a:schemeClr val="accent1"/>
                </a:solidFill>
              </a:rPr>
              <a:t>state</a:t>
            </a:r>
            <a:r>
              <a:rPr lang="en-US" sz="2400"/>
              <a:t> in which the system spends </a:t>
            </a:r>
            <a:r>
              <a:rPr lang="en-US" sz="2400">
                <a:solidFill>
                  <a:schemeClr val="accent1"/>
                </a:solidFill>
              </a:rPr>
              <a:t>most of its time</a:t>
            </a:r>
            <a:r>
              <a:rPr lang="en-US" sz="2400"/>
              <a:t> </a:t>
            </a:r>
            <a:r>
              <a:rPr lang="en-US" sz="2400">
                <a:solidFill>
                  <a:schemeClr val="accent1"/>
                </a:solidFill>
              </a:rPr>
              <a:t>swapping pieces </a:t>
            </a:r>
            <a:r>
              <a:rPr lang="en-US" sz="2400"/>
              <a:t>rather than </a:t>
            </a:r>
            <a:r>
              <a:rPr lang="en-US" sz="2400">
                <a:solidFill>
                  <a:schemeClr val="accent1"/>
                </a:solidFill>
              </a:rPr>
              <a:t>executing instructions.</a:t>
            </a:r>
            <a:endParaRPr/>
          </a:p>
          <a:p>
            <a:pPr indent="-190500" lvl="0" marL="342900" rtl="0" algn="just">
              <a:spcBef>
                <a:spcPts val="480"/>
              </a:spcBef>
              <a:spcAft>
                <a:spcPts val="0"/>
              </a:spcAft>
              <a:buClr>
                <a:schemeClr val="dk1"/>
              </a:buClr>
              <a:buSzPts val="2400"/>
              <a:buFont typeface="Arial"/>
              <a:buNone/>
            </a:pPr>
            <a:r>
              <a:t/>
            </a:r>
            <a:endParaRPr sz="2400">
              <a:solidFill>
                <a:schemeClr val="accent1"/>
              </a:solidFill>
            </a:endParaRPr>
          </a:p>
          <a:p>
            <a:pPr indent="-342900" lvl="1" marL="342900" rtl="0" algn="just">
              <a:spcBef>
                <a:spcPts val="480"/>
              </a:spcBef>
              <a:spcAft>
                <a:spcPts val="0"/>
              </a:spcAft>
              <a:buClr>
                <a:schemeClr val="dk1"/>
              </a:buClr>
              <a:buSzPts val="2400"/>
              <a:buFont typeface="Arial"/>
              <a:buChar char="•"/>
            </a:pPr>
            <a:r>
              <a:rPr lang="en-US" sz="2400"/>
              <a:t>To </a:t>
            </a:r>
            <a:r>
              <a:rPr lang="en-US" sz="2400">
                <a:solidFill>
                  <a:schemeClr val="accent1"/>
                </a:solidFill>
              </a:rPr>
              <a:t>avoid</a:t>
            </a:r>
            <a:r>
              <a:rPr lang="en-US" sz="2400"/>
              <a:t> this, the operating system tries to </a:t>
            </a:r>
            <a:r>
              <a:rPr lang="en-US" sz="2400">
                <a:solidFill>
                  <a:schemeClr val="accent1"/>
                </a:solidFill>
              </a:rPr>
              <a:t>guess </a:t>
            </a:r>
            <a:r>
              <a:rPr lang="en-US" sz="2400"/>
              <a:t>which pieces are </a:t>
            </a:r>
            <a:r>
              <a:rPr lang="en-US" sz="2400">
                <a:solidFill>
                  <a:schemeClr val="accent1"/>
                </a:solidFill>
              </a:rPr>
              <a:t>least likely to be used </a:t>
            </a:r>
            <a:r>
              <a:rPr lang="en-US" sz="2400"/>
              <a:t>in the near future.</a:t>
            </a:r>
            <a:endParaRPr/>
          </a:p>
          <a:p>
            <a:pPr indent="-342900" lvl="2" marL="742950" rtl="0" algn="just">
              <a:spcBef>
                <a:spcPts val="480"/>
              </a:spcBef>
              <a:spcAft>
                <a:spcPts val="0"/>
              </a:spcAft>
              <a:buClr>
                <a:schemeClr val="dk1"/>
              </a:buClr>
              <a:buSzPts val="2400"/>
              <a:buFont typeface="Arial"/>
              <a:buChar char="•"/>
            </a:pPr>
            <a:r>
              <a:rPr lang="en-US"/>
              <a:t>The guess is based on recent history</a:t>
            </a:r>
            <a:endParaRPr/>
          </a:p>
          <a:p>
            <a:pPr indent="-190500" lvl="1" marL="342900" rtl="0" algn="just">
              <a:spcBef>
                <a:spcPts val="480"/>
              </a:spcBef>
              <a:spcAft>
                <a:spcPts val="0"/>
              </a:spcAft>
              <a:buClr>
                <a:schemeClr val="dk1"/>
              </a:buClr>
              <a:buSzPts val="2400"/>
              <a:buFont typeface="Arial"/>
              <a:buNone/>
            </a:pPr>
            <a:r>
              <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Principle of Locality</a:t>
            </a:r>
            <a:endParaRPr/>
          </a:p>
        </p:txBody>
      </p:sp>
      <p:sp>
        <p:nvSpPr>
          <p:cNvPr id="246" name="Google Shape;246;p13"/>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i="1" lang="en-US" sz="2400">
                <a:solidFill>
                  <a:schemeClr val="accent1"/>
                </a:solidFill>
              </a:rPr>
              <a:t>“Program and data references within a process tend to cluster”</a:t>
            </a:r>
            <a:endParaRPr/>
          </a:p>
          <a:p>
            <a:pPr indent="-342900" lvl="0" marL="342900" rtl="0" algn="just">
              <a:spcBef>
                <a:spcPts val="480"/>
              </a:spcBef>
              <a:spcAft>
                <a:spcPts val="0"/>
              </a:spcAft>
              <a:buClr>
                <a:schemeClr val="dk1"/>
              </a:buClr>
              <a:buSzPts val="2400"/>
              <a:buChar char="•"/>
            </a:pPr>
            <a:r>
              <a:rPr lang="en-US" sz="2400"/>
              <a:t>Only a few pieces of a process will be needed over a short period of time</a:t>
            </a:r>
            <a:endParaRPr/>
          </a:p>
          <a:p>
            <a:pPr indent="-342900" lvl="0" marL="342900" rtl="0" algn="just">
              <a:spcBef>
                <a:spcPts val="480"/>
              </a:spcBef>
              <a:spcAft>
                <a:spcPts val="0"/>
              </a:spcAft>
              <a:buClr>
                <a:schemeClr val="dk1"/>
              </a:buClr>
              <a:buSzPts val="2400"/>
              <a:buChar char="•"/>
            </a:pPr>
            <a:r>
              <a:rPr lang="en-US" sz="2400"/>
              <a:t>Therefore it is possible to make intelligent guesses about which pieces will be needed in the future</a:t>
            </a:r>
            <a:endParaRPr/>
          </a:p>
          <a:p>
            <a:pPr indent="-342900" lvl="0" marL="342900" rtl="0" algn="just">
              <a:spcBef>
                <a:spcPts val="480"/>
              </a:spcBef>
              <a:spcAft>
                <a:spcPts val="0"/>
              </a:spcAft>
              <a:buClr>
                <a:schemeClr val="dk1"/>
              </a:buClr>
              <a:buSzPts val="2400"/>
              <a:buChar char="•"/>
            </a:pPr>
            <a:r>
              <a:rPr lang="en-US" sz="2400"/>
              <a:t>This suggests that virtual memory may work efficiently</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Support Needed for </a:t>
            </a:r>
            <a:br>
              <a:rPr lang="en-US"/>
            </a:br>
            <a:r>
              <a:rPr lang="en-US"/>
              <a:t>Virtual Memory</a:t>
            </a:r>
            <a:endParaRPr/>
          </a:p>
        </p:txBody>
      </p:sp>
      <p:sp>
        <p:nvSpPr>
          <p:cNvPr id="253" name="Google Shape;253;p14"/>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lang="en-US" sz="2400">
                <a:solidFill>
                  <a:schemeClr val="accent1"/>
                </a:solidFill>
              </a:rPr>
              <a:t>Hardware</a:t>
            </a:r>
            <a:r>
              <a:rPr lang="en-US" sz="2400"/>
              <a:t> must support paging and segmentation </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accent1"/>
              </a:buClr>
              <a:buSzPts val="2400"/>
              <a:buChar char="•"/>
            </a:pPr>
            <a:r>
              <a:rPr lang="en-US" sz="2400">
                <a:solidFill>
                  <a:schemeClr val="accent1"/>
                </a:solidFill>
              </a:rPr>
              <a:t>Operating system </a:t>
            </a:r>
            <a:r>
              <a:rPr lang="en-US" sz="2400"/>
              <a:t>must be able to manage the movement of pages and/or segments between secondary memory and main memory</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Paging for VM</a:t>
            </a:r>
            <a:endParaRPr/>
          </a:p>
        </p:txBody>
      </p:sp>
      <p:sp>
        <p:nvSpPr>
          <p:cNvPr id="260" name="Google Shape;260;p15"/>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Each </a:t>
            </a:r>
            <a:r>
              <a:rPr lang="en-US" sz="2400">
                <a:solidFill>
                  <a:schemeClr val="accent1"/>
                </a:solidFill>
              </a:rPr>
              <a:t>process</a:t>
            </a:r>
            <a:r>
              <a:rPr lang="en-US" sz="2400"/>
              <a:t> has its </a:t>
            </a:r>
            <a:r>
              <a:rPr lang="en-US" sz="2400">
                <a:solidFill>
                  <a:schemeClr val="accent1"/>
                </a:solidFill>
              </a:rPr>
              <a:t>own page table</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Each </a:t>
            </a:r>
            <a:r>
              <a:rPr lang="en-US" sz="2400">
                <a:solidFill>
                  <a:schemeClr val="accent1"/>
                </a:solidFill>
              </a:rPr>
              <a:t>page table entry </a:t>
            </a:r>
            <a:r>
              <a:rPr lang="en-US" sz="2400"/>
              <a:t>contains the frame number of the corresponding page in main memory</a:t>
            </a:r>
            <a:endParaRPr/>
          </a:p>
          <a:p>
            <a:pPr indent="-190500" lvl="0" marL="342900" rtl="0" algn="just">
              <a:spcBef>
                <a:spcPts val="480"/>
              </a:spcBef>
              <a:spcAft>
                <a:spcPts val="0"/>
              </a:spcAft>
              <a:buClr>
                <a:schemeClr val="dk1"/>
              </a:buClr>
              <a:buSzPts val="2400"/>
              <a:buNone/>
            </a:pPr>
            <a:r>
              <a:t/>
            </a:r>
            <a:endParaRPr sz="2400">
              <a:solidFill>
                <a:schemeClr val="accent1"/>
              </a:solidFill>
            </a:endParaRPr>
          </a:p>
          <a:p>
            <a:pPr indent="-342900" lvl="0" marL="342900" rtl="0" algn="just">
              <a:spcBef>
                <a:spcPts val="480"/>
              </a:spcBef>
              <a:spcAft>
                <a:spcPts val="0"/>
              </a:spcAft>
              <a:buClr>
                <a:schemeClr val="accent1"/>
              </a:buClr>
              <a:buSzPts val="2400"/>
              <a:buChar char="•"/>
            </a:pPr>
            <a:r>
              <a:rPr lang="en-US" sz="2400">
                <a:solidFill>
                  <a:schemeClr val="accent1"/>
                </a:solidFill>
              </a:rPr>
              <a:t>Two extra bits </a:t>
            </a:r>
            <a:r>
              <a:rPr lang="en-US" sz="2400"/>
              <a:t>are needed to indicate:</a:t>
            </a:r>
            <a:endParaRPr/>
          </a:p>
          <a:p>
            <a:pPr indent="-285750" lvl="1" marL="742950" rtl="0" algn="just">
              <a:spcBef>
                <a:spcPts val="480"/>
              </a:spcBef>
              <a:spcAft>
                <a:spcPts val="0"/>
              </a:spcAft>
              <a:buClr>
                <a:schemeClr val="dk1"/>
              </a:buClr>
              <a:buSzPts val="2400"/>
              <a:buChar char="–"/>
            </a:pPr>
            <a:r>
              <a:rPr lang="en-US" sz="2400"/>
              <a:t>Whether the </a:t>
            </a:r>
            <a:r>
              <a:rPr lang="en-US" sz="2400">
                <a:solidFill>
                  <a:schemeClr val="accent1"/>
                </a:solidFill>
              </a:rPr>
              <a:t>page</a:t>
            </a:r>
            <a:r>
              <a:rPr lang="en-US" sz="2400"/>
              <a:t> is </a:t>
            </a:r>
            <a:r>
              <a:rPr lang="en-US" sz="2400">
                <a:solidFill>
                  <a:schemeClr val="accent1"/>
                </a:solidFill>
              </a:rPr>
              <a:t>in main memory or not</a:t>
            </a:r>
            <a:endParaRPr/>
          </a:p>
          <a:p>
            <a:pPr indent="-285750" lvl="1" marL="742950" rtl="0" algn="just">
              <a:spcBef>
                <a:spcPts val="480"/>
              </a:spcBef>
              <a:spcAft>
                <a:spcPts val="0"/>
              </a:spcAft>
              <a:buClr>
                <a:schemeClr val="dk1"/>
              </a:buClr>
              <a:buSzPts val="2400"/>
              <a:buChar char="–"/>
            </a:pPr>
            <a:r>
              <a:rPr lang="en-US" sz="2400"/>
              <a:t>Whether the </a:t>
            </a:r>
            <a:r>
              <a:rPr lang="en-US" sz="2400">
                <a:solidFill>
                  <a:schemeClr val="accent1"/>
                </a:solidFill>
              </a:rPr>
              <a:t>contents</a:t>
            </a:r>
            <a:r>
              <a:rPr lang="en-US" sz="2400"/>
              <a:t> of the page has been </a:t>
            </a:r>
            <a:r>
              <a:rPr lang="en-US" sz="2400">
                <a:solidFill>
                  <a:schemeClr val="accent1"/>
                </a:solidFill>
              </a:rPr>
              <a:t>altered</a:t>
            </a:r>
            <a:r>
              <a:rPr lang="en-US" sz="2400"/>
              <a:t> since it was last loaded</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Paging Table</a:t>
            </a:r>
            <a:endParaRPr/>
          </a:p>
        </p:txBody>
      </p:sp>
      <p:pic>
        <p:nvPicPr>
          <p:cNvPr descr="Fig08_02a.gif" id="267" name="Google Shape;267;p16"/>
          <p:cNvPicPr preferRelativeResize="0"/>
          <p:nvPr>
            <p:ph idx="1" type="body"/>
          </p:nvPr>
        </p:nvPicPr>
        <p:blipFill rotWithShape="1">
          <a:blip r:embed="rId3">
            <a:alphaModFix/>
          </a:blip>
          <a:srcRect b="0" l="0" r="0" t="0"/>
          <a:stretch/>
        </p:blipFill>
        <p:spPr>
          <a:xfrm>
            <a:off x="914400" y="1524000"/>
            <a:ext cx="7239000" cy="4001458"/>
          </a:xfrm>
          <a:prstGeom prst="rect">
            <a:avLst/>
          </a:prstGeom>
          <a:noFill/>
          <a:ln>
            <a:noFill/>
          </a:ln>
        </p:spPr>
      </p:pic>
      <p:sp>
        <p:nvSpPr>
          <p:cNvPr id="268" name="Google Shape;268;p16"/>
          <p:cNvSpPr txBox="1"/>
          <p:nvPr/>
        </p:nvSpPr>
        <p:spPr>
          <a:xfrm>
            <a:off x="1066800" y="5410200"/>
            <a:ext cx="72390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Control Bits include bits for protection and sharing</a:t>
            </a:r>
            <a:endParaRPr sz="240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Address Translation</a:t>
            </a:r>
            <a:endParaRPr/>
          </a:p>
        </p:txBody>
      </p:sp>
      <p:sp>
        <p:nvSpPr>
          <p:cNvPr id="274" name="Google Shape;274;p17"/>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lang="en-US" sz="2400">
                <a:solidFill>
                  <a:schemeClr val="accent1"/>
                </a:solidFill>
              </a:rPr>
              <a:t>Page table </a:t>
            </a:r>
            <a:r>
              <a:rPr lang="en-US" sz="2400"/>
              <a:t>is usually </a:t>
            </a:r>
            <a:r>
              <a:rPr lang="en-US" sz="2400">
                <a:solidFill>
                  <a:schemeClr val="accent1"/>
                </a:solidFill>
              </a:rPr>
              <a:t>large in size</a:t>
            </a:r>
            <a:r>
              <a:rPr lang="en-US" sz="2400"/>
              <a:t>, hence it can’t be kept in registers, so it is kept </a:t>
            </a:r>
            <a:r>
              <a:rPr lang="en-US" sz="2400">
                <a:solidFill>
                  <a:schemeClr val="accent1"/>
                </a:solidFill>
              </a:rPr>
              <a:t>in main memory</a:t>
            </a:r>
            <a:endParaRPr/>
          </a:p>
          <a:p>
            <a:pPr indent="-190500" lvl="0" marL="342900" rtl="0" algn="just">
              <a:spcBef>
                <a:spcPts val="480"/>
              </a:spcBef>
              <a:spcAft>
                <a:spcPts val="0"/>
              </a:spcAft>
              <a:buClr>
                <a:schemeClr val="dk1"/>
              </a:buClr>
              <a:buSzPts val="2400"/>
              <a:buNone/>
            </a:pPr>
            <a:r>
              <a:t/>
            </a:r>
            <a:endParaRPr b="1" sz="2400" u="sng">
              <a:solidFill>
                <a:schemeClr val="accent1"/>
              </a:solidFill>
            </a:endParaRPr>
          </a:p>
          <a:p>
            <a:pPr indent="-342900" lvl="0" marL="342900" rtl="0" algn="just">
              <a:spcBef>
                <a:spcPts val="480"/>
              </a:spcBef>
              <a:spcAft>
                <a:spcPts val="0"/>
              </a:spcAft>
              <a:buClr>
                <a:schemeClr val="accent1"/>
              </a:buClr>
              <a:buSzPts val="2400"/>
              <a:buChar char="•"/>
            </a:pPr>
            <a:r>
              <a:rPr b="1" lang="en-US" sz="2400" u="sng">
                <a:solidFill>
                  <a:schemeClr val="accent1"/>
                </a:solidFill>
              </a:rPr>
              <a:t>Steps:</a:t>
            </a:r>
            <a:endParaRPr/>
          </a:p>
          <a:p>
            <a:pPr indent="-285750" lvl="1" marL="742950" rtl="0" algn="just">
              <a:spcBef>
                <a:spcPts val="480"/>
              </a:spcBef>
              <a:spcAft>
                <a:spcPts val="0"/>
              </a:spcAft>
              <a:buClr>
                <a:schemeClr val="dk1"/>
              </a:buClr>
              <a:buSzPts val="2400"/>
              <a:buChar char="–"/>
            </a:pPr>
            <a:r>
              <a:rPr lang="en-US" sz="2400"/>
              <a:t>A </a:t>
            </a:r>
            <a:r>
              <a:rPr lang="en-US" sz="2400">
                <a:solidFill>
                  <a:schemeClr val="accent1"/>
                </a:solidFill>
              </a:rPr>
              <a:t>register</a:t>
            </a:r>
            <a:r>
              <a:rPr lang="en-US" sz="2400"/>
              <a:t> holds </a:t>
            </a:r>
            <a:r>
              <a:rPr lang="en-US" sz="2400">
                <a:solidFill>
                  <a:schemeClr val="accent1"/>
                </a:solidFill>
              </a:rPr>
              <a:t>starting address </a:t>
            </a:r>
            <a:r>
              <a:rPr lang="en-US" sz="2400"/>
              <a:t>of page table for running process</a:t>
            </a:r>
            <a:endParaRPr/>
          </a:p>
          <a:p>
            <a:pPr indent="-285750" lvl="1" marL="742950" rtl="0" algn="just">
              <a:spcBef>
                <a:spcPts val="480"/>
              </a:spcBef>
              <a:spcAft>
                <a:spcPts val="0"/>
              </a:spcAft>
              <a:buClr>
                <a:schemeClr val="accent1"/>
              </a:buClr>
              <a:buSzPts val="2400"/>
              <a:buChar char="–"/>
            </a:pPr>
            <a:r>
              <a:rPr lang="en-US" sz="2400">
                <a:solidFill>
                  <a:schemeClr val="accent1"/>
                </a:solidFill>
              </a:rPr>
              <a:t>Page number </a:t>
            </a:r>
            <a:r>
              <a:rPr lang="en-US" sz="2400"/>
              <a:t>field of virtual address is used as an </a:t>
            </a:r>
            <a:r>
              <a:rPr lang="en-US" sz="2400">
                <a:solidFill>
                  <a:schemeClr val="accent1"/>
                </a:solidFill>
              </a:rPr>
              <a:t>index</a:t>
            </a:r>
            <a:r>
              <a:rPr lang="en-US" sz="2400"/>
              <a:t> to find </a:t>
            </a:r>
            <a:r>
              <a:rPr lang="en-US" sz="2400">
                <a:solidFill>
                  <a:schemeClr val="accent1"/>
                </a:solidFill>
              </a:rPr>
              <a:t>frame number </a:t>
            </a:r>
            <a:r>
              <a:rPr lang="en-US" sz="2400"/>
              <a:t>from process page table</a:t>
            </a:r>
            <a:endParaRPr/>
          </a:p>
          <a:p>
            <a:pPr indent="-285750" lvl="1" marL="742950" rtl="0" algn="just">
              <a:spcBef>
                <a:spcPts val="480"/>
              </a:spcBef>
              <a:spcAft>
                <a:spcPts val="0"/>
              </a:spcAft>
              <a:buClr>
                <a:schemeClr val="accent1"/>
              </a:buClr>
              <a:buSzPts val="2400"/>
              <a:buChar char="–"/>
            </a:pPr>
            <a:r>
              <a:rPr lang="en-US" sz="2400">
                <a:solidFill>
                  <a:schemeClr val="accent1"/>
                </a:solidFill>
              </a:rPr>
              <a:t>Frame number </a:t>
            </a:r>
            <a:r>
              <a:rPr lang="en-US" sz="2400"/>
              <a:t>is combined with </a:t>
            </a:r>
            <a:r>
              <a:rPr lang="en-US" sz="2400">
                <a:solidFill>
                  <a:schemeClr val="accent1"/>
                </a:solidFill>
              </a:rPr>
              <a:t>offset</a:t>
            </a:r>
            <a:r>
              <a:rPr lang="en-US" sz="2400"/>
              <a:t> to get the real address</a:t>
            </a:r>
            <a:endParaRPr sz="2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Address Translation</a:t>
            </a:r>
            <a:endParaRPr/>
          </a:p>
        </p:txBody>
      </p:sp>
      <p:pic>
        <p:nvPicPr>
          <p:cNvPr descr="Fig08_03.gif" id="281" name="Google Shape;281;p18"/>
          <p:cNvPicPr preferRelativeResize="0"/>
          <p:nvPr>
            <p:ph idx="1" type="body"/>
          </p:nvPr>
        </p:nvPicPr>
        <p:blipFill rotWithShape="1">
          <a:blip r:embed="rId3">
            <a:alphaModFix/>
          </a:blip>
          <a:srcRect b="0" l="0" r="0" t="0"/>
          <a:stretch/>
        </p:blipFill>
        <p:spPr>
          <a:xfrm>
            <a:off x="1066800" y="1066799"/>
            <a:ext cx="7541202" cy="562394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Large Page Tables</a:t>
            </a:r>
            <a:endParaRPr/>
          </a:p>
        </p:txBody>
      </p:sp>
      <p:sp>
        <p:nvSpPr>
          <p:cNvPr id="288" name="Google Shape;288;p19"/>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A </a:t>
            </a:r>
            <a:r>
              <a:rPr lang="en-US" sz="2400">
                <a:solidFill>
                  <a:schemeClr val="accent1"/>
                </a:solidFill>
              </a:rPr>
              <a:t>process</a:t>
            </a:r>
            <a:r>
              <a:rPr lang="en-US" sz="2400"/>
              <a:t> can occupy </a:t>
            </a:r>
            <a:r>
              <a:rPr lang="en-US" sz="2400">
                <a:solidFill>
                  <a:schemeClr val="accent1"/>
                </a:solidFill>
              </a:rPr>
              <a:t>huge amount </a:t>
            </a:r>
            <a:r>
              <a:rPr lang="en-US" sz="2400"/>
              <a:t>of virtual memory</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E.g. Consider an architecture with </a:t>
            </a:r>
            <a:r>
              <a:rPr lang="en-US" sz="2400">
                <a:solidFill>
                  <a:schemeClr val="accent1"/>
                </a:solidFill>
              </a:rPr>
              <a:t>2 GB </a:t>
            </a:r>
            <a:r>
              <a:rPr lang="en-US" sz="2400"/>
              <a:t>virtual memory per process, with page size of </a:t>
            </a:r>
            <a:r>
              <a:rPr lang="en-US" sz="2400">
                <a:solidFill>
                  <a:schemeClr val="accent1"/>
                </a:solidFill>
              </a:rPr>
              <a:t>512 bytes</a:t>
            </a:r>
            <a:endParaRPr/>
          </a:p>
          <a:p>
            <a:pPr indent="-285750" lvl="1" marL="742950" rtl="0" algn="just">
              <a:spcBef>
                <a:spcPts val="480"/>
              </a:spcBef>
              <a:spcAft>
                <a:spcPts val="0"/>
              </a:spcAft>
              <a:buClr>
                <a:schemeClr val="dk1"/>
              </a:buClr>
              <a:buSzPts val="2400"/>
              <a:buChar char="–"/>
            </a:pPr>
            <a:r>
              <a:rPr lang="en-US" sz="2400"/>
              <a:t>Page table entries: </a:t>
            </a:r>
            <a:r>
              <a:rPr lang="en-US" sz="2400">
                <a:solidFill>
                  <a:schemeClr val="accent1"/>
                </a:solidFill>
              </a:rPr>
              <a:t>2^22 (per process!!) </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Hence page tables are also stored in virtual memory</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When a process is running, part of its page table is in main memory</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Two level Scheme</a:t>
            </a:r>
            <a:endParaRPr/>
          </a:p>
        </p:txBody>
      </p:sp>
      <p:sp>
        <p:nvSpPr>
          <p:cNvPr id="295" name="Google Shape;295;p20"/>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To maintain page tables properly, a </a:t>
            </a:r>
            <a:r>
              <a:rPr lang="en-US" sz="2400">
                <a:solidFill>
                  <a:schemeClr val="accent1"/>
                </a:solidFill>
              </a:rPr>
              <a:t>page directory</a:t>
            </a:r>
            <a:r>
              <a:rPr lang="en-US" sz="2400"/>
              <a:t> kind of structure can be used</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Page directory can contain </a:t>
            </a:r>
            <a:r>
              <a:rPr lang="en-US" sz="2400">
                <a:solidFill>
                  <a:schemeClr val="accent1"/>
                </a:solidFill>
              </a:rPr>
              <a:t>X records</a:t>
            </a:r>
            <a:endParaRPr/>
          </a:p>
          <a:p>
            <a:pPr indent="-285750" lvl="1" marL="742950" rtl="0" algn="just">
              <a:spcBef>
                <a:spcPts val="480"/>
              </a:spcBef>
              <a:spcAft>
                <a:spcPts val="0"/>
              </a:spcAft>
              <a:buClr>
                <a:schemeClr val="dk1"/>
              </a:buClr>
              <a:buSzPts val="2400"/>
              <a:buChar char="–"/>
            </a:pPr>
            <a:r>
              <a:rPr lang="en-US" sz="2400"/>
              <a:t>Each record points to a page table</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Length of page directory : </a:t>
            </a:r>
            <a:r>
              <a:rPr lang="en-US" sz="2400">
                <a:solidFill>
                  <a:schemeClr val="accent1"/>
                </a:solidFill>
              </a:rPr>
              <a:t>X</a:t>
            </a:r>
            <a:endParaRPr/>
          </a:p>
          <a:p>
            <a:pPr indent="-342900" lvl="0" marL="342900" rtl="0" algn="just">
              <a:spcBef>
                <a:spcPts val="480"/>
              </a:spcBef>
              <a:spcAft>
                <a:spcPts val="0"/>
              </a:spcAft>
              <a:buClr>
                <a:schemeClr val="dk1"/>
              </a:buClr>
              <a:buSzPts val="2400"/>
              <a:buChar char="•"/>
            </a:pPr>
            <a:r>
              <a:rPr lang="en-US" sz="2400"/>
              <a:t>Length of page table:</a:t>
            </a:r>
            <a:r>
              <a:rPr lang="en-US" sz="2400">
                <a:solidFill>
                  <a:schemeClr val="accent1"/>
                </a:solidFill>
              </a:rPr>
              <a:t> Y</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A process can contain </a:t>
            </a:r>
            <a:r>
              <a:rPr lang="en-US" sz="2400">
                <a:solidFill>
                  <a:schemeClr val="accent1"/>
                </a:solidFill>
              </a:rPr>
              <a:t>X * Y </a:t>
            </a:r>
            <a:r>
              <a:rPr lang="en-US" sz="2400"/>
              <a:t>pages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Two-Level </a:t>
            </a:r>
            <a:br>
              <a:rPr lang="en-US"/>
            </a:br>
            <a:r>
              <a:rPr lang="en-US"/>
              <a:t>Hierarchical Page Table</a:t>
            </a:r>
            <a:endParaRPr/>
          </a:p>
        </p:txBody>
      </p:sp>
      <p:sp>
        <p:nvSpPr>
          <p:cNvPr id="301" name="Google Shape;301;p21"/>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Consider </a:t>
            </a:r>
            <a:r>
              <a:rPr lang="en-US" sz="2400">
                <a:solidFill>
                  <a:schemeClr val="accent1"/>
                </a:solidFill>
              </a:rPr>
              <a:t>two level </a:t>
            </a:r>
            <a:r>
              <a:rPr lang="en-US" sz="2400"/>
              <a:t>example with a </a:t>
            </a:r>
            <a:r>
              <a:rPr lang="en-US" sz="2400">
                <a:solidFill>
                  <a:schemeClr val="accent1"/>
                </a:solidFill>
              </a:rPr>
              <a:t>32 bit address</a:t>
            </a:r>
            <a:r>
              <a:rPr lang="en-US" sz="2400"/>
              <a:t>: 4 GB address space</a:t>
            </a:r>
            <a:endParaRPr/>
          </a:p>
          <a:p>
            <a:pPr indent="-342900" lvl="0" marL="342900" rtl="0" algn="just">
              <a:spcBef>
                <a:spcPts val="480"/>
              </a:spcBef>
              <a:spcAft>
                <a:spcPts val="0"/>
              </a:spcAft>
              <a:buClr>
                <a:schemeClr val="accent1"/>
              </a:buClr>
              <a:buSzPts val="2400"/>
              <a:buChar char="•"/>
            </a:pPr>
            <a:r>
              <a:rPr lang="en-US" sz="2400">
                <a:solidFill>
                  <a:schemeClr val="accent1"/>
                </a:solidFill>
              </a:rPr>
              <a:t>Page size </a:t>
            </a:r>
            <a:r>
              <a:rPr lang="en-US" sz="2400"/>
              <a:t>: 4 KB</a:t>
            </a:r>
            <a:endParaRPr/>
          </a:p>
          <a:p>
            <a:pPr indent="-190500" lvl="0" marL="342900" rtl="0" algn="just">
              <a:spcBef>
                <a:spcPts val="480"/>
              </a:spcBef>
              <a:spcAft>
                <a:spcPts val="0"/>
              </a:spcAft>
              <a:buClr>
                <a:schemeClr val="dk1"/>
              </a:buClr>
              <a:buSzPts val="2400"/>
              <a:buNone/>
            </a:pPr>
            <a:r>
              <a:t/>
            </a:r>
            <a:endParaRPr sz="2400">
              <a:solidFill>
                <a:schemeClr val="accent1"/>
              </a:solidFill>
            </a:endParaRPr>
          </a:p>
          <a:p>
            <a:pPr indent="-342900" lvl="0" marL="342900" rtl="0" algn="just">
              <a:spcBef>
                <a:spcPts val="480"/>
              </a:spcBef>
              <a:spcAft>
                <a:spcPts val="0"/>
              </a:spcAft>
              <a:buClr>
                <a:schemeClr val="accent1"/>
              </a:buClr>
              <a:buSzPts val="2400"/>
              <a:buChar char="•"/>
            </a:pPr>
            <a:r>
              <a:rPr lang="en-US" sz="2400">
                <a:solidFill>
                  <a:schemeClr val="accent1"/>
                </a:solidFill>
              </a:rPr>
              <a:t>Number of PTE</a:t>
            </a:r>
            <a:r>
              <a:rPr lang="en-US" sz="2400"/>
              <a:t>: 2^20</a:t>
            </a:r>
            <a:endParaRPr/>
          </a:p>
          <a:p>
            <a:pPr indent="-190500" lvl="0" marL="342900" rtl="0" algn="just">
              <a:spcBef>
                <a:spcPts val="480"/>
              </a:spcBef>
              <a:spcAft>
                <a:spcPts val="0"/>
              </a:spcAft>
              <a:buClr>
                <a:schemeClr val="dk1"/>
              </a:buClr>
              <a:buSzPts val="2400"/>
              <a:buNone/>
            </a:pPr>
            <a:r>
              <a:t/>
            </a:r>
            <a:endParaRPr sz="2400">
              <a:solidFill>
                <a:schemeClr val="accent1"/>
              </a:solidFill>
            </a:endParaRPr>
          </a:p>
          <a:p>
            <a:pPr indent="-342900" lvl="0" marL="342900" rtl="0" algn="just">
              <a:spcBef>
                <a:spcPts val="480"/>
              </a:spcBef>
              <a:spcAft>
                <a:spcPts val="0"/>
              </a:spcAft>
              <a:buClr>
                <a:schemeClr val="accent1"/>
              </a:buClr>
              <a:buSzPts val="2400"/>
              <a:buChar char="•"/>
            </a:pPr>
            <a:r>
              <a:rPr lang="en-US" sz="2400">
                <a:solidFill>
                  <a:schemeClr val="accent1"/>
                </a:solidFill>
              </a:rPr>
              <a:t>Each entry </a:t>
            </a:r>
            <a:r>
              <a:rPr lang="en-US" sz="2400"/>
              <a:t>requires </a:t>
            </a:r>
            <a:r>
              <a:rPr lang="en-US" sz="2400">
                <a:solidFill>
                  <a:schemeClr val="accent1"/>
                </a:solidFill>
              </a:rPr>
              <a:t>4 bytes </a:t>
            </a:r>
            <a:r>
              <a:rPr lang="en-US" sz="2400"/>
              <a:t>for storage</a:t>
            </a:r>
            <a:endParaRPr/>
          </a:p>
          <a:p>
            <a:pPr indent="-285750" lvl="1" marL="742950" rtl="0" algn="just">
              <a:spcBef>
                <a:spcPts val="480"/>
              </a:spcBef>
              <a:spcAft>
                <a:spcPts val="0"/>
              </a:spcAft>
              <a:buClr>
                <a:schemeClr val="dk1"/>
              </a:buClr>
              <a:buSzPts val="2400"/>
              <a:buChar char="–"/>
            </a:pPr>
            <a:r>
              <a:rPr lang="en-US" sz="2400"/>
              <a:t>Total space needed: 4 MB (for Page Table!)</a:t>
            </a:r>
            <a:endParaRPr/>
          </a:p>
          <a:p>
            <a:pPr indent="-342900" lvl="0" marL="342900" rtl="0" algn="just">
              <a:spcBef>
                <a:spcPts val="480"/>
              </a:spcBef>
              <a:spcAft>
                <a:spcPts val="0"/>
              </a:spcAft>
              <a:buClr>
                <a:schemeClr val="dk1"/>
              </a:buClr>
              <a:buSzPts val="2400"/>
              <a:buChar char="•"/>
            </a:pPr>
            <a:r>
              <a:rPr lang="en-US" sz="2400"/>
              <a:t>The address can be divided as per following:</a:t>
            </a:r>
            <a:endParaRPr/>
          </a:p>
          <a:p>
            <a:pPr indent="-285750" lvl="1" marL="742950" rtl="0" algn="just">
              <a:spcBef>
                <a:spcPts val="480"/>
              </a:spcBef>
              <a:spcAft>
                <a:spcPts val="0"/>
              </a:spcAft>
              <a:buClr>
                <a:schemeClr val="dk1"/>
              </a:buClr>
              <a:buSzPts val="2400"/>
              <a:buChar char="–"/>
            </a:pPr>
            <a:r>
              <a:rPr lang="en-US" sz="2400"/>
              <a:t>10+10+12</a:t>
            </a:r>
            <a:endParaRPr sz="2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Two-Level </a:t>
            </a:r>
            <a:br>
              <a:rPr lang="en-US"/>
            </a:br>
            <a:r>
              <a:rPr lang="en-US"/>
              <a:t>Hierarchical Page Table</a:t>
            </a:r>
            <a:endParaRPr/>
          </a:p>
        </p:txBody>
      </p:sp>
      <p:pic>
        <p:nvPicPr>
          <p:cNvPr descr="Fig08_04.gif" id="308" name="Google Shape;308;p22"/>
          <p:cNvPicPr preferRelativeResize="0"/>
          <p:nvPr>
            <p:ph idx="1" type="body"/>
          </p:nvPr>
        </p:nvPicPr>
        <p:blipFill rotWithShape="1">
          <a:blip r:embed="rId3">
            <a:alphaModFix/>
          </a:blip>
          <a:srcRect b="0" l="0" r="0" t="0"/>
          <a:stretch/>
        </p:blipFill>
        <p:spPr>
          <a:xfrm>
            <a:off x="681439" y="1447800"/>
            <a:ext cx="7897257" cy="5181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Address Translation for Hierarchical page table</a:t>
            </a:r>
            <a:endParaRPr/>
          </a:p>
        </p:txBody>
      </p:sp>
      <p:pic>
        <p:nvPicPr>
          <p:cNvPr descr="Fig08_05.gif" id="315" name="Google Shape;315;p23"/>
          <p:cNvPicPr preferRelativeResize="0"/>
          <p:nvPr>
            <p:ph idx="1" type="body"/>
          </p:nvPr>
        </p:nvPicPr>
        <p:blipFill rotWithShape="1">
          <a:blip r:embed="rId3">
            <a:alphaModFix/>
          </a:blip>
          <a:srcRect b="0" l="0" r="0" t="0"/>
          <a:stretch/>
        </p:blipFill>
        <p:spPr>
          <a:xfrm>
            <a:off x="0" y="1524001"/>
            <a:ext cx="9089105" cy="5334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Page tables </a:t>
            </a:r>
            <a:br>
              <a:rPr lang="en-US"/>
            </a:br>
            <a:r>
              <a:rPr lang="en-US"/>
              <a:t>grow proportionally</a:t>
            </a:r>
            <a:endParaRPr/>
          </a:p>
        </p:txBody>
      </p:sp>
      <p:sp>
        <p:nvSpPr>
          <p:cNvPr id="322" name="Google Shape;322;p24"/>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A </a:t>
            </a:r>
            <a:r>
              <a:rPr lang="en-US" sz="2400">
                <a:solidFill>
                  <a:srgbClr val="0070C0"/>
                </a:solidFill>
              </a:rPr>
              <a:t>drawback</a:t>
            </a:r>
            <a:r>
              <a:rPr lang="en-US" sz="2400"/>
              <a:t> of the type of page tables just discussed is that </a:t>
            </a:r>
            <a:endParaRPr/>
          </a:p>
          <a:p>
            <a:pPr indent="-285750" lvl="1" marL="742950" rtl="0" algn="just">
              <a:spcBef>
                <a:spcPts val="480"/>
              </a:spcBef>
              <a:spcAft>
                <a:spcPts val="0"/>
              </a:spcAft>
              <a:buClr>
                <a:schemeClr val="dk1"/>
              </a:buClr>
              <a:buSzPts val="2400"/>
              <a:buChar char="–"/>
            </a:pPr>
            <a:r>
              <a:rPr lang="en-US" sz="2400"/>
              <a:t>Their size is proportional to that of the virtual address space</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An alternative is </a:t>
            </a:r>
            <a:r>
              <a:rPr lang="en-US" sz="2400">
                <a:solidFill>
                  <a:srgbClr val="0070C0"/>
                </a:solidFill>
              </a:rPr>
              <a:t>Inverted Page Tables</a:t>
            </a:r>
            <a:endParaRPr/>
          </a:p>
          <a:p>
            <a:pPr indent="-190500" lvl="0" marL="342900" rtl="0" algn="just">
              <a:spcBef>
                <a:spcPts val="480"/>
              </a:spcBef>
              <a:spcAft>
                <a:spcPts val="0"/>
              </a:spcAft>
              <a:buClr>
                <a:schemeClr val="dk1"/>
              </a:buClr>
              <a:buSzPts val="2400"/>
              <a:buNone/>
            </a:pPr>
            <a:r>
              <a:t/>
            </a:r>
            <a:endParaRPr sz="2400"/>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Inverted Page Table</a:t>
            </a:r>
            <a:endParaRPr/>
          </a:p>
        </p:txBody>
      </p:sp>
      <p:sp>
        <p:nvSpPr>
          <p:cNvPr id="328" name="Google Shape;328;p25"/>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lang="en-US" sz="2400">
                <a:solidFill>
                  <a:schemeClr val="accent1"/>
                </a:solidFill>
              </a:rPr>
              <a:t>One page table entry </a:t>
            </a:r>
            <a:r>
              <a:rPr lang="en-US" sz="2400"/>
              <a:t>for </a:t>
            </a:r>
            <a:r>
              <a:rPr lang="en-US" sz="2400">
                <a:solidFill>
                  <a:schemeClr val="accent1"/>
                </a:solidFill>
              </a:rPr>
              <a:t>every frame </a:t>
            </a:r>
            <a:r>
              <a:rPr lang="en-US" sz="2400"/>
              <a:t>in main memory</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Hence number of </a:t>
            </a:r>
            <a:r>
              <a:rPr lang="en-US" sz="2400">
                <a:solidFill>
                  <a:schemeClr val="accent1"/>
                </a:solidFill>
              </a:rPr>
              <a:t>page table entries </a:t>
            </a:r>
            <a:r>
              <a:rPr lang="en-US" sz="2400"/>
              <a:t>in inverted page table are </a:t>
            </a:r>
            <a:r>
              <a:rPr lang="en-US" sz="2400">
                <a:solidFill>
                  <a:schemeClr val="accent1"/>
                </a:solidFill>
              </a:rPr>
              <a:t>fixed</a:t>
            </a:r>
            <a:endParaRPr/>
          </a:p>
          <a:p>
            <a:pPr indent="-285750" lvl="1" marL="742950" rtl="0" algn="just">
              <a:spcBef>
                <a:spcPts val="480"/>
              </a:spcBef>
              <a:spcAft>
                <a:spcPts val="0"/>
              </a:spcAft>
              <a:buClr>
                <a:schemeClr val="dk1"/>
              </a:buClr>
              <a:buSzPts val="2400"/>
              <a:buChar char="–"/>
            </a:pPr>
            <a:r>
              <a:rPr lang="en-US" sz="2400"/>
              <a:t>Equal to number of frames</a:t>
            </a:r>
            <a:endParaRPr/>
          </a:p>
          <a:p>
            <a:pPr indent="-190500" lvl="0" marL="342900" rtl="0" algn="just">
              <a:spcBef>
                <a:spcPts val="480"/>
              </a:spcBef>
              <a:spcAft>
                <a:spcPts val="0"/>
              </a:spcAft>
              <a:buClr>
                <a:schemeClr val="dk1"/>
              </a:buClr>
              <a:buSzPts val="2400"/>
              <a:buNone/>
            </a:pPr>
            <a:r>
              <a:t/>
            </a:r>
            <a:endParaRPr sz="2400">
              <a:solidFill>
                <a:schemeClr val="accent1"/>
              </a:solidFill>
            </a:endParaRPr>
          </a:p>
          <a:p>
            <a:pPr indent="-342900" lvl="0" marL="342900" rtl="0" algn="just">
              <a:spcBef>
                <a:spcPts val="480"/>
              </a:spcBef>
              <a:spcAft>
                <a:spcPts val="0"/>
              </a:spcAft>
              <a:buClr>
                <a:schemeClr val="accent1"/>
              </a:buClr>
              <a:buSzPts val="2400"/>
              <a:buChar char="•"/>
            </a:pPr>
            <a:r>
              <a:rPr lang="en-US" sz="2400">
                <a:solidFill>
                  <a:schemeClr val="accent1"/>
                </a:solidFill>
              </a:rPr>
              <a:t>Single table </a:t>
            </a:r>
            <a:r>
              <a:rPr lang="en-US" sz="2400"/>
              <a:t>is used to store information for</a:t>
            </a:r>
            <a:r>
              <a:rPr lang="en-US" sz="2400">
                <a:solidFill>
                  <a:schemeClr val="accent1"/>
                </a:solidFill>
              </a:rPr>
              <a:t> all processes</a:t>
            </a:r>
            <a:endParaRPr/>
          </a:p>
          <a:p>
            <a:pPr indent="-190500" lvl="0" marL="342900" rtl="0" algn="just">
              <a:spcBef>
                <a:spcPts val="480"/>
              </a:spcBef>
              <a:spcAft>
                <a:spcPts val="0"/>
              </a:spcAft>
              <a:buClr>
                <a:schemeClr val="dk1"/>
              </a:buClr>
              <a:buSzPts val="2400"/>
              <a:buNone/>
            </a:pPr>
            <a:r>
              <a:t/>
            </a:r>
            <a:endParaRPr b="1" sz="2400">
              <a:solidFill>
                <a:schemeClr val="accent1"/>
              </a:solidFill>
            </a:endParaRPr>
          </a:p>
          <a:p>
            <a:pPr indent="-342900" lvl="0" marL="342900" rtl="0" algn="just">
              <a:spcBef>
                <a:spcPts val="480"/>
              </a:spcBef>
              <a:spcAft>
                <a:spcPts val="0"/>
              </a:spcAft>
              <a:buClr>
                <a:schemeClr val="accent1"/>
              </a:buClr>
              <a:buSzPts val="2400"/>
              <a:buChar char="•"/>
            </a:pPr>
            <a:r>
              <a:rPr b="1" lang="en-US" sz="2400">
                <a:solidFill>
                  <a:schemeClr val="accent1"/>
                </a:solidFill>
              </a:rPr>
              <a:t>Why called as Inverted?</a:t>
            </a:r>
            <a:endParaRPr/>
          </a:p>
          <a:p>
            <a:pPr indent="-285750" lvl="1" marL="742950" rtl="0" algn="just">
              <a:spcBef>
                <a:spcPts val="480"/>
              </a:spcBef>
              <a:spcAft>
                <a:spcPts val="0"/>
              </a:spcAft>
              <a:buClr>
                <a:schemeClr val="dk1"/>
              </a:buClr>
              <a:buSzPts val="2400"/>
              <a:buChar char="–"/>
            </a:pPr>
            <a:r>
              <a:rPr lang="en-US" sz="2400"/>
              <a:t>As the indexing is done based on frame number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Inverted Page Table</a:t>
            </a:r>
            <a:endParaRPr/>
          </a:p>
        </p:txBody>
      </p:sp>
      <p:pic>
        <p:nvPicPr>
          <p:cNvPr descr="https://media.geeksforgeeks.org/wp-content/uploads/33-6.png" id="334" name="Google Shape;334;p26"/>
          <p:cNvPicPr preferRelativeResize="0"/>
          <p:nvPr/>
        </p:nvPicPr>
        <p:blipFill rotWithShape="1">
          <a:blip r:embed="rId3">
            <a:alphaModFix/>
          </a:blip>
          <a:srcRect b="0" l="0" r="0" t="0"/>
          <a:stretch/>
        </p:blipFill>
        <p:spPr>
          <a:xfrm>
            <a:off x="76200" y="1295400"/>
            <a:ext cx="8988425" cy="54864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Inverted Page Table - Hashing</a:t>
            </a:r>
            <a:endParaRPr/>
          </a:p>
        </p:txBody>
      </p:sp>
      <p:sp>
        <p:nvSpPr>
          <p:cNvPr id="341" name="Google Shape;341;p27"/>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Used on PowerPC, UltraSPARC, and IA-64 architecture</a:t>
            </a:r>
            <a:endParaRPr/>
          </a:p>
          <a:p>
            <a:pPr indent="-190500" lvl="0" marL="342900" rtl="0" algn="just">
              <a:spcBef>
                <a:spcPts val="480"/>
              </a:spcBef>
              <a:spcAft>
                <a:spcPts val="0"/>
              </a:spcAft>
              <a:buClr>
                <a:schemeClr val="dk1"/>
              </a:buClr>
              <a:buSzPts val="2400"/>
              <a:buNone/>
            </a:pPr>
            <a:r>
              <a:t/>
            </a:r>
            <a:endParaRPr sz="2400">
              <a:solidFill>
                <a:schemeClr val="accent1"/>
              </a:solidFill>
            </a:endParaRPr>
          </a:p>
          <a:p>
            <a:pPr indent="-342900" lvl="0" marL="342900" rtl="0" algn="just">
              <a:spcBef>
                <a:spcPts val="480"/>
              </a:spcBef>
              <a:spcAft>
                <a:spcPts val="0"/>
              </a:spcAft>
              <a:buClr>
                <a:schemeClr val="accent1"/>
              </a:buClr>
              <a:buSzPts val="2400"/>
              <a:buChar char="•"/>
            </a:pPr>
            <a:r>
              <a:rPr lang="en-US" sz="2400">
                <a:solidFill>
                  <a:schemeClr val="accent1"/>
                </a:solidFill>
              </a:rPr>
              <a:t>Page number </a:t>
            </a:r>
            <a:r>
              <a:rPr lang="en-US" sz="2400"/>
              <a:t>portion of a virtual address is </a:t>
            </a:r>
            <a:r>
              <a:rPr lang="en-US" sz="2400">
                <a:solidFill>
                  <a:schemeClr val="accent1"/>
                </a:solidFill>
              </a:rPr>
              <a:t>mapped</a:t>
            </a:r>
            <a:r>
              <a:rPr lang="en-US" sz="2400"/>
              <a:t> into a </a:t>
            </a:r>
            <a:r>
              <a:rPr lang="en-US" sz="2400">
                <a:solidFill>
                  <a:schemeClr val="accent1"/>
                </a:solidFill>
              </a:rPr>
              <a:t>hash value</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Hash value </a:t>
            </a:r>
            <a:r>
              <a:rPr lang="en-US" sz="2400">
                <a:solidFill>
                  <a:schemeClr val="accent1"/>
                </a:solidFill>
              </a:rPr>
              <a:t>points to </a:t>
            </a:r>
            <a:r>
              <a:rPr lang="en-US" sz="2400"/>
              <a:t>inverted page table</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Fixed proportion of real memory is required for the tables regardless of the number of processes</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Inverted Page Table</a:t>
            </a:r>
            <a:endParaRPr/>
          </a:p>
        </p:txBody>
      </p:sp>
      <p:sp>
        <p:nvSpPr>
          <p:cNvPr id="348" name="Google Shape;348;p28"/>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None/>
            </a:pPr>
            <a:r>
              <a:rPr lang="en-US" sz="2400"/>
              <a:t>Each entry in the page table includes:</a:t>
            </a:r>
            <a:endParaRPr sz="2400"/>
          </a:p>
          <a:p>
            <a:pPr indent="-190500" lvl="0" marL="342900" rtl="0" algn="just">
              <a:spcBef>
                <a:spcPts val="480"/>
              </a:spcBef>
              <a:spcAft>
                <a:spcPts val="0"/>
              </a:spcAft>
              <a:buClr>
                <a:schemeClr val="dk1"/>
              </a:buClr>
              <a:buSzPts val="2400"/>
              <a:buNone/>
            </a:pPr>
            <a:r>
              <a:t/>
            </a:r>
            <a:endParaRPr sz="2400">
              <a:solidFill>
                <a:schemeClr val="accent1"/>
              </a:solidFill>
            </a:endParaRPr>
          </a:p>
          <a:p>
            <a:pPr indent="-342900" lvl="0" marL="342900" rtl="0" algn="just">
              <a:spcBef>
                <a:spcPts val="480"/>
              </a:spcBef>
              <a:spcAft>
                <a:spcPts val="0"/>
              </a:spcAft>
              <a:buClr>
                <a:schemeClr val="accent1"/>
              </a:buClr>
              <a:buSzPts val="2400"/>
              <a:buChar char="•"/>
            </a:pPr>
            <a:r>
              <a:rPr lang="en-US" sz="2400">
                <a:solidFill>
                  <a:schemeClr val="accent1"/>
                </a:solidFill>
              </a:rPr>
              <a:t>Page number</a:t>
            </a:r>
            <a:endParaRPr/>
          </a:p>
          <a:p>
            <a:pPr indent="-342900" lvl="0" marL="342900" rtl="0" algn="just">
              <a:spcBef>
                <a:spcPts val="480"/>
              </a:spcBef>
              <a:spcAft>
                <a:spcPts val="0"/>
              </a:spcAft>
              <a:buClr>
                <a:schemeClr val="accent1"/>
              </a:buClr>
              <a:buSzPts val="2400"/>
              <a:buChar char="•"/>
            </a:pPr>
            <a:r>
              <a:rPr lang="en-US" sz="2400">
                <a:solidFill>
                  <a:schemeClr val="accent1"/>
                </a:solidFill>
              </a:rPr>
              <a:t>Process identifier</a:t>
            </a:r>
            <a:endParaRPr/>
          </a:p>
          <a:p>
            <a:pPr indent="-285750" lvl="1" marL="742950" rtl="0" algn="just">
              <a:spcBef>
                <a:spcPts val="480"/>
              </a:spcBef>
              <a:spcAft>
                <a:spcPts val="0"/>
              </a:spcAft>
              <a:buClr>
                <a:schemeClr val="dk1"/>
              </a:buClr>
              <a:buSzPts val="2400"/>
              <a:buChar char="–"/>
            </a:pPr>
            <a:r>
              <a:rPr lang="en-US" sz="2400"/>
              <a:t>The process that owns this page.</a:t>
            </a:r>
            <a:endParaRPr/>
          </a:p>
          <a:p>
            <a:pPr indent="-342900" lvl="0" marL="342900" rtl="0" algn="just">
              <a:spcBef>
                <a:spcPts val="480"/>
              </a:spcBef>
              <a:spcAft>
                <a:spcPts val="0"/>
              </a:spcAft>
              <a:buClr>
                <a:schemeClr val="dk1"/>
              </a:buClr>
              <a:buSzPts val="2400"/>
              <a:buChar char="•"/>
            </a:pPr>
            <a:r>
              <a:rPr lang="en-US" sz="2400"/>
              <a:t> </a:t>
            </a:r>
            <a:r>
              <a:rPr lang="en-US" sz="2400">
                <a:solidFill>
                  <a:schemeClr val="accent1"/>
                </a:solidFill>
              </a:rPr>
              <a:t>Control bits</a:t>
            </a:r>
            <a:endParaRPr/>
          </a:p>
          <a:p>
            <a:pPr indent="-285750" lvl="1" marL="742950" rtl="0" algn="just">
              <a:spcBef>
                <a:spcPts val="480"/>
              </a:spcBef>
              <a:spcAft>
                <a:spcPts val="0"/>
              </a:spcAft>
              <a:buClr>
                <a:schemeClr val="dk1"/>
              </a:buClr>
              <a:buSzPts val="2400"/>
              <a:buChar char="–"/>
            </a:pPr>
            <a:r>
              <a:rPr lang="en-US" sz="2400"/>
              <a:t> includes flags</a:t>
            </a:r>
            <a:endParaRPr sz="2400"/>
          </a:p>
          <a:p>
            <a:pPr indent="-342900" lvl="0" marL="342900" rtl="0" algn="just">
              <a:spcBef>
                <a:spcPts val="480"/>
              </a:spcBef>
              <a:spcAft>
                <a:spcPts val="0"/>
              </a:spcAft>
              <a:buClr>
                <a:schemeClr val="accent1"/>
              </a:buClr>
              <a:buSzPts val="2400"/>
              <a:buChar char="•"/>
            </a:pPr>
            <a:r>
              <a:rPr lang="en-US" sz="2400">
                <a:solidFill>
                  <a:schemeClr val="accent1"/>
                </a:solidFill>
              </a:rPr>
              <a:t>Chain pointer</a:t>
            </a:r>
            <a:endParaRPr/>
          </a:p>
          <a:p>
            <a:pPr indent="-285750" lvl="1" marL="742950" rtl="0" algn="just">
              <a:spcBef>
                <a:spcPts val="480"/>
              </a:spcBef>
              <a:spcAft>
                <a:spcPts val="0"/>
              </a:spcAft>
              <a:buClr>
                <a:schemeClr val="dk1"/>
              </a:buClr>
              <a:buSzPts val="2400"/>
              <a:buChar char="–"/>
            </a:pPr>
            <a:r>
              <a:rPr lang="en-US" sz="2400"/>
              <a:t> the index value of the next entry in the chain</a:t>
            </a:r>
            <a:endParaRPr sz="24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Inverted Page Table</a:t>
            </a:r>
            <a:endParaRPr/>
          </a:p>
        </p:txBody>
      </p:sp>
      <p:pic>
        <p:nvPicPr>
          <p:cNvPr descr="Fig08_06.gif" id="355" name="Google Shape;355;p29"/>
          <p:cNvPicPr preferRelativeResize="0"/>
          <p:nvPr>
            <p:ph idx="1" type="body"/>
          </p:nvPr>
        </p:nvPicPr>
        <p:blipFill rotWithShape="1">
          <a:blip r:embed="rId3">
            <a:alphaModFix/>
          </a:blip>
          <a:srcRect b="0" l="0" r="0" t="0"/>
          <a:stretch/>
        </p:blipFill>
        <p:spPr>
          <a:xfrm>
            <a:off x="533400" y="1276579"/>
            <a:ext cx="8382000" cy="535282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Translation Look aside Buffer (TLB)</a:t>
            </a:r>
            <a:endParaRPr sz="3600"/>
          </a:p>
        </p:txBody>
      </p:sp>
      <p:sp>
        <p:nvSpPr>
          <p:cNvPr id="362" name="Google Shape;362;p30"/>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Each virtual memory reference can cause two physical memory accesses</a:t>
            </a:r>
            <a:endParaRPr/>
          </a:p>
          <a:p>
            <a:pPr indent="-285750" lvl="1" marL="742950" rtl="0" algn="just">
              <a:spcBef>
                <a:spcPts val="480"/>
              </a:spcBef>
              <a:spcAft>
                <a:spcPts val="0"/>
              </a:spcAft>
              <a:buClr>
                <a:schemeClr val="dk1"/>
              </a:buClr>
              <a:buSzPts val="2400"/>
              <a:buChar char="–"/>
            </a:pPr>
            <a:r>
              <a:rPr lang="en-US" sz="2400"/>
              <a:t>One to fetch the </a:t>
            </a:r>
            <a:r>
              <a:rPr lang="en-US" sz="2400">
                <a:solidFill>
                  <a:schemeClr val="accent1"/>
                </a:solidFill>
              </a:rPr>
              <a:t>page table entry</a:t>
            </a:r>
            <a:endParaRPr/>
          </a:p>
          <a:p>
            <a:pPr indent="-285750" lvl="1" marL="742950" rtl="0" algn="just">
              <a:spcBef>
                <a:spcPts val="480"/>
              </a:spcBef>
              <a:spcAft>
                <a:spcPts val="0"/>
              </a:spcAft>
              <a:buClr>
                <a:schemeClr val="dk1"/>
              </a:buClr>
              <a:buSzPts val="2400"/>
              <a:buChar char="–"/>
            </a:pPr>
            <a:r>
              <a:rPr lang="en-US" sz="2400"/>
              <a:t>One to fetch the </a:t>
            </a:r>
            <a:r>
              <a:rPr lang="en-US" sz="2400">
                <a:solidFill>
                  <a:schemeClr val="accent1"/>
                </a:solidFill>
              </a:rPr>
              <a:t>desired data</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To overcome this problem a </a:t>
            </a:r>
            <a:r>
              <a:rPr lang="en-US" sz="2400">
                <a:solidFill>
                  <a:schemeClr val="accent1"/>
                </a:solidFill>
              </a:rPr>
              <a:t>high-speed cache</a:t>
            </a:r>
            <a:r>
              <a:rPr lang="en-US" sz="2400"/>
              <a:t> is set up for page table entries</a:t>
            </a:r>
            <a:endParaRPr/>
          </a:p>
          <a:p>
            <a:pPr indent="-285750" lvl="1" marL="742950" rtl="0" algn="just">
              <a:spcBef>
                <a:spcPts val="480"/>
              </a:spcBef>
              <a:spcAft>
                <a:spcPts val="0"/>
              </a:spcAft>
              <a:buClr>
                <a:schemeClr val="dk1"/>
              </a:buClr>
              <a:buSzPts val="2400"/>
              <a:buChar char="–"/>
            </a:pPr>
            <a:r>
              <a:rPr lang="en-US" sz="2400"/>
              <a:t>Called a </a:t>
            </a:r>
            <a:r>
              <a:rPr lang="en-US" sz="2400">
                <a:solidFill>
                  <a:schemeClr val="accent1"/>
                </a:solidFill>
              </a:rPr>
              <a:t>Translation Lookaside Buffer </a:t>
            </a:r>
            <a:r>
              <a:rPr lang="en-US" sz="2400"/>
              <a:t>(TLB)</a:t>
            </a:r>
            <a:endParaRPr/>
          </a:p>
          <a:p>
            <a:pPr indent="-285750" lvl="1" marL="742950" rtl="0" algn="just">
              <a:spcBef>
                <a:spcPts val="480"/>
              </a:spcBef>
              <a:spcAft>
                <a:spcPts val="0"/>
              </a:spcAft>
              <a:buClr>
                <a:schemeClr val="dk1"/>
              </a:buClr>
              <a:buSzPts val="2400"/>
              <a:buChar char="–"/>
            </a:pPr>
            <a:r>
              <a:rPr lang="en-US" sz="2400"/>
              <a:t>Contains </a:t>
            </a:r>
            <a:r>
              <a:rPr lang="en-US" sz="2400">
                <a:solidFill>
                  <a:schemeClr val="accent1"/>
                </a:solidFill>
              </a:rPr>
              <a:t>page table entries </a:t>
            </a:r>
            <a:r>
              <a:rPr lang="en-US" sz="2400"/>
              <a:t>that have been </a:t>
            </a:r>
            <a:r>
              <a:rPr lang="en-US" sz="2400">
                <a:solidFill>
                  <a:schemeClr val="accent1"/>
                </a:solidFill>
              </a:rPr>
              <a:t>most recently </a:t>
            </a:r>
            <a:r>
              <a:rPr lang="en-US" sz="2400"/>
              <a:t>used</a:t>
            </a:r>
            <a:endParaRPr/>
          </a:p>
          <a:p>
            <a:pPr indent="-133350" lvl="1" marL="742950" rtl="0" algn="just">
              <a:spcBef>
                <a:spcPts val="480"/>
              </a:spcBef>
              <a:spcAft>
                <a:spcPts val="0"/>
              </a:spcAft>
              <a:buClr>
                <a:schemeClr val="dk1"/>
              </a:buClr>
              <a:buSzPts val="2400"/>
              <a:buNone/>
            </a:pPr>
            <a:r>
              <a:t/>
            </a:r>
            <a:endParaRPr sz="2400"/>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TLB Operation</a:t>
            </a:r>
            <a:endParaRPr/>
          </a:p>
        </p:txBody>
      </p:sp>
      <p:sp>
        <p:nvSpPr>
          <p:cNvPr id="369" name="Google Shape;369;p31"/>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Given a virtual address, </a:t>
            </a:r>
            <a:endParaRPr/>
          </a:p>
          <a:p>
            <a:pPr indent="-285750" lvl="1" marL="742950" rtl="0" algn="just">
              <a:spcBef>
                <a:spcPts val="480"/>
              </a:spcBef>
              <a:spcAft>
                <a:spcPts val="0"/>
              </a:spcAft>
              <a:buClr>
                <a:schemeClr val="dk1"/>
              </a:buClr>
              <a:buSzPts val="2400"/>
              <a:buChar char="–"/>
            </a:pPr>
            <a:r>
              <a:rPr lang="en-US" sz="2400"/>
              <a:t>processor </a:t>
            </a:r>
            <a:r>
              <a:rPr lang="en-US" sz="2400">
                <a:solidFill>
                  <a:schemeClr val="accent1"/>
                </a:solidFill>
              </a:rPr>
              <a:t>examines the TLB</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If page table entry is </a:t>
            </a:r>
            <a:r>
              <a:rPr lang="en-US" sz="2400">
                <a:solidFill>
                  <a:schemeClr val="accent1"/>
                </a:solidFill>
              </a:rPr>
              <a:t>present</a:t>
            </a:r>
            <a:r>
              <a:rPr lang="en-US" sz="2400"/>
              <a:t> (</a:t>
            </a:r>
            <a:r>
              <a:rPr lang="en-US" sz="2400">
                <a:solidFill>
                  <a:schemeClr val="accent1"/>
                </a:solidFill>
              </a:rPr>
              <a:t>TLB hit</a:t>
            </a:r>
            <a:r>
              <a:rPr lang="en-US" sz="2400"/>
              <a:t>), </a:t>
            </a:r>
            <a:endParaRPr/>
          </a:p>
          <a:p>
            <a:pPr indent="-285750" lvl="1" marL="742950" rtl="0" algn="just">
              <a:spcBef>
                <a:spcPts val="480"/>
              </a:spcBef>
              <a:spcAft>
                <a:spcPts val="0"/>
              </a:spcAft>
              <a:buClr>
                <a:schemeClr val="dk1"/>
              </a:buClr>
              <a:buSzPts val="2400"/>
              <a:buChar char="–"/>
            </a:pPr>
            <a:r>
              <a:rPr lang="en-US" sz="2400"/>
              <a:t>the frame number is retrieved and the real address is formed</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If page table entry is </a:t>
            </a:r>
            <a:r>
              <a:rPr lang="en-US" sz="2400">
                <a:solidFill>
                  <a:schemeClr val="accent1"/>
                </a:solidFill>
              </a:rPr>
              <a:t>not found </a:t>
            </a:r>
            <a:r>
              <a:rPr lang="en-US" sz="2400"/>
              <a:t>in the TLB (</a:t>
            </a:r>
            <a:r>
              <a:rPr lang="en-US" sz="2400">
                <a:solidFill>
                  <a:schemeClr val="accent1"/>
                </a:solidFill>
              </a:rPr>
              <a:t>TLB miss</a:t>
            </a:r>
            <a:r>
              <a:rPr lang="en-US" sz="2400"/>
              <a:t>), </a:t>
            </a:r>
            <a:endParaRPr/>
          </a:p>
          <a:p>
            <a:pPr indent="-285750" lvl="1" marL="742950" rtl="0" algn="just">
              <a:spcBef>
                <a:spcPts val="480"/>
              </a:spcBef>
              <a:spcAft>
                <a:spcPts val="0"/>
              </a:spcAft>
              <a:buClr>
                <a:schemeClr val="dk1"/>
              </a:buClr>
              <a:buSzPts val="2400"/>
              <a:buChar char="–"/>
            </a:pPr>
            <a:r>
              <a:rPr lang="en-US" sz="2400"/>
              <a:t>the page number is used to index the process page table</a:t>
            </a:r>
            <a:endParaRPr/>
          </a:p>
          <a:p>
            <a:pPr indent="-190500" lvl="0" marL="342900" rtl="0" algn="l">
              <a:spcBef>
                <a:spcPts val="480"/>
              </a:spcBef>
              <a:spcAft>
                <a:spcPts val="0"/>
              </a:spcAft>
              <a:buClr>
                <a:schemeClr val="dk1"/>
              </a:buClr>
              <a:buSzPts val="2400"/>
              <a:buNone/>
            </a:pPr>
            <a:r>
              <a:t/>
            </a:r>
            <a:endParaRPr sz="24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TLB Operation</a:t>
            </a:r>
            <a:endParaRPr/>
          </a:p>
        </p:txBody>
      </p:sp>
      <p:sp>
        <p:nvSpPr>
          <p:cNvPr id="376" name="Google Shape;376;p32"/>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285750" lvl="1" marL="742950" rtl="0" algn="just">
              <a:spcBef>
                <a:spcPts val="0"/>
              </a:spcBef>
              <a:spcAft>
                <a:spcPts val="0"/>
              </a:spcAft>
              <a:buClr>
                <a:schemeClr val="dk1"/>
              </a:buClr>
              <a:buSzPts val="2400"/>
              <a:buChar char="–"/>
            </a:pPr>
            <a:r>
              <a:rPr lang="en-US" sz="2400"/>
              <a:t>First the check is made to see if page is already in main memory (</a:t>
            </a:r>
            <a:r>
              <a:rPr lang="en-US" sz="2400">
                <a:solidFill>
                  <a:schemeClr val="accent1"/>
                </a:solidFill>
              </a:rPr>
              <a:t>present bit set</a:t>
            </a:r>
            <a:r>
              <a:rPr lang="en-US" sz="2400"/>
              <a:t>)</a:t>
            </a:r>
            <a:endParaRPr/>
          </a:p>
          <a:p>
            <a:pPr indent="-228600" lvl="2" marL="1143000" rtl="0" algn="just">
              <a:spcBef>
                <a:spcPts val="480"/>
              </a:spcBef>
              <a:spcAft>
                <a:spcPts val="0"/>
              </a:spcAft>
              <a:buClr>
                <a:schemeClr val="dk1"/>
              </a:buClr>
              <a:buSzPts val="2400"/>
              <a:buChar char="•"/>
            </a:pPr>
            <a:r>
              <a:rPr lang="en-US"/>
              <a:t>If not in main memory a page fault is issued</a:t>
            </a:r>
            <a:endParaRPr/>
          </a:p>
          <a:p>
            <a:pPr indent="-228600" lvl="2" marL="1143000" rtl="0" algn="just">
              <a:spcBef>
                <a:spcPts val="480"/>
              </a:spcBef>
              <a:spcAft>
                <a:spcPts val="0"/>
              </a:spcAft>
              <a:buClr>
                <a:schemeClr val="dk1"/>
              </a:buClr>
              <a:buSzPts val="2400"/>
              <a:buChar char="•"/>
            </a:pPr>
            <a:r>
              <a:rPr lang="en-US"/>
              <a:t>The TLB is updated to include the new page entry</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TLB uses </a:t>
            </a:r>
            <a:r>
              <a:rPr lang="en-US" sz="2400">
                <a:solidFill>
                  <a:srgbClr val="0070C0"/>
                </a:solidFill>
              </a:rPr>
              <a:t>principle of locality</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3"/>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Translation Look aside Buffer</a:t>
            </a:r>
            <a:endParaRPr/>
          </a:p>
        </p:txBody>
      </p:sp>
      <p:pic>
        <p:nvPicPr>
          <p:cNvPr descr="Fig08_07.gif" id="383" name="Google Shape;383;p33"/>
          <p:cNvPicPr preferRelativeResize="0"/>
          <p:nvPr>
            <p:ph idx="1" type="body"/>
          </p:nvPr>
        </p:nvPicPr>
        <p:blipFill rotWithShape="1">
          <a:blip r:embed="rId3">
            <a:alphaModFix/>
          </a:blip>
          <a:srcRect b="0" l="0" r="0" t="0"/>
          <a:stretch/>
        </p:blipFill>
        <p:spPr>
          <a:xfrm>
            <a:off x="152400" y="1143001"/>
            <a:ext cx="8915400" cy="556259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pic>
        <p:nvPicPr>
          <p:cNvPr descr="Fig08_08.gif" id="389" name="Google Shape;389;p34"/>
          <p:cNvPicPr preferRelativeResize="0"/>
          <p:nvPr>
            <p:ph idx="1" type="body"/>
          </p:nvPr>
        </p:nvPicPr>
        <p:blipFill rotWithShape="1">
          <a:blip r:embed="rId3">
            <a:alphaModFix/>
          </a:blip>
          <a:srcRect b="0" l="0" r="0" t="0"/>
          <a:stretch/>
        </p:blipFill>
        <p:spPr>
          <a:xfrm>
            <a:off x="76200" y="120331"/>
            <a:ext cx="8991600" cy="666146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Associative Mapping</a:t>
            </a:r>
            <a:endParaRPr/>
          </a:p>
        </p:txBody>
      </p:sp>
      <p:sp>
        <p:nvSpPr>
          <p:cNvPr id="396" name="Google Shape;396;p35"/>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As the TLB only contains </a:t>
            </a:r>
            <a:r>
              <a:rPr lang="en-US" sz="2400">
                <a:solidFill>
                  <a:schemeClr val="accent1"/>
                </a:solidFill>
              </a:rPr>
              <a:t>some of the page table entries</a:t>
            </a:r>
            <a:r>
              <a:rPr lang="en-US" sz="2400"/>
              <a:t> we cannot simply </a:t>
            </a:r>
            <a:r>
              <a:rPr lang="en-US" sz="2400">
                <a:solidFill>
                  <a:schemeClr val="accent1"/>
                </a:solidFill>
              </a:rPr>
              <a:t>index</a:t>
            </a:r>
            <a:r>
              <a:rPr lang="en-US" sz="2400"/>
              <a:t> into the TLB </a:t>
            </a:r>
            <a:r>
              <a:rPr lang="en-US" sz="2400">
                <a:solidFill>
                  <a:schemeClr val="accent1"/>
                </a:solidFill>
              </a:rPr>
              <a:t>based on the page number</a:t>
            </a:r>
            <a:endParaRPr/>
          </a:p>
          <a:p>
            <a:pPr indent="-285750" lvl="1" marL="742950" rtl="0" algn="just">
              <a:spcBef>
                <a:spcPts val="480"/>
              </a:spcBef>
              <a:spcAft>
                <a:spcPts val="0"/>
              </a:spcAft>
              <a:buClr>
                <a:schemeClr val="dk1"/>
              </a:buClr>
              <a:buSzPts val="2400"/>
              <a:buChar char="–"/>
            </a:pPr>
            <a:r>
              <a:rPr lang="en-US" sz="2400"/>
              <a:t>Each TLB entry must include the </a:t>
            </a:r>
            <a:r>
              <a:rPr lang="en-US" sz="2400">
                <a:solidFill>
                  <a:schemeClr val="accent1"/>
                </a:solidFill>
              </a:rPr>
              <a:t>page number</a:t>
            </a:r>
            <a:r>
              <a:rPr lang="en-US" sz="2400"/>
              <a:t> as well as the </a:t>
            </a:r>
            <a:r>
              <a:rPr lang="en-US" sz="2400">
                <a:solidFill>
                  <a:schemeClr val="accent1"/>
                </a:solidFill>
              </a:rPr>
              <a:t>complete page table entry</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The process is able to </a:t>
            </a:r>
            <a:r>
              <a:rPr lang="en-US" sz="2400">
                <a:solidFill>
                  <a:schemeClr val="accent1"/>
                </a:solidFill>
              </a:rPr>
              <a:t>simultaneously query </a:t>
            </a:r>
            <a:r>
              <a:rPr lang="en-US" sz="2400"/>
              <a:t>numerous TLB entries to determine if there is a page number match</a:t>
            </a:r>
            <a:endParaRPr sz="24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Translation Look aside Buffer</a:t>
            </a:r>
            <a:endParaRPr/>
          </a:p>
        </p:txBody>
      </p:sp>
      <p:pic>
        <p:nvPicPr>
          <p:cNvPr descr="Fig08_09.gif" id="403" name="Google Shape;403;p36"/>
          <p:cNvPicPr preferRelativeResize="0"/>
          <p:nvPr>
            <p:ph idx="1" type="body"/>
          </p:nvPr>
        </p:nvPicPr>
        <p:blipFill rotWithShape="1">
          <a:blip r:embed="rId3">
            <a:alphaModFix/>
          </a:blip>
          <a:srcRect b="0" l="0" r="0" t="0"/>
          <a:stretch/>
        </p:blipFill>
        <p:spPr>
          <a:xfrm>
            <a:off x="76200" y="1401213"/>
            <a:ext cx="8915400" cy="545678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TLB and Cache Operation</a:t>
            </a:r>
            <a:endParaRPr/>
          </a:p>
        </p:txBody>
      </p:sp>
      <p:sp>
        <p:nvSpPr>
          <p:cNvPr id="409" name="Google Shape;409;p37"/>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i="1" lang="en-US" sz="2400"/>
              <a:t>If the </a:t>
            </a:r>
            <a:r>
              <a:rPr i="1" lang="en-US" sz="2400">
                <a:solidFill>
                  <a:schemeClr val="accent1"/>
                </a:solidFill>
              </a:rPr>
              <a:t>requested block</a:t>
            </a:r>
            <a:r>
              <a:rPr i="1" lang="en-US" sz="2400"/>
              <a:t> is present in </a:t>
            </a:r>
            <a:r>
              <a:rPr i="1" lang="en-US" sz="2400">
                <a:solidFill>
                  <a:schemeClr val="accent1"/>
                </a:solidFill>
              </a:rPr>
              <a:t>main memory cache</a:t>
            </a:r>
            <a:endParaRPr/>
          </a:p>
          <a:p>
            <a:pPr indent="-285750" lvl="1" marL="742950" rtl="0" algn="just">
              <a:spcBef>
                <a:spcPts val="480"/>
              </a:spcBef>
              <a:spcAft>
                <a:spcPts val="0"/>
              </a:spcAft>
              <a:buClr>
                <a:schemeClr val="dk1"/>
              </a:buClr>
              <a:buSzPts val="2400"/>
              <a:buChar char="–"/>
            </a:pPr>
            <a:r>
              <a:rPr i="1" lang="en-US" sz="2400"/>
              <a:t>It can be fetched quickly</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If TLB gives a </a:t>
            </a:r>
            <a:r>
              <a:rPr lang="en-US" sz="2400">
                <a:solidFill>
                  <a:schemeClr val="accent1"/>
                </a:solidFill>
              </a:rPr>
              <a:t>hit</a:t>
            </a:r>
            <a:r>
              <a:rPr lang="en-US" sz="2400"/>
              <a:t>, real address is generated directly</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If </a:t>
            </a:r>
            <a:r>
              <a:rPr lang="en-US" sz="2400">
                <a:solidFill>
                  <a:schemeClr val="accent1"/>
                </a:solidFill>
              </a:rPr>
              <a:t>TLB</a:t>
            </a:r>
            <a:r>
              <a:rPr lang="en-US" sz="2400"/>
              <a:t> gives a </a:t>
            </a:r>
            <a:r>
              <a:rPr lang="en-US" sz="2400">
                <a:solidFill>
                  <a:schemeClr val="accent1"/>
                </a:solidFill>
              </a:rPr>
              <a:t>miss</a:t>
            </a:r>
            <a:r>
              <a:rPr lang="en-US" sz="2400"/>
              <a:t> and </a:t>
            </a:r>
            <a:r>
              <a:rPr lang="en-US" sz="2400">
                <a:solidFill>
                  <a:schemeClr val="accent1"/>
                </a:solidFill>
              </a:rPr>
              <a:t>present bit is set</a:t>
            </a:r>
            <a:r>
              <a:rPr lang="en-US" sz="2400"/>
              <a:t>, address is generated using </a:t>
            </a:r>
            <a:r>
              <a:rPr lang="en-US" sz="2400">
                <a:solidFill>
                  <a:schemeClr val="accent1"/>
                </a:solidFill>
              </a:rPr>
              <a:t>page table</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Then a </a:t>
            </a:r>
            <a:r>
              <a:rPr lang="en-US" sz="2400">
                <a:solidFill>
                  <a:schemeClr val="accent1"/>
                </a:solidFill>
              </a:rPr>
              <a:t>check is done </a:t>
            </a:r>
            <a:r>
              <a:rPr lang="en-US" sz="2400"/>
              <a:t>with the </a:t>
            </a:r>
            <a:r>
              <a:rPr lang="en-US" sz="2400">
                <a:solidFill>
                  <a:schemeClr val="accent1"/>
                </a:solidFill>
              </a:rPr>
              <a:t>MM cache</a:t>
            </a:r>
            <a:endParaRPr/>
          </a:p>
          <a:p>
            <a:pPr indent="-285750" lvl="1" marL="742950" rtl="0" algn="just">
              <a:spcBef>
                <a:spcPts val="480"/>
              </a:spcBef>
              <a:spcAft>
                <a:spcPts val="0"/>
              </a:spcAft>
              <a:buClr>
                <a:schemeClr val="dk1"/>
              </a:buClr>
              <a:buSzPts val="2400"/>
              <a:buChar char="–"/>
            </a:pPr>
            <a:r>
              <a:rPr lang="en-US" sz="2400"/>
              <a:t>If match found then record is fetched directly</a:t>
            </a:r>
            <a:endParaRPr sz="24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TLB and Cache Operation</a:t>
            </a:r>
            <a:endParaRPr/>
          </a:p>
        </p:txBody>
      </p:sp>
      <p:pic>
        <p:nvPicPr>
          <p:cNvPr descr="Fig08_10.gif" id="416" name="Google Shape;416;p38"/>
          <p:cNvPicPr preferRelativeResize="0"/>
          <p:nvPr>
            <p:ph idx="1" type="body"/>
          </p:nvPr>
        </p:nvPicPr>
        <p:blipFill rotWithShape="1">
          <a:blip r:embed="rId3">
            <a:alphaModFix/>
          </a:blip>
          <a:srcRect b="0" l="0" r="0" t="0"/>
          <a:stretch/>
        </p:blipFill>
        <p:spPr>
          <a:xfrm>
            <a:off x="76200" y="1530402"/>
            <a:ext cx="8915400" cy="532759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Spare A Thought!</a:t>
            </a:r>
            <a:endParaRPr/>
          </a:p>
        </p:txBody>
      </p:sp>
      <p:sp>
        <p:nvSpPr>
          <p:cNvPr id="422" name="Google Shape;422;p39"/>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800"/>
              <a:buChar char="•"/>
            </a:pPr>
            <a:r>
              <a:rPr lang="en-US" sz="2800"/>
              <a:t>Think about the complexity of CPU hardware</a:t>
            </a:r>
            <a:endParaRPr/>
          </a:p>
          <a:p>
            <a:pPr indent="-165100" lvl="0" marL="342900" rtl="0" algn="just">
              <a:spcBef>
                <a:spcPts val="560"/>
              </a:spcBef>
              <a:spcAft>
                <a:spcPts val="0"/>
              </a:spcAft>
              <a:buClr>
                <a:schemeClr val="dk1"/>
              </a:buClr>
              <a:buSzPts val="2800"/>
              <a:buNone/>
            </a:pPr>
            <a:r>
              <a:t/>
            </a:r>
            <a:endParaRPr sz="2800"/>
          </a:p>
          <a:p>
            <a:pPr indent="-342900" lvl="0" marL="342900" rtl="0" algn="just">
              <a:spcBef>
                <a:spcPts val="560"/>
              </a:spcBef>
              <a:spcAft>
                <a:spcPts val="0"/>
              </a:spcAft>
              <a:buClr>
                <a:schemeClr val="dk1"/>
              </a:buClr>
              <a:buSzPts val="2800"/>
              <a:buChar char="•"/>
            </a:pPr>
            <a:r>
              <a:rPr lang="en-US" sz="2800"/>
              <a:t>A PTE can be in TLB / MM / SM</a:t>
            </a:r>
            <a:endParaRPr/>
          </a:p>
          <a:p>
            <a:pPr indent="-165100" lvl="0" marL="342900" rtl="0" algn="just">
              <a:spcBef>
                <a:spcPts val="560"/>
              </a:spcBef>
              <a:spcAft>
                <a:spcPts val="0"/>
              </a:spcAft>
              <a:buClr>
                <a:schemeClr val="dk1"/>
              </a:buClr>
              <a:buSzPts val="2800"/>
              <a:buNone/>
            </a:pPr>
            <a:r>
              <a:t/>
            </a:r>
            <a:endParaRPr sz="2800"/>
          </a:p>
          <a:p>
            <a:pPr indent="-342900" lvl="0" marL="342900" rtl="0" algn="just">
              <a:spcBef>
                <a:spcPts val="560"/>
              </a:spcBef>
              <a:spcAft>
                <a:spcPts val="0"/>
              </a:spcAft>
              <a:buClr>
                <a:schemeClr val="dk1"/>
              </a:buClr>
              <a:buSzPts val="2800"/>
              <a:buChar char="•"/>
            </a:pPr>
            <a:r>
              <a:rPr lang="en-US" sz="2800"/>
              <a:t>A Record can be in Cache / MM / SM</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Page Size</a:t>
            </a:r>
            <a:endParaRPr/>
          </a:p>
        </p:txBody>
      </p:sp>
      <p:sp>
        <p:nvSpPr>
          <p:cNvPr id="429" name="Google Shape;429;p40"/>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Decision on page size is very crucial</a:t>
            </a:r>
            <a:endParaRPr/>
          </a:p>
          <a:p>
            <a:pPr indent="-342900" lvl="0" marL="342900" rtl="0" algn="just">
              <a:spcBef>
                <a:spcPts val="480"/>
              </a:spcBef>
              <a:spcAft>
                <a:spcPts val="0"/>
              </a:spcAft>
              <a:buClr>
                <a:schemeClr val="accent1"/>
              </a:buClr>
              <a:buSzPts val="2400"/>
              <a:buChar char="•"/>
            </a:pPr>
            <a:r>
              <a:rPr b="1" lang="en-US" sz="2400" u="sng">
                <a:solidFill>
                  <a:schemeClr val="accent1"/>
                </a:solidFill>
              </a:rPr>
              <a:t>Smaller page size:</a:t>
            </a:r>
            <a:endParaRPr/>
          </a:p>
          <a:p>
            <a:pPr indent="-285750" lvl="1" marL="742950" rtl="0" algn="just">
              <a:spcBef>
                <a:spcPts val="480"/>
              </a:spcBef>
              <a:spcAft>
                <a:spcPts val="0"/>
              </a:spcAft>
              <a:buClr>
                <a:schemeClr val="accent1"/>
              </a:buClr>
              <a:buSzPts val="2400"/>
              <a:buChar char="–"/>
            </a:pPr>
            <a:r>
              <a:rPr lang="en-US" sz="2400">
                <a:solidFill>
                  <a:schemeClr val="accent1"/>
                </a:solidFill>
              </a:rPr>
              <a:t>Less</a:t>
            </a:r>
            <a:r>
              <a:rPr lang="en-US" sz="2400"/>
              <a:t> amount of </a:t>
            </a:r>
            <a:r>
              <a:rPr lang="en-US" sz="2400">
                <a:solidFill>
                  <a:schemeClr val="accent1"/>
                </a:solidFill>
              </a:rPr>
              <a:t>internal fragmentation</a:t>
            </a:r>
            <a:endParaRPr/>
          </a:p>
          <a:p>
            <a:pPr indent="-285750" lvl="1" marL="742950" rtl="0" algn="just">
              <a:spcBef>
                <a:spcPts val="480"/>
              </a:spcBef>
              <a:spcAft>
                <a:spcPts val="0"/>
              </a:spcAft>
              <a:buClr>
                <a:schemeClr val="dk1"/>
              </a:buClr>
              <a:buSzPts val="2400"/>
              <a:buChar char="–"/>
            </a:pPr>
            <a:r>
              <a:rPr lang="en-US" sz="2400"/>
              <a:t>But </a:t>
            </a:r>
            <a:r>
              <a:rPr lang="en-US" sz="2400">
                <a:solidFill>
                  <a:schemeClr val="accent1"/>
                </a:solidFill>
              </a:rPr>
              <a:t>more pages </a:t>
            </a:r>
            <a:r>
              <a:rPr lang="en-US" sz="2400"/>
              <a:t>required </a:t>
            </a:r>
            <a:r>
              <a:rPr lang="en-US" sz="2400">
                <a:solidFill>
                  <a:schemeClr val="accent1"/>
                </a:solidFill>
              </a:rPr>
              <a:t>per process</a:t>
            </a:r>
            <a:endParaRPr/>
          </a:p>
          <a:p>
            <a:pPr indent="-228600" lvl="2" marL="1143000" rtl="0" algn="just">
              <a:spcBef>
                <a:spcPts val="480"/>
              </a:spcBef>
              <a:spcAft>
                <a:spcPts val="0"/>
              </a:spcAft>
              <a:buClr>
                <a:schemeClr val="dk1"/>
              </a:buClr>
              <a:buSzPts val="2400"/>
              <a:buChar char="•"/>
            </a:pPr>
            <a:r>
              <a:rPr lang="en-US"/>
              <a:t>More pages per process means larger page tables</a:t>
            </a:r>
            <a:endParaRPr/>
          </a:p>
          <a:p>
            <a:pPr indent="-228600" lvl="2" marL="1143000" rtl="0" algn="just">
              <a:spcBef>
                <a:spcPts val="480"/>
              </a:spcBef>
              <a:spcAft>
                <a:spcPts val="0"/>
              </a:spcAft>
              <a:buClr>
                <a:schemeClr val="dk1"/>
              </a:buClr>
              <a:buSzPts val="2400"/>
              <a:buChar char="•"/>
            </a:pPr>
            <a:r>
              <a:rPr lang="en-US"/>
              <a:t>Larger page tables means large portion of page tables in virtual memory</a:t>
            </a:r>
            <a:endParaRPr/>
          </a:p>
          <a:p>
            <a:pPr indent="-342900" lvl="0" marL="342900" rtl="0" algn="just">
              <a:spcBef>
                <a:spcPts val="480"/>
              </a:spcBef>
              <a:spcAft>
                <a:spcPts val="0"/>
              </a:spcAft>
              <a:buClr>
                <a:schemeClr val="accent1"/>
              </a:buClr>
              <a:buSzPts val="2400"/>
              <a:buChar char="•"/>
            </a:pPr>
            <a:r>
              <a:rPr b="1" lang="en-US" sz="2400" u="sng">
                <a:solidFill>
                  <a:schemeClr val="accent1"/>
                </a:solidFill>
              </a:rPr>
              <a:t>Larger page size:</a:t>
            </a:r>
            <a:endParaRPr/>
          </a:p>
          <a:p>
            <a:pPr indent="-285750" lvl="1" marL="742950" rtl="0" algn="just">
              <a:spcBef>
                <a:spcPts val="480"/>
              </a:spcBef>
              <a:spcAft>
                <a:spcPts val="0"/>
              </a:spcAft>
              <a:buClr>
                <a:schemeClr val="dk1"/>
              </a:buClr>
              <a:buSzPts val="2400"/>
              <a:buChar char="–"/>
            </a:pPr>
            <a:r>
              <a:rPr lang="en-US" sz="2400"/>
              <a:t>Preferable for secondary memory (block data transfer can be used)</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t>Further complications to Page Size</a:t>
            </a:r>
            <a:endParaRPr sz="3200"/>
          </a:p>
        </p:txBody>
      </p:sp>
      <p:sp>
        <p:nvSpPr>
          <p:cNvPr id="436" name="Google Shape;436;p41"/>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Initially </a:t>
            </a:r>
            <a:r>
              <a:rPr lang="en-US" sz="2400">
                <a:solidFill>
                  <a:schemeClr val="accent1"/>
                </a:solidFill>
              </a:rPr>
              <a:t>large number of pages </a:t>
            </a:r>
            <a:r>
              <a:rPr lang="en-US" sz="2400"/>
              <a:t>are available for a process if page size is </a:t>
            </a:r>
            <a:r>
              <a:rPr lang="en-US" sz="2400">
                <a:solidFill>
                  <a:schemeClr val="accent1"/>
                </a:solidFill>
              </a:rPr>
              <a:t>small</a:t>
            </a:r>
            <a:endParaRPr/>
          </a:p>
          <a:p>
            <a:pPr indent="-285750" lvl="1" marL="742950" rtl="0" algn="just">
              <a:spcBef>
                <a:spcPts val="480"/>
              </a:spcBef>
              <a:spcAft>
                <a:spcPts val="0"/>
              </a:spcAft>
              <a:buClr>
                <a:schemeClr val="accent1"/>
              </a:buClr>
              <a:buSzPts val="2400"/>
              <a:buChar char="–"/>
            </a:pPr>
            <a:r>
              <a:rPr lang="en-US" sz="2400">
                <a:solidFill>
                  <a:schemeClr val="accent1"/>
                </a:solidFill>
              </a:rPr>
              <a:t>Page fault rate </a:t>
            </a:r>
            <a:r>
              <a:rPr lang="en-US" sz="2400"/>
              <a:t>will be </a:t>
            </a:r>
            <a:r>
              <a:rPr lang="en-US" sz="2400">
                <a:solidFill>
                  <a:schemeClr val="accent1"/>
                </a:solidFill>
              </a:rPr>
              <a:t>low</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As the </a:t>
            </a:r>
            <a:r>
              <a:rPr lang="en-US" sz="2400">
                <a:solidFill>
                  <a:schemeClr val="accent1"/>
                </a:solidFill>
              </a:rPr>
              <a:t>page size </a:t>
            </a:r>
            <a:r>
              <a:rPr lang="en-US" sz="2400"/>
              <a:t>is </a:t>
            </a:r>
            <a:r>
              <a:rPr lang="en-US" sz="2400">
                <a:solidFill>
                  <a:schemeClr val="accent1"/>
                </a:solidFill>
              </a:rPr>
              <a:t>increased</a:t>
            </a:r>
            <a:endParaRPr/>
          </a:p>
          <a:p>
            <a:pPr indent="-285750" lvl="1" marL="742950" rtl="0" algn="just">
              <a:spcBef>
                <a:spcPts val="480"/>
              </a:spcBef>
              <a:spcAft>
                <a:spcPts val="0"/>
              </a:spcAft>
              <a:buClr>
                <a:schemeClr val="accent1"/>
              </a:buClr>
              <a:buSzPts val="2400"/>
              <a:buChar char="–"/>
            </a:pPr>
            <a:r>
              <a:rPr lang="en-US" sz="2400">
                <a:solidFill>
                  <a:schemeClr val="accent1"/>
                </a:solidFill>
              </a:rPr>
              <a:t>Page fault rate </a:t>
            </a:r>
            <a:r>
              <a:rPr lang="en-US" sz="2400"/>
              <a:t>will also </a:t>
            </a:r>
            <a:r>
              <a:rPr lang="en-US" sz="2400">
                <a:solidFill>
                  <a:schemeClr val="accent1"/>
                </a:solidFill>
              </a:rPr>
              <a:t>increase</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When </a:t>
            </a:r>
            <a:r>
              <a:rPr lang="en-US" sz="2400">
                <a:solidFill>
                  <a:schemeClr val="accent1"/>
                </a:solidFill>
              </a:rPr>
              <a:t>page size </a:t>
            </a:r>
            <a:r>
              <a:rPr lang="en-US" sz="2400"/>
              <a:t>becomes equal to </a:t>
            </a:r>
            <a:r>
              <a:rPr lang="en-US" sz="2400">
                <a:solidFill>
                  <a:schemeClr val="accent1"/>
                </a:solidFill>
              </a:rPr>
              <a:t>size of process</a:t>
            </a:r>
            <a:endParaRPr/>
          </a:p>
          <a:p>
            <a:pPr indent="-285750" lvl="1" marL="742950" rtl="0" algn="just">
              <a:spcBef>
                <a:spcPts val="480"/>
              </a:spcBef>
              <a:spcAft>
                <a:spcPts val="0"/>
              </a:spcAft>
              <a:buClr>
                <a:schemeClr val="accent1"/>
              </a:buClr>
              <a:buSzPts val="2400"/>
              <a:buChar char="–"/>
            </a:pPr>
            <a:r>
              <a:rPr lang="en-US" sz="2400">
                <a:solidFill>
                  <a:schemeClr val="accent1"/>
                </a:solidFill>
              </a:rPr>
              <a:t>Page fault rate </a:t>
            </a:r>
            <a:r>
              <a:rPr lang="en-US" sz="2400"/>
              <a:t>will be </a:t>
            </a:r>
            <a:r>
              <a:rPr lang="en-US" sz="2400">
                <a:solidFill>
                  <a:schemeClr val="accent1"/>
                </a:solidFill>
              </a:rPr>
              <a:t>zero</a:t>
            </a:r>
            <a:endParaRPr sz="2400">
              <a:solidFill>
                <a:schemeClr val="accent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Page Size </a:t>
            </a:r>
            <a:endParaRPr/>
          </a:p>
        </p:txBody>
      </p:sp>
      <p:sp>
        <p:nvSpPr>
          <p:cNvPr id="442" name="Google Shape;442;p42"/>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lang="en-US" sz="2400">
                <a:solidFill>
                  <a:schemeClr val="accent1"/>
                </a:solidFill>
              </a:rPr>
              <a:t>Page fault rate </a:t>
            </a:r>
            <a:r>
              <a:rPr lang="en-US" sz="2400"/>
              <a:t>is also determined by the </a:t>
            </a:r>
            <a:r>
              <a:rPr lang="en-US" sz="2400">
                <a:solidFill>
                  <a:schemeClr val="accent1"/>
                </a:solidFill>
              </a:rPr>
              <a:t>number of frames allocated </a:t>
            </a:r>
            <a:r>
              <a:rPr lang="en-US" sz="2400"/>
              <a:t>to a process</a:t>
            </a:r>
            <a:endParaRPr/>
          </a:p>
          <a:p>
            <a:pPr indent="-190500" lvl="0" marL="342900" rtl="0" algn="just">
              <a:spcBef>
                <a:spcPts val="480"/>
              </a:spcBef>
              <a:spcAft>
                <a:spcPts val="0"/>
              </a:spcAft>
              <a:buClr>
                <a:schemeClr val="dk1"/>
              </a:buClr>
              <a:buSzPts val="2400"/>
              <a:buNone/>
            </a:pPr>
            <a:r>
              <a:t/>
            </a:r>
            <a:endParaRPr sz="2400"/>
          </a:p>
          <a:p>
            <a:pPr indent="-285750" lvl="1" marL="742950" rtl="0" algn="just">
              <a:spcBef>
                <a:spcPts val="480"/>
              </a:spcBef>
              <a:spcAft>
                <a:spcPts val="0"/>
              </a:spcAft>
              <a:buClr>
                <a:schemeClr val="dk1"/>
              </a:buClr>
              <a:buSzPts val="2400"/>
              <a:buChar char="–"/>
            </a:pPr>
            <a:r>
              <a:rPr lang="en-US" sz="2400"/>
              <a:t>For a </a:t>
            </a:r>
            <a:r>
              <a:rPr lang="en-US" sz="2400">
                <a:solidFill>
                  <a:schemeClr val="accent1"/>
                </a:solidFill>
              </a:rPr>
              <a:t>fixed page size</a:t>
            </a:r>
            <a:r>
              <a:rPr lang="en-US" sz="2400"/>
              <a:t>, the </a:t>
            </a:r>
            <a:r>
              <a:rPr lang="en-US" sz="2400">
                <a:solidFill>
                  <a:schemeClr val="accent1"/>
                </a:solidFill>
              </a:rPr>
              <a:t>fault rate drops </a:t>
            </a:r>
            <a:r>
              <a:rPr lang="en-US" sz="2400"/>
              <a:t>as the </a:t>
            </a:r>
            <a:r>
              <a:rPr lang="en-US" sz="2400">
                <a:solidFill>
                  <a:schemeClr val="accent1"/>
                </a:solidFill>
              </a:rPr>
              <a:t>number of pages </a:t>
            </a:r>
            <a:r>
              <a:rPr lang="en-US" sz="2400"/>
              <a:t>maintained in main memory </a:t>
            </a:r>
            <a:r>
              <a:rPr lang="en-US" sz="2400">
                <a:solidFill>
                  <a:schemeClr val="accent1"/>
                </a:solidFill>
              </a:rPr>
              <a:t>grows</a:t>
            </a:r>
            <a:endParaRPr sz="2400">
              <a:solidFill>
                <a:schemeClr val="accent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Page Size</a:t>
            </a:r>
            <a:endParaRPr/>
          </a:p>
        </p:txBody>
      </p:sp>
      <p:pic>
        <p:nvPicPr>
          <p:cNvPr descr="Fig08_11.gif" id="449" name="Google Shape;449;p43"/>
          <p:cNvPicPr preferRelativeResize="0"/>
          <p:nvPr>
            <p:ph idx="1" type="body"/>
          </p:nvPr>
        </p:nvPicPr>
        <p:blipFill rotWithShape="1">
          <a:blip r:embed="rId3">
            <a:alphaModFix/>
          </a:blip>
          <a:srcRect b="0" l="0" r="0" t="0"/>
          <a:stretch/>
        </p:blipFill>
        <p:spPr>
          <a:xfrm>
            <a:off x="437174" y="1295400"/>
            <a:ext cx="8509351" cy="54102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Example Page Size</a:t>
            </a:r>
            <a:endParaRPr/>
          </a:p>
        </p:txBody>
      </p:sp>
      <p:pic>
        <p:nvPicPr>
          <p:cNvPr descr="Table08_03.gif" id="456" name="Google Shape;456;p44"/>
          <p:cNvPicPr preferRelativeResize="0"/>
          <p:nvPr>
            <p:ph idx="1" type="body"/>
          </p:nvPr>
        </p:nvPicPr>
        <p:blipFill rotWithShape="1">
          <a:blip r:embed="rId3">
            <a:alphaModFix/>
          </a:blip>
          <a:srcRect b="0" l="0" r="0" t="0"/>
          <a:stretch/>
        </p:blipFill>
        <p:spPr>
          <a:xfrm>
            <a:off x="1143000" y="1219200"/>
            <a:ext cx="6934199" cy="549245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Discussion on Page Size</a:t>
            </a:r>
            <a:endParaRPr/>
          </a:p>
        </p:txBody>
      </p:sp>
      <p:sp>
        <p:nvSpPr>
          <p:cNvPr id="462" name="Google Shape;462;p45"/>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Page size design relates to</a:t>
            </a:r>
            <a:endParaRPr/>
          </a:p>
          <a:p>
            <a:pPr indent="-285750" lvl="1" marL="742950" rtl="0" algn="just">
              <a:spcBef>
                <a:spcPts val="480"/>
              </a:spcBef>
              <a:spcAft>
                <a:spcPts val="0"/>
              </a:spcAft>
              <a:buClr>
                <a:schemeClr val="accent1"/>
              </a:buClr>
              <a:buSzPts val="2400"/>
              <a:buChar char="–"/>
            </a:pPr>
            <a:r>
              <a:rPr lang="en-US" sz="2400">
                <a:solidFill>
                  <a:schemeClr val="accent1"/>
                </a:solidFill>
              </a:rPr>
              <a:t>Physical memory size</a:t>
            </a:r>
            <a:endParaRPr/>
          </a:p>
          <a:p>
            <a:pPr indent="-285750" lvl="1" marL="742950" rtl="0" algn="just">
              <a:spcBef>
                <a:spcPts val="480"/>
              </a:spcBef>
              <a:spcAft>
                <a:spcPts val="0"/>
              </a:spcAft>
              <a:buClr>
                <a:schemeClr val="accent1"/>
              </a:buClr>
              <a:buSzPts val="2400"/>
              <a:buChar char="–"/>
            </a:pPr>
            <a:r>
              <a:rPr lang="en-US" sz="2400">
                <a:solidFill>
                  <a:schemeClr val="accent1"/>
                </a:solidFill>
              </a:rPr>
              <a:t>Program size</a:t>
            </a:r>
            <a:endParaRPr/>
          </a:p>
          <a:p>
            <a:pPr indent="-190500" lvl="0" marL="342900" rtl="0" algn="just">
              <a:spcBef>
                <a:spcPts val="480"/>
              </a:spcBef>
              <a:spcAft>
                <a:spcPts val="0"/>
              </a:spcAft>
              <a:buClr>
                <a:schemeClr val="dk1"/>
              </a:buClr>
              <a:buSzPts val="2400"/>
              <a:buNone/>
            </a:pPr>
            <a:r>
              <a:t/>
            </a:r>
            <a:endParaRPr sz="2400">
              <a:solidFill>
                <a:schemeClr val="accent1"/>
              </a:solidFill>
            </a:endParaRPr>
          </a:p>
          <a:p>
            <a:pPr indent="-342900" lvl="0" marL="342900" rtl="0" algn="just">
              <a:spcBef>
                <a:spcPts val="480"/>
              </a:spcBef>
              <a:spcAft>
                <a:spcPts val="0"/>
              </a:spcAft>
              <a:buClr>
                <a:schemeClr val="accent1"/>
              </a:buClr>
              <a:buSzPts val="2400"/>
              <a:buChar char="•"/>
            </a:pPr>
            <a:r>
              <a:rPr lang="en-US" sz="2400">
                <a:solidFill>
                  <a:schemeClr val="accent1"/>
                </a:solidFill>
              </a:rPr>
              <a:t>Main memory </a:t>
            </a:r>
            <a:r>
              <a:rPr lang="en-US" sz="2400"/>
              <a:t>is getting </a:t>
            </a:r>
            <a:r>
              <a:rPr lang="en-US" sz="2400">
                <a:solidFill>
                  <a:schemeClr val="accent1"/>
                </a:solidFill>
              </a:rPr>
              <a:t>larger</a:t>
            </a:r>
            <a:r>
              <a:rPr lang="en-US" sz="2400"/>
              <a:t>, </a:t>
            </a:r>
            <a:r>
              <a:rPr lang="en-US" sz="2400">
                <a:solidFill>
                  <a:schemeClr val="accent1"/>
                </a:solidFill>
              </a:rPr>
              <a:t>application size </a:t>
            </a:r>
            <a:r>
              <a:rPr lang="en-US" sz="2400"/>
              <a:t>is also </a:t>
            </a:r>
            <a:r>
              <a:rPr lang="en-US" sz="2400">
                <a:solidFill>
                  <a:schemeClr val="accent1"/>
                </a:solidFill>
              </a:rPr>
              <a:t>increasing</a:t>
            </a:r>
            <a:endParaRPr/>
          </a:p>
          <a:p>
            <a:pPr indent="-285750" lvl="1" marL="742950" rtl="0" algn="just">
              <a:spcBef>
                <a:spcPts val="480"/>
              </a:spcBef>
              <a:spcAft>
                <a:spcPts val="0"/>
              </a:spcAft>
              <a:buClr>
                <a:schemeClr val="accent1"/>
              </a:buClr>
              <a:buSzPts val="2400"/>
              <a:buChar char="–"/>
            </a:pPr>
            <a:r>
              <a:rPr lang="en-US" sz="2400">
                <a:solidFill>
                  <a:schemeClr val="accent1"/>
                </a:solidFill>
              </a:rPr>
              <a:t>OOP</a:t>
            </a:r>
            <a:r>
              <a:rPr lang="en-US" sz="2400"/>
              <a:t> encourages the use of many </a:t>
            </a:r>
            <a:r>
              <a:rPr lang="en-US" sz="2400">
                <a:solidFill>
                  <a:schemeClr val="accent1"/>
                </a:solidFill>
              </a:rPr>
              <a:t>small modules </a:t>
            </a:r>
            <a:r>
              <a:rPr lang="en-US" sz="2400"/>
              <a:t>and their </a:t>
            </a:r>
            <a:r>
              <a:rPr lang="en-US" sz="2400">
                <a:solidFill>
                  <a:schemeClr val="accent1"/>
                </a:solidFill>
              </a:rPr>
              <a:t>references are scattered </a:t>
            </a:r>
            <a:r>
              <a:rPr lang="en-US" sz="2400"/>
              <a:t>over large number of </a:t>
            </a:r>
            <a:r>
              <a:rPr lang="en-US" sz="2400">
                <a:solidFill>
                  <a:schemeClr val="accent1"/>
                </a:solidFill>
              </a:rPr>
              <a:t>objects</a:t>
            </a:r>
            <a:r>
              <a:rPr lang="en-US" sz="2400"/>
              <a:t> for a </a:t>
            </a:r>
            <a:r>
              <a:rPr lang="en-US" sz="2400">
                <a:solidFill>
                  <a:schemeClr val="accent1"/>
                </a:solidFill>
              </a:rPr>
              <a:t>short period of time</a:t>
            </a:r>
            <a:endParaRPr/>
          </a:p>
          <a:p>
            <a:pPr indent="-285750" lvl="1" marL="742950" rtl="0" algn="just">
              <a:spcBef>
                <a:spcPts val="480"/>
              </a:spcBef>
              <a:spcAft>
                <a:spcPts val="0"/>
              </a:spcAft>
              <a:buClr>
                <a:schemeClr val="accent1"/>
              </a:buClr>
              <a:buSzPts val="2400"/>
              <a:buChar char="–"/>
            </a:pPr>
            <a:r>
              <a:rPr lang="en-US" sz="2400">
                <a:solidFill>
                  <a:schemeClr val="accent1"/>
                </a:solidFill>
              </a:rPr>
              <a:t>Multithreaded applications </a:t>
            </a:r>
            <a:r>
              <a:rPr lang="en-US" sz="2400"/>
              <a:t>may result in </a:t>
            </a:r>
            <a:r>
              <a:rPr lang="en-US" sz="2400">
                <a:solidFill>
                  <a:schemeClr val="accent1"/>
                </a:solidFill>
              </a:rPr>
              <a:t>abrupt changes</a:t>
            </a:r>
            <a:r>
              <a:rPr lang="en-US" sz="2400"/>
              <a:t> in instructions executions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Discussion on Page Size</a:t>
            </a:r>
            <a:endParaRPr/>
          </a:p>
        </p:txBody>
      </p:sp>
      <p:sp>
        <p:nvSpPr>
          <p:cNvPr id="468" name="Google Shape;468;p46"/>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In both the cases mentioned in previous slide, </a:t>
            </a:r>
            <a:r>
              <a:rPr lang="en-US" sz="2400">
                <a:solidFill>
                  <a:schemeClr val="accent1"/>
                </a:solidFill>
              </a:rPr>
              <a:t>POL gets weaker</a:t>
            </a:r>
            <a:endParaRPr/>
          </a:p>
          <a:p>
            <a:pPr indent="-285750" lvl="1" marL="742950" rtl="0" algn="just">
              <a:spcBef>
                <a:spcPts val="480"/>
              </a:spcBef>
              <a:spcAft>
                <a:spcPts val="0"/>
              </a:spcAft>
              <a:buClr>
                <a:schemeClr val="accent1"/>
              </a:buClr>
              <a:buSzPts val="2400"/>
              <a:buChar char="–"/>
            </a:pPr>
            <a:r>
              <a:rPr lang="en-US" sz="2400">
                <a:solidFill>
                  <a:schemeClr val="accent1"/>
                </a:solidFill>
              </a:rPr>
              <a:t>Smaller TLB </a:t>
            </a:r>
            <a:r>
              <a:rPr lang="en-US" sz="2400"/>
              <a:t>won’t be suitable</a:t>
            </a:r>
            <a:endParaRPr/>
          </a:p>
          <a:p>
            <a:pPr indent="-133350" lvl="1" marL="742950" rtl="0" algn="just">
              <a:spcBef>
                <a:spcPts val="480"/>
              </a:spcBef>
              <a:spcAft>
                <a:spcPts val="0"/>
              </a:spcAft>
              <a:buClr>
                <a:schemeClr val="dk1"/>
              </a:buClr>
              <a:buSzPts val="2400"/>
              <a:buNone/>
            </a:pPr>
            <a:r>
              <a:t/>
            </a:r>
            <a:endParaRPr sz="2400"/>
          </a:p>
          <a:p>
            <a:pPr indent="-285750" lvl="1" marL="742950" rtl="0" algn="just">
              <a:spcBef>
                <a:spcPts val="480"/>
              </a:spcBef>
              <a:spcAft>
                <a:spcPts val="0"/>
              </a:spcAft>
              <a:buClr>
                <a:schemeClr val="dk1"/>
              </a:buClr>
              <a:buSzPts val="2400"/>
              <a:buChar char="–"/>
            </a:pPr>
            <a:r>
              <a:rPr lang="en-US" sz="2400"/>
              <a:t>If we opt for </a:t>
            </a:r>
            <a:r>
              <a:rPr lang="en-US" sz="2400">
                <a:solidFill>
                  <a:schemeClr val="accent1"/>
                </a:solidFill>
              </a:rPr>
              <a:t>larger TLB</a:t>
            </a:r>
            <a:endParaRPr/>
          </a:p>
          <a:p>
            <a:pPr indent="-228600" lvl="2" marL="1143000" rtl="0" algn="just">
              <a:spcBef>
                <a:spcPts val="480"/>
              </a:spcBef>
              <a:spcAft>
                <a:spcPts val="0"/>
              </a:spcAft>
              <a:buClr>
                <a:schemeClr val="dk1"/>
              </a:buClr>
              <a:buSzPts val="2400"/>
              <a:buChar char="•"/>
            </a:pPr>
            <a:r>
              <a:rPr lang="en-US"/>
              <a:t>It will complicate the hardware</a:t>
            </a:r>
            <a:endParaRPr/>
          </a:p>
          <a:p>
            <a:pPr indent="-133350" lvl="1" marL="742950" rtl="0" algn="just">
              <a:spcBef>
                <a:spcPts val="480"/>
              </a:spcBef>
              <a:spcAft>
                <a:spcPts val="0"/>
              </a:spcAft>
              <a:buClr>
                <a:schemeClr val="dk1"/>
              </a:buClr>
              <a:buSzPts val="2400"/>
              <a:buNone/>
            </a:pPr>
            <a:r>
              <a:t/>
            </a:r>
            <a:endParaRPr sz="2400"/>
          </a:p>
          <a:p>
            <a:pPr indent="-285750" lvl="1" marL="742950" rtl="0" algn="just">
              <a:spcBef>
                <a:spcPts val="480"/>
              </a:spcBef>
              <a:spcAft>
                <a:spcPts val="0"/>
              </a:spcAft>
              <a:buClr>
                <a:schemeClr val="dk1"/>
              </a:buClr>
              <a:buSzPts val="2400"/>
              <a:buChar char="–"/>
            </a:pPr>
            <a:r>
              <a:rPr lang="en-US" sz="2400"/>
              <a:t>If we opt for </a:t>
            </a:r>
            <a:r>
              <a:rPr lang="en-US" sz="2400">
                <a:solidFill>
                  <a:schemeClr val="accent1"/>
                </a:solidFill>
              </a:rPr>
              <a:t>large page size</a:t>
            </a:r>
            <a:endParaRPr/>
          </a:p>
          <a:p>
            <a:pPr indent="-228600" lvl="2" marL="1143000" rtl="0" algn="just">
              <a:spcBef>
                <a:spcPts val="480"/>
              </a:spcBef>
              <a:spcAft>
                <a:spcPts val="0"/>
              </a:spcAft>
              <a:buClr>
                <a:schemeClr val="dk1"/>
              </a:buClr>
              <a:buSzPts val="2400"/>
              <a:buChar char="•"/>
            </a:pPr>
            <a:r>
              <a:rPr lang="en-US"/>
              <a:t>Performance will not be good</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Segmentation and VM</a:t>
            </a:r>
            <a:endParaRPr/>
          </a:p>
        </p:txBody>
      </p:sp>
      <p:sp>
        <p:nvSpPr>
          <p:cNvPr id="475" name="Google Shape;475;p47"/>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Segmentation allows the </a:t>
            </a:r>
            <a:r>
              <a:rPr lang="en-US" sz="2400">
                <a:solidFill>
                  <a:schemeClr val="accent1"/>
                </a:solidFill>
              </a:rPr>
              <a:t>programmer</a:t>
            </a:r>
            <a:r>
              <a:rPr lang="en-US" sz="2400"/>
              <a:t> to </a:t>
            </a:r>
            <a:r>
              <a:rPr lang="en-US" sz="2400">
                <a:solidFill>
                  <a:schemeClr val="accent1"/>
                </a:solidFill>
              </a:rPr>
              <a:t>view memory</a:t>
            </a:r>
            <a:r>
              <a:rPr lang="en-US" sz="2400"/>
              <a:t> as consisting of multiple address spaces or </a:t>
            </a:r>
            <a:r>
              <a:rPr lang="en-US" sz="2400">
                <a:solidFill>
                  <a:schemeClr val="accent1"/>
                </a:solidFill>
              </a:rPr>
              <a:t>segments</a:t>
            </a:r>
            <a:r>
              <a:rPr lang="en-US" sz="2400"/>
              <a:t>.</a:t>
            </a:r>
            <a:endParaRPr/>
          </a:p>
          <a:p>
            <a:pPr indent="-133350" lvl="1" marL="742950" rtl="0" algn="just">
              <a:spcBef>
                <a:spcPts val="480"/>
              </a:spcBef>
              <a:spcAft>
                <a:spcPts val="0"/>
              </a:spcAft>
              <a:buClr>
                <a:schemeClr val="dk1"/>
              </a:buClr>
              <a:buSzPts val="2400"/>
              <a:buNone/>
            </a:pPr>
            <a:r>
              <a:t/>
            </a:r>
            <a:endParaRPr sz="2400"/>
          </a:p>
          <a:p>
            <a:pPr indent="-285750" lvl="1" marL="742950" rtl="0" algn="just">
              <a:spcBef>
                <a:spcPts val="480"/>
              </a:spcBef>
              <a:spcAft>
                <a:spcPts val="0"/>
              </a:spcAft>
              <a:buClr>
                <a:schemeClr val="dk1"/>
              </a:buClr>
              <a:buSzPts val="2400"/>
              <a:buChar char="–"/>
            </a:pPr>
            <a:r>
              <a:rPr lang="en-US" sz="2400"/>
              <a:t>May be </a:t>
            </a:r>
            <a:r>
              <a:rPr lang="en-US" sz="2400">
                <a:solidFill>
                  <a:schemeClr val="accent1"/>
                </a:solidFill>
              </a:rPr>
              <a:t>unequal</a:t>
            </a:r>
            <a:r>
              <a:rPr lang="en-US" sz="2400"/>
              <a:t>, dynamic size</a:t>
            </a:r>
            <a:endParaRPr/>
          </a:p>
          <a:p>
            <a:pPr indent="-285750" lvl="1" marL="742950" rtl="0" algn="just">
              <a:spcBef>
                <a:spcPts val="480"/>
              </a:spcBef>
              <a:spcAft>
                <a:spcPts val="0"/>
              </a:spcAft>
              <a:buClr>
                <a:schemeClr val="accent1"/>
              </a:buClr>
              <a:buSzPts val="2400"/>
              <a:buChar char="–"/>
            </a:pPr>
            <a:r>
              <a:rPr lang="en-US" sz="2400">
                <a:solidFill>
                  <a:schemeClr val="accent1"/>
                </a:solidFill>
              </a:rPr>
              <a:t>Simplifies</a:t>
            </a:r>
            <a:r>
              <a:rPr lang="en-US" sz="2400"/>
              <a:t> handling of </a:t>
            </a:r>
            <a:r>
              <a:rPr lang="en-US" sz="2400">
                <a:solidFill>
                  <a:schemeClr val="accent1"/>
                </a:solidFill>
              </a:rPr>
              <a:t>growing data structures</a:t>
            </a:r>
            <a:endParaRPr/>
          </a:p>
          <a:p>
            <a:pPr indent="-285750" lvl="1" marL="742950" rtl="0" algn="just">
              <a:spcBef>
                <a:spcPts val="480"/>
              </a:spcBef>
              <a:spcAft>
                <a:spcPts val="0"/>
              </a:spcAft>
              <a:buClr>
                <a:schemeClr val="dk1"/>
              </a:buClr>
              <a:buSzPts val="2400"/>
              <a:buChar char="–"/>
            </a:pPr>
            <a:r>
              <a:rPr lang="en-US" sz="2400"/>
              <a:t>Allows </a:t>
            </a:r>
            <a:r>
              <a:rPr lang="en-US" sz="2400">
                <a:solidFill>
                  <a:schemeClr val="accent1"/>
                </a:solidFill>
              </a:rPr>
              <a:t>programs</a:t>
            </a:r>
            <a:r>
              <a:rPr lang="en-US" sz="2400"/>
              <a:t> to be </a:t>
            </a:r>
            <a:r>
              <a:rPr lang="en-US" sz="2400">
                <a:solidFill>
                  <a:schemeClr val="accent1"/>
                </a:solidFill>
              </a:rPr>
              <a:t>altered </a:t>
            </a:r>
            <a:r>
              <a:rPr lang="en-US" sz="2400"/>
              <a:t>and </a:t>
            </a:r>
            <a:r>
              <a:rPr lang="en-US" sz="2400">
                <a:solidFill>
                  <a:schemeClr val="accent1"/>
                </a:solidFill>
              </a:rPr>
              <a:t>recompiled independently</a:t>
            </a:r>
            <a:endParaRPr/>
          </a:p>
          <a:p>
            <a:pPr indent="-285750" lvl="1" marL="742950" rtl="0" algn="just">
              <a:spcBef>
                <a:spcPts val="480"/>
              </a:spcBef>
              <a:spcAft>
                <a:spcPts val="0"/>
              </a:spcAft>
              <a:buClr>
                <a:schemeClr val="accent1"/>
              </a:buClr>
              <a:buSzPts val="2400"/>
              <a:buChar char="–"/>
            </a:pPr>
            <a:r>
              <a:rPr lang="en-US" sz="2400">
                <a:solidFill>
                  <a:schemeClr val="accent1"/>
                </a:solidFill>
              </a:rPr>
              <a:t>Lends itself </a:t>
            </a:r>
            <a:r>
              <a:rPr lang="en-US" sz="2400"/>
              <a:t>to </a:t>
            </a:r>
            <a:r>
              <a:rPr lang="en-US" sz="2400">
                <a:solidFill>
                  <a:schemeClr val="accent1"/>
                </a:solidFill>
              </a:rPr>
              <a:t>sharing data </a:t>
            </a:r>
            <a:r>
              <a:rPr lang="en-US" sz="2400"/>
              <a:t>among processes</a:t>
            </a:r>
            <a:endParaRPr/>
          </a:p>
          <a:p>
            <a:pPr indent="-285750" lvl="1" marL="742950" rtl="0" algn="just">
              <a:spcBef>
                <a:spcPts val="480"/>
              </a:spcBef>
              <a:spcAft>
                <a:spcPts val="0"/>
              </a:spcAft>
              <a:buClr>
                <a:schemeClr val="accent1"/>
              </a:buClr>
              <a:buSzPts val="2400"/>
              <a:buChar char="–"/>
            </a:pPr>
            <a:r>
              <a:rPr lang="en-US" sz="2400">
                <a:solidFill>
                  <a:schemeClr val="accent1"/>
                </a:solidFill>
              </a:rPr>
              <a:t>Lends itself </a:t>
            </a:r>
            <a:r>
              <a:rPr lang="en-US" sz="2400"/>
              <a:t>to protection</a:t>
            </a:r>
            <a:endParaRPr sz="24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Segment Organization</a:t>
            </a:r>
            <a:endParaRPr/>
          </a:p>
        </p:txBody>
      </p:sp>
      <p:sp>
        <p:nvSpPr>
          <p:cNvPr id="482" name="Google Shape;482;p48"/>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lang="en-US" sz="2400">
                <a:solidFill>
                  <a:schemeClr val="accent1"/>
                </a:solidFill>
              </a:rPr>
              <a:t>Segment table entry </a:t>
            </a:r>
            <a:r>
              <a:rPr lang="en-US" sz="2400"/>
              <a:t>contains</a:t>
            </a:r>
            <a:endParaRPr/>
          </a:p>
          <a:p>
            <a:pPr indent="-285750" lvl="1" marL="742950" rtl="0" algn="just">
              <a:spcBef>
                <a:spcPts val="480"/>
              </a:spcBef>
              <a:spcAft>
                <a:spcPts val="0"/>
              </a:spcAft>
              <a:buClr>
                <a:schemeClr val="accent1"/>
              </a:buClr>
              <a:buSzPts val="2400"/>
              <a:buChar char="–"/>
            </a:pPr>
            <a:r>
              <a:rPr lang="en-US" sz="2400">
                <a:solidFill>
                  <a:schemeClr val="accent1"/>
                </a:solidFill>
              </a:rPr>
              <a:t>Starting address </a:t>
            </a:r>
            <a:r>
              <a:rPr lang="en-US" sz="2400"/>
              <a:t>corresponding segment in main memory</a:t>
            </a:r>
            <a:endParaRPr/>
          </a:p>
          <a:p>
            <a:pPr indent="-285750" lvl="1" marL="742950" rtl="0" algn="just">
              <a:spcBef>
                <a:spcPts val="480"/>
              </a:spcBef>
              <a:spcAft>
                <a:spcPts val="0"/>
              </a:spcAft>
              <a:buClr>
                <a:schemeClr val="accent1"/>
              </a:buClr>
              <a:buSzPts val="2400"/>
              <a:buChar char="–"/>
            </a:pPr>
            <a:r>
              <a:rPr lang="en-US" sz="2400">
                <a:solidFill>
                  <a:schemeClr val="accent1"/>
                </a:solidFill>
              </a:rPr>
              <a:t>Length</a:t>
            </a:r>
            <a:r>
              <a:rPr lang="en-US" sz="2400"/>
              <a:t> of the segment</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A </a:t>
            </a:r>
            <a:r>
              <a:rPr lang="en-US" sz="2400">
                <a:solidFill>
                  <a:schemeClr val="accent1"/>
                </a:solidFill>
              </a:rPr>
              <a:t>bit</a:t>
            </a:r>
            <a:r>
              <a:rPr lang="en-US" sz="2400"/>
              <a:t> is needed to determine if </a:t>
            </a:r>
            <a:r>
              <a:rPr lang="en-US" sz="2400">
                <a:solidFill>
                  <a:schemeClr val="accent1"/>
                </a:solidFill>
              </a:rPr>
              <a:t>segment is already </a:t>
            </a:r>
            <a:r>
              <a:rPr lang="en-US" sz="2400"/>
              <a:t>in main memory</a:t>
            </a:r>
            <a:endParaRPr/>
          </a:p>
          <a:p>
            <a:pPr indent="-190500" lvl="0" marL="342900" rtl="0" algn="just">
              <a:spcBef>
                <a:spcPts val="480"/>
              </a:spcBef>
              <a:spcAft>
                <a:spcPts val="0"/>
              </a:spcAft>
              <a:buClr>
                <a:schemeClr val="dk1"/>
              </a:buClr>
              <a:buSzPts val="2400"/>
              <a:buNone/>
            </a:pPr>
            <a:r>
              <a:t/>
            </a:r>
            <a:endParaRPr sz="2400">
              <a:solidFill>
                <a:schemeClr val="accent1"/>
              </a:solidFill>
            </a:endParaRPr>
          </a:p>
          <a:p>
            <a:pPr indent="-342900" lvl="0" marL="342900" rtl="0" algn="just">
              <a:spcBef>
                <a:spcPts val="480"/>
              </a:spcBef>
              <a:spcAft>
                <a:spcPts val="0"/>
              </a:spcAft>
              <a:buClr>
                <a:schemeClr val="accent1"/>
              </a:buClr>
              <a:buSzPts val="2400"/>
              <a:buChar char="•"/>
            </a:pPr>
            <a:r>
              <a:rPr lang="en-US" sz="2400">
                <a:solidFill>
                  <a:schemeClr val="accent1"/>
                </a:solidFill>
              </a:rPr>
              <a:t>Another bit </a:t>
            </a:r>
            <a:r>
              <a:rPr lang="en-US" sz="2400"/>
              <a:t>is needed to determine if the segment has been </a:t>
            </a:r>
            <a:r>
              <a:rPr lang="en-US" sz="2400">
                <a:solidFill>
                  <a:schemeClr val="accent1"/>
                </a:solidFill>
              </a:rPr>
              <a:t>modified</a:t>
            </a:r>
            <a:r>
              <a:rPr lang="en-US" sz="2400"/>
              <a:t> since it was loaded in main memory</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Segment Table Entries</a:t>
            </a:r>
            <a:endParaRPr/>
          </a:p>
        </p:txBody>
      </p:sp>
      <p:pic>
        <p:nvPicPr>
          <p:cNvPr descr="Fig08_02b.gif" id="489" name="Google Shape;489;p49"/>
          <p:cNvPicPr preferRelativeResize="0"/>
          <p:nvPr>
            <p:ph idx="1" type="body"/>
          </p:nvPr>
        </p:nvPicPr>
        <p:blipFill rotWithShape="1">
          <a:blip r:embed="rId3">
            <a:alphaModFix/>
          </a:blip>
          <a:srcRect b="0" l="0" r="0" t="0"/>
          <a:stretch/>
        </p:blipFill>
        <p:spPr>
          <a:xfrm>
            <a:off x="457200" y="1981200"/>
            <a:ext cx="8229600" cy="32004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Address Translation in Segmentation</a:t>
            </a:r>
            <a:endParaRPr/>
          </a:p>
        </p:txBody>
      </p:sp>
      <p:pic>
        <p:nvPicPr>
          <p:cNvPr descr="Fig08_12.gif" id="496" name="Google Shape;496;p50"/>
          <p:cNvPicPr preferRelativeResize="0"/>
          <p:nvPr>
            <p:ph idx="1" type="body"/>
          </p:nvPr>
        </p:nvPicPr>
        <p:blipFill rotWithShape="1">
          <a:blip r:embed="rId3">
            <a:alphaModFix/>
          </a:blip>
          <a:srcRect b="0" l="0" r="0" t="0"/>
          <a:stretch/>
        </p:blipFill>
        <p:spPr>
          <a:xfrm>
            <a:off x="1118910" y="1600200"/>
            <a:ext cx="7339290" cy="526361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Combined Paging and Segmentation</a:t>
            </a:r>
            <a:endParaRPr/>
          </a:p>
        </p:txBody>
      </p:sp>
      <p:sp>
        <p:nvSpPr>
          <p:cNvPr id="503" name="Google Shape;503;p51"/>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lang="en-US" sz="2400">
                <a:solidFill>
                  <a:schemeClr val="accent1"/>
                </a:solidFill>
              </a:rPr>
              <a:t>Paging</a:t>
            </a:r>
            <a:r>
              <a:rPr lang="en-US" sz="2400"/>
              <a:t> is </a:t>
            </a:r>
            <a:r>
              <a:rPr lang="en-US" sz="2400">
                <a:solidFill>
                  <a:schemeClr val="accent1"/>
                </a:solidFill>
              </a:rPr>
              <a:t>transparent</a:t>
            </a:r>
            <a:r>
              <a:rPr lang="en-US" sz="2400"/>
              <a:t> to the </a:t>
            </a:r>
            <a:r>
              <a:rPr lang="en-US" sz="2400">
                <a:solidFill>
                  <a:schemeClr val="accent1"/>
                </a:solidFill>
              </a:rPr>
              <a:t>programmer</a:t>
            </a:r>
            <a:endParaRPr/>
          </a:p>
          <a:p>
            <a:pPr indent="-342900" lvl="0" marL="342900" rtl="0" algn="just">
              <a:spcBef>
                <a:spcPts val="480"/>
              </a:spcBef>
              <a:spcAft>
                <a:spcPts val="0"/>
              </a:spcAft>
              <a:buClr>
                <a:schemeClr val="accent1"/>
              </a:buClr>
              <a:buSzPts val="2400"/>
              <a:buChar char="•"/>
            </a:pPr>
            <a:r>
              <a:rPr lang="en-US" sz="2400">
                <a:solidFill>
                  <a:schemeClr val="accent1"/>
                </a:solidFill>
              </a:rPr>
              <a:t>Segmentation</a:t>
            </a:r>
            <a:r>
              <a:rPr lang="en-US" sz="2400"/>
              <a:t> is </a:t>
            </a:r>
            <a:r>
              <a:rPr lang="en-US" sz="2400">
                <a:solidFill>
                  <a:schemeClr val="accent1"/>
                </a:solidFill>
              </a:rPr>
              <a:t>visible</a:t>
            </a:r>
            <a:r>
              <a:rPr lang="en-US" sz="2400"/>
              <a:t> to the </a:t>
            </a:r>
            <a:r>
              <a:rPr lang="en-US" sz="2400">
                <a:solidFill>
                  <a:schemeClr val="accent1"/>
                </a:solidFill>
              </a:rPr>
              <a:t>programmer</a:t>
            </a:r>
            <a:endParaRPr/>
          </a:p>
          <a:p>
            <a:pPr indent="-190500" lvl="0" marL="342900" rtl="0" algn="just">
              <a:spcBef>
                <a:spcPts val="480"/>
              </a:spcBef>
              <a:spcAft>
                <a:spcPts val="0"/>
              </a:spcAft>
              <a:buClr>
                <a:schemeClr val="dk1"/>
              </a:buClr>
              <a:buSzPts val="2400"/>
              <a:buNone/>
            </a:pPr>
            <a:r>
              <a:t/>
            </a:r>
            <a:endParaRPr sz="2400">
              <a:solidFill>
                <a:schemeClr val="accent1"/>
              </a:solidFill>
            </a:endParaRPr>
          </a:p>
          <a:p>
            <a:pPr indent="-342900" lvl="0" marL="342900" rtl="0" algn="just">
              <a:spcBef>
                <a:spcPts val="480"/>
              </a:spcBef>
              <a:spcAft>
                <a:spcPts val="0"/>
              </a:spcAft>
              <a:buClr>
                <a:schemeClr val="accent1"/>
              </a:buClr>
              <a:buSzPts val="2400"/>
              <a:buChar char="•"/>
            </a:pPr>
            <a:r>
              <a:rPr lang="en-US" sz="2400">
                <a:solidFill>
                  <a:schemeClr val="accent1"/>
                </a:solidFill>
              </a:rPr>
              <a:t>Address space </a:t>
            </a:r>
            <a:r>
              <a:rPr lang="en-US" sz="2400"/>
              <a:t>is </a:t>
            </a:r>
            <a:r>
              <a:rPr lang="en-US" sz="2400">
                <a:solidFill>
                  <a:schemeClr val="accent1"/>
                </a:solidFill>
              </a:rPr>
              <a:t>broken</a:t>
            </a:r>
            <a:r>
              <a:rPr lang="en-US" sz="2400"/>
              <a:t> into </a:t>
            </a:r>
            <a:r>
              <a:rPr lang="en-US" sz="2400">
                <a:solidFill>
                  <a:schemeClr val="accent1"/>
                </a:solidFill>
              </a:rPr>
              <a:t>number of segments</a:t>
            </a:r>
            <a:endParaRPr/>
          </a:p>
          <a:p>
            <a:pPr indent="-342900" lvl="0" marL="342900" rtl="0" algn="just">
              <a:spcBef>
                <a:spcPts val="480"/>
              </a:spcBef>
              <a:spcAft>
                <a:spcPts val="0"/>
              </a:spcAft>
              <a:buClr>
                <a:schemeClr val="dk1"/>
              </a:buClr>
              <a:buSzPts val="2400"/>
              <a:buChar char="•"/>
            </a:pPr>
            <a:r>
              <a:rPr lang="en-US" sz="2400"/>
              <a:t>Each </a:t>
            </a:r>
            <a:r>
              <a:rPr lang="en-US" sz="2400">
                <a:solidFill>
                  <a:schemeClr val="accent1"/>
                </a:solidFill>
              </a:rPr>
              <a:t>segment</a:t>
            </a:r>
            <a:r>
              <a:rPr lang="en-US" sz="2400"/>
              <a:t> is </a:t>
            </a:r>
            <a:r>
              <a:rPr lang="en-US" sz="2400">
                <a:solidFill>
                  <a:srgbClr val="0070C0"/>
                </a:solidFill>
              </a:rPr>
              <a:t>broken</a:t>
            </a:r>
            <a:r>
              <a:rPr lang="en-US" sz="2400"/>
              <a:t> into </a:t>
            </a:r>
            <a:r>
              <a:rPr lang="en-US" sz="2400">
                <a:solidFill>
                  <a:schemeClr val="accent1"/>
                </a:solidFill>
              </a:rPr>
              <a:t>fixed-size pages</a:t>
            </a:r>
            <a:endParaRPr/>
          </a:p>
          <a:p>
            <a:pPr indent="-342900" lvl="0" marL="342900" rtl="0" algn="just">
              <a:spcBef>
                <a:spcPts val="480"/>
              </a:spcBef>
              <a:spcAft>
                <a:spcPts val="0"/>
              </a:spcAft>
              <a:buClr>
                <a:schemeClr val="dk1"/>
              </a:buClr>
              <a:buSzPts val="2400"/>
              <a:buChar char="•"/>
            </a:pPr>
            <a:r>
              <a:rPr lang="en-US" sz="2400"/>
              <a:t>Each </a:t>
            </a:r>
            <a:r>
              <a:rPr lang="en-US" sz="2400">
                <a:solidFill>
                  <a:schemeClr val="accent1"/>
                </a:solidFill>
              </a:rPr>
              <a:t>process</a:t>
            </a:r>
            <a:r>
              <a:rPr lang="en-US" sz="2400"/>
              <a:t> has </a:t>
            </a:r>
            <a:r>
              <a:rPr lang="en-US" sz="2400">
                <a:solidFill>
                  <a:schemeClr val="accent1"/>
                </a:solidFill>
              </a:rPr>
              <a:t>one segment table</a:t>
            </a:r>
            <a:endParaRPr/>
          </a:p>
          <a:p>
            <a:pPr indent="-342900" lvl="0" marL="342900" rtl="0" algn="just">
              <a:spcBef>
                <a:spcPts val="480"/>
              </a:spcBef>
              <a:spcAft>
                <a:spcPts val="0"/>
              </a:spcAft>
              <a:buClr>
                <a:schemeClr val="dk1"/>
              </a:buClr>
              <a:buSzPts val="2400"/>
              <a:buChar char="•"/>
            </a:pPr>
            <a:r>
              <a:rPr lang="en-US" sz="2400"/>
              <a:t>Each </a:t>
            </a:r>
            <a:r>
              <a:rPr lang="en-US" sz="2400">
                <a:solidFill>
                  <a:schemeClr val="accent1"/>
                </a:solidFill>
              </a:rPr>
              <a:t>segment</a:t>
            </a:r>
            <a:r>
              <a:rPr lang="en-US" sz="2400"/>
              <a:t> has a </a:t>
            </a:r>
            <a:r>
              <a:rPr lang="en-US" sz="2400">
                <a:solidFill>
                  <a:schemeClr val="accent1"/>
                </a:solidFill>
              </a:rPr>
              <a:t>page table</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Combined Paging and Segmentation</a:t>
            </a:r>
            <a:endParaRPr/>
          </a:p>
        </p:txBody>
      </p:sp>
      <p:pic>
        <p:nvPicPr>
          <p:cNvPr descr="Fig08_02c.gif" id="510" name="Google Shape;510;p52"/>
          <p:cNvPicPr preferRelativeResize="0"/>
          <p:nvPr>
            <p:ph idx="1" type="body"/>
          </p:nvPr>
        </p:nvPicPr>
        <p:blipFill rotWithShape="1">
          <a:blip r:embed="rId3">
            <a:alphaModFix/>
          </a:blip>
          <a:srcRect b="0" l="0" r="0" t="0"/>
          <a:stretch/>
        </p:blipFill>
        <p:spPr>
          <a:xfrm>
            <a:off x="76200" y="1752600"/>
            <a:ext cx="8991600" cy="46482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Address Translation</a:t>
            </a:r>
            <a:endParaRPr/>
          </a:p>
        </p:txBody>
      </p:sp>
      <p:pic>
        <p:nvPicPr>
          <p:cNvPr descr="Fig08_13.gif" id="517" name="Google Shape;517;p53"/>
          <p:cNvPicPr preferRelativeResize="0"/>
          <p:nvPr>
            <p:ph idx="1" type="body"/>
          </p:nvPr>
        </p:nvPicPr>
        <p:blipFill rotWithShape="1">
          <a:blip r:embed="rId3">
            <a:alphaModFix/>
          </a:blip>
          <a:srcRect b="0" l="0" r="0" t="0"/>
          <a:stretch/>
        </p:blipFill>
        <p:spPr>
          <a:xfrm>
            <a:off x="76200" y="1219200"/>
            <a:ext cx="8839200" cy="54102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Protection and sharing</a:t>
            </a:r>
            <a:endParaRPr/>
          </a:p>
        </p:txBody>
      </p:sp>
      <p:sp>
        <p:nvSpPr>
          <p:cNvPr id="524" name="Google Shape;524;p54"/>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Segmentation lends itself to the implementation of protection and sharing policies.</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As each entry has a base address and length, inadvertent memory access can be controlled</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For sharing, segments can be referenced by segment tables of multiple processes</a:t>
            </a:r>
            <a:endParaRPr sz="24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Roadmap</a:t>
            </a:r>
            <a:endParaRPr/>
          </a:p>
        </p:txBody>
      </p:sp>
      <p:sp>
        <p:nvSpPr>
          <p:cNvPr id="531" name="Google Shape;531;p55"/>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lang="en-US" sz="2400"/>
              <a:t>Hardware and Control Structures</a:t>
            </a:r>
            <a:endParaRPr/>
          </a:p>
          <a:p>
            <a:pPr indent="-342900" lvl="0" marL="342900" rtl="0" algn="l">
              <a:spcBef>
                <a:spcPts val="480"/>
              </a:spcBef>
              <a:spcAft>
                <a:spcPts val="0"/>
              </a:spcAft>
              <a:buClr>
                <a:srgbClr val="0070C0"/>
              </a:buClr>
              <a:buSzPts val="2400"/>
              <a:buChar char="•"/>
            </a:pPr>
            <a:r>
              <a:rPr lang="en-US" sz="2400">
                <a:solidFill>
                  <a:srgbClr val="0070C0"/>
                </a:solidFill>
              </a:rPr>
              <a:t>Operating System Software</a:t>
            </a:r>
            <a:endParaRPr/>
          </a:p>
        </p:txBody>
      </p:sp>
      <p:cxnSp>
        <p:nvCxnSpPr>
          <p:cNvPr id="532" name="Google Shape;532;p55"/>
          <p:cNvCxnSpPr/>
          <p:nvPr/>
        </p:nvCxnSpPr>
        <p:spPr>
          <a:xfrm>
            <a:off x="76200" y="2284412"/>
            <a:ext cx="685800" cy="1588"/>
          </a:xfrm>
          <a:prstGeom prst="straightConnector1">
            <a:avLst/>
          </a:prstGeom>
          <a:noFill/>
          <a:ln cap="flat" cmpd="sng" w="76200">
            <a:solidFill>
              <a:schemeClr val="accent5"/>
            </a:solidFill>
            <a:prstDash val="solid"/>
            <a:round/>
            <a:headEnd len="sm" w="sm" type="none"/>
            <a:tailEnd len="med" w="med" type="stealth"/>
          </a:ln>
          <a:effectLst>
            <a:outerShdw blurRad="40000" rotWithShape="0" dir="5400000" dist="23000">
              <a:srgbClr val="000000">
                <a:alpha val="34901"/>
              </a:srgbClr>
            </a:outerShdw>
          </a:effectLst>
        </p:spPr>
      </p:cxn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Memory Management</a:t>
            </a:r>
            <a:br>
              <a:rPr lang="en-US"/>
            </a:br>
            <a:r>
              <a:rPr lang="en-US"/>
              <a:t> Decisions</a:t>
            </a:r>
            <a:endParaRPr/>
          </a:p>
        </p:txBody>
      </p:sp>
      <p:sp>
        <p:nvSpPr>
          <p:cNvPr id="539" name="Google Shape;539;p56"/>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lang="en-US" sz="2400">
                <a:solidFill>
                  <a:schemeClr val="accent1"/>
                </a:solidFill>
              </a:rPr>
              <a:t>Whether or not </a:t>
            </a:r>
            <a:r>
              <a:rPr lang="en-US" sz="2400"/>
              <a:t>to use </a:t>
            </a:r>
            <a:r>
              <a:rPr lang="en-US" sz="2400">
                <a:solidFill>
                  <a:schemeClr val="accent1"/>
                </a:solidFill>
              </a:rPr>
              <a:t>virtual memory</a:t>
            </a:r>
            <a:r>
              <a:rPr lang="en-US" sz="2400"/>
              <a:t> techniques</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The </a:t>
            </a:r>
            <a:r>
              <a:rPr lang="en-US" sz="2400">
                <a:solidFill>
                  <a:schemeClr val="accent1"/>
                </a:solidFill>
              </a:rPr>
              <a:t>use</a:t>
            </a:r>
            <a:r>
              <a:rPr lang="en-US" sz="2400"/>
              <a:t> of </a:t>
            </a:r>
            <a:r>
              <a:rPr lang="en-US" sz="2400">
                <a:solidFill>
                  <a:schemeClr val="accent1"/>
                </a:solidFill>
              </a:rPr>
              <a:t>paging</a:t>
            </a:r>
            <a:r>
              <a:rPr lang="en-US" sz="2400"/>
              <a:t> or </a:t>
            </a:r>
            <a:r>
              <a:rPr lang="en-US" sz="2400">
                <a:solidFill>
                  <a:schemeClr val="accent1"/>
                </a:solidFill>
              </a:rPr>
              <a:t>segmentation</a:t>
            </a:r>
            <a:r>
              <a:rPr lang="en-US" sz="2400"/>
              <a:t> or </a:t>
            </a:r>
            <a:r>
              <a:rPr lang="en-US" sz="2400">
                <a:solidFill>
                  <a:schemeClr val="accent1"/>
                </a:solidFill>
              </a:rPr>
              <a:t>both</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The </a:t>
            </a:r>
            <a:r>
              <a:rPr lang="en-US" sz="2400">
                <a:solidFill>
                  <a:schemeClr val="accent1"/>
                </a:solidFill>
              </a:rPr>
              <a:t>algorithms</a:t>
            </a:r>
            <a:r>
              <a:rPr lang="en-US" sz="2400"/>
              <a:t> employed </a:t>
            </a:r>
            <a:r>
              <a:rPr lang="en-US" sz="2400">
                <a:solidFill>
                  <a:schemeClr val="accent1"/>
                </a:solidFill>
              </a:rPr>
              <a:t>for</a:t>
            </a:r>
            <a:r>
              <a:rPr lang="en-US" sz="2400"/>
              <a:t> various aspects of </a:t>
            </a:r>
            <a:r>
              <a:rPr lang="en-US" sz="2400">
                <a:solidFill>
                  <a:schemeClr val="accent1"/>
                </a:solidFill>
              </a:rPr>
              <a:t>memory management</a:t>
            </a:r>
            <a:endParaRPr sz="2400">
              <a:solidFill>
                <a:schemeClr val="accent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57"/>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Key Design Elements</a:t>
            </a:r>
            <a:endParaRPr/>
          </a:p>
        </p:txBody>
      </p:sp>
      <p:sp>
        <p:nvSpPr>
          <p:cNvPr id="546" name="Google Shape;546;p57"/>
          <p:cNvSpPr txBox="1"/>
          <p:nvPr>
            <p:ph idx="1" type="body"/>
          </p:nvPr>
        </p:nvSpPr>
        <p:spPr>
          <a:xfrm>
            <a:off x="457200" y="5029200"/>
            <a:ext cx="7391400" cy="15240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lang="en-US" sz="2400"/>
              <a:t>Key aim: Minimise page faults</a:t>
            </a:r>
            <a:endParaRPr/>
          </a:p>
          <a:p>
            <a:pPr indent="-285750" lvl="1" marL="742950" rtl="0" algn="l">
              <a:spcBef>
                <a:spcPts val="480"/>
              </a:spcBef>
              <a:spcAft>
                <a:spcPts val="0"/>
              </a:spcAft>
              <a:buClr>
                <a:schemeClr val="dk1"/>
              </a:buClr>
              <a:buSzPts val="2400"/>
              <a:buChar char="–"/>
            </a:pPr>
            <a:r>
              <a:rPr lang="en-US" sz="2400"/>
              <a:t>No definitive best policy</a:t>
            </a:r>
            <a:endParaRPr sz="2400"/>
          </a:p>
        </p:txBody>
      </p:sp>
      <p:pic>
        <p:nvPicPr>
          <p:cNvPr id="547" name="Google Shape;547;p57"/>
          <p:cNvPicPr preferRelativeResize="0"/>
          <p:nvPr/>
        </p:nvPicPr>
        <p:blipFill rotWithShape="1">
          <a:blip r:embed="rId3">
            <a:alphaModFix/>
          </a:blip>
          <a:srcRect b="0" l="0" r="0" t="0"/>
          <a:stretch/>
        </p:blipFill>
        <p:spPr>
          <a:xfrm>
            <a:off x="381000" y="1143000"/>
            <a:ext cx="8610600" cy="3920679"/>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Fetch Policy</a:t>
            </a:r>
            <a:endParaRPr/>
          </a:p>
        </p:txBody>
      </p:sp>
      <p:sp>
        <p:nvSpPr>
          <p:cNvPr id="554" name="Google Shape;554;p58"/>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Determines </a:t>
            </a:r>
            <a:r>
              <a:rPr lang="en-US" sz="2400">
                <a:solidFill>
                  <a:schemeClr val="accent1"/>
                </a:solidFill>
              </a:rPr>
              <a:t>when</a:t>
            </a:r>
            <a:r>
              <a:rPr lang="en-US" sz="2400"/>
              <a:t> a page should be </a:t>
            </a:r>
            <a:r>
              <a:rPr lang="en-US" sz="2400">
                <a:solidFill>
                  <a:schemeClr val="accent1"/>
                </a:solidFill>
              </a:rPr>
              <a:t>brought into </a:t>
            </a:r>
            <a:r>
              <a:rPr lang="en-US" sz="2400"/>
              <a:t>memory</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accent1"/>
              </a:buClr>
              <a:buSzPts val="2400"/>
              <a:buChar char="•"/>
            </a:pPr>
            <a:r>
              <a:rPr b="1" lang="en-US" sz="2400">
                <a:solidFill>
                  <a:schemeClr val="accent1"/>
                </a:solidFill>
              </a:rPr>
              <a:t>Two main types:</a:t>
            </a:r>
            <a:endParaRPr/>
          </a:p>
          <a:p>
            <a:pPr indent="-190500" lvl="0" marL="342900" rtl="0" algn="just">
              <a:spcBef>
                <a:spcPts val="480"/>
              </a:spcBef>
              <a:spcAft>
                <a:spcPts val="0"/>
              </a:spcAft>
              <a:buClr>
                <a:schemeClr val="dk1"/>
              </a:buClr>
              <a:buSzPts val="2400"/>
              <a:buNone/>
            </a:pPr>
            <a:r>
              <a:t/>
            </a:r>
            <a:endParaRPr sz="2400"/>
          </a:p>
          <a:p>
            <a:pPr indent="-285750" lvl="1" marL="742950" rtl="0" algn="just">
              <a:spcBef>
                <a:spcPts val="480"/>
              </a:spcBef>
              <a:spcAft>
                <a:spcPts val="0"/>
              </a:spcAft>
              <a:buClr>
                <a:schemeClr val="dk1"/>
              </a:buClr>
              <a:buSzPts val="2400"/>
              <a:buChar char="–"/>
            </a:pPr>
            <a:r>
              <a:rPr lang="en-US" sz="2400"/>
              <a:t>Demand Paging </a:t>
            </a:r>
            <a:endParaRPr/>
          </a:p>
          <a:p>
            <a:pPr indent="-285750" lvl="1" marL="742950" rtl="0" algn="just">
              <a:spcBef>
                <a:spcPts val="480"/>
              </a:spcBef>
              <a:spcAft>
                <a:spcPts val="0"/>
              </a:spcAft>
              <a:buClr>
                <a:schemeClr val="dk1"/>
              </a:buClr>
              <a:buSzPts val="2400"/>
              <a:buChar char="–"/>
            </a:pPr>
            <a:r>
              <a:rPr lang="en-US" sz="2400"/>
              <a:t>Prepaging</a:t>
            </a:r>
            <a:endParaRPr sz="24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Demand Paging</a:t>
            </a:r>
            <a:br>
              <a:rPr lang="en-US"/>
            </a:br>
            <a:r>
              <a:rPr lang="en-US"/>
              <a:t>and Prepaging</a:t>
            </a:r>
            <a:endParaRPr/>
          </a:p>
        </p:txBody>
      </p:sp>
      <p:sp>
        <p:nvSpPr>
          <p:cNvPr id="561" name="Google Shape;561;p59"/>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b="1" lang="en-US" sz="2400" u="sng">
                <a:solidFill>
                  <a:schemeClr val="accent1"/>
                </a:solidFill>
              </a:rPr>
              <a:t>Demand paging</a:t>
            </a:r>
            <a:endParaRPr sz="2400" u="sng">
              <a:solidFill>
                <a:schemeClr val="accent1"/>
              </a:solidFill>
            </a:endParaRPr>
          </a:p>
          <a:p>
            <a:pPr indent="-285750" lvl="1" marL="742950" rtl="0" algn="just">
              <a:spcBef>
                <a:spcPts val="480"/>
              </a:spcBef>
              <a:spcAft>
                <a:spcPts val="0"/>
              </a:spcAft>
              <a:buClr>
                <a:schemeClr val="dk1"/>
              </a:buClr>
              <a:buSzPts val="2400"/>
              <a:buChar char="–"/>
            </a:pPr>
            <a:r>
              <a:rPr lang="en-US" sz="2400"/>
              <a:t>Only </a:t>
            </a:r>
            <a:r>
              <a:rPr lang="en-US" sz="2400">
                <a:solidFill>
                  <a:schemeClr val="accent1"/>
                </a:solidFill>
              </a:rPr>
              <a:t>brings</a:t>
            </a:r>
            <a:r>
              <a:rPr lang="en-US" sz="2400"/>
              <a:t> pages into main memory when a </a:t>
            </a:r>
            <a:r>
              <a:rPr lang="en-US" sz="2400">
                <a:solidFill>
                  <a:schemeClr val="accent1"/>
                </a:solidFill>
              </a:rPr>
              <a:t>reference is made </a:t>
            </a:r>
            <a:r>
              <a:rPr lang="en-US" sz="2400"/>
              <a:t>to a location on the page</a:t>
            </a:r>
            <a:endParaRPr/>
          </a:p>
          <a:p>
            <a:pPr indent="-285750" lvl="1" marL="742950" rtl="0" algn="just">
              <a:spcBef>
                <a:spcPts val="480"/>
              </a:spcBef>
              <a:spcAft>
                <a:spcPts val="0"/>
              </a:spcAft>
              <a:buClr>
                <a:schemeClr val="accent1"/>
              </a:buClr>
              <a:buSzPts val="2400"/>
              <a:buChar char="–"/>
            </a:pPr>
            <a:r>
              <a:rPr lang="en-US" sz="2400">
                <a:solidFill>
                  <a:schemeClr val="accent1"/>
                </a:solidFill>
              </a:rPr>
              <a:t>Many page faults </a:t>
            </a:r>
            <a:r>
              <a:rPr lang="en-US" sz="2400"/>
              <a:t>when process </a:t>
            </a:r>
            <a:r>
              <a:rPr lang="en-US" sz="2400">
                <a:solidFill>
                  <a:schemeClr val="accent1"/>
                </a:solidFill>
              </a:rPr>
              <a:t>first started</a:t>
            </a:r>
            <a:endParaRPr/>
          </a:p>
          <a:p>
            <a:pPr indent="-190500" lvl="0" marL="342900" rtl="0" algn="just">
              <a:spcBef>
                <a:spcPts val="480"/>
              </a:spcBef>
              <a:spcAft>
                <a:spcPts val="0"/>
              </a:spcAft>
              <a:buClr>
                <a:schemeClr val="dk1"/>
              </a:buClr>
              <a:buSzPts val="2400"/>
              <a:buNone/>
            </a:pPr>
            <a:r>
              <a:t/>
            </a:r>
            <a:endParaRPr b="1" sz="2400" u="sng">
              <a:solidFill>
                <a:schemeClr val="accent1"/>
              </a:solidFill>
            </a:endParaRPr>
          </a:p>
          <a:p>
            <a:pPr indent="-342900" lvl="0" marL="342900" rtl="0" algn="just">
              <a:spcBef>
                <a:spcPts val="480"/>
              </a:spcBef>
              <a:spcAft>
                <a:spcPts val="0"/>
              </a:spcAft>
              <a:buClr>
                <a:schemeClr val="accent1"/>
              </a:buClr>
              <a:buSzPts val="2400"/>
              <a:buChar char="•"/>
            </a:pPr>
            <a:r>
              <a:rPr b="1" lang="en-US" sz="2400" u="sng">
                <a:solidFill>
                  <a:schemeClr val="accent1"/>
                </a:solidFill>
              </a:rPr>
              <a:t>Prepaging</a:t>
            </a:r>
            <a:r>
              <a:rPr b="1" lang="en-US" sz="2400" u="sng"/>
              <a:t> </a:t>
            </a:r>
            <a:endParaRPr b="1" sz="2400" u="sng"/>
          </a:p>
          <a:p>
            <a:pPr indent="-285750" lvl="1" marL="742950" rtl="0" algn="just">
              <a:spcBef>
                <a:spcPts val="480"/>
              </a:spcBef>
              <a:spcAft>
                <a:spcPts val="0"/>
              </a:spcAft>
              <a:buClr>
                <a:schemeClr val="accent1"/>
              </a:buClr>
              <a:buSzPts val="2400"/>
              <a:buChar char="–"/>
            </a:pPr>
            <a:r>
              <a:rPr lang="en-US" sz="2400">
                <a:solidFill>
                  <a:schemeClr val="accent1"/>
                </a:solidFill>
              </a:rPr>
              <a:t>Brings</a:t>
            </a:r>
            <a:r>
              <a:rPr lang="en-US" sz="2400"/>
              <a:t> in </a:t>
            </a:r>
            <a:r>
              <a:rPr lang="en-US" sz="2400">
                <a:solidFill>
                  <a:schemeClr val="accent1"/>
                </a:solidFill>
              </a:rPr>
              <a:t>more pages </a:t>
            </a:r>
            <a:r>
              <a:rPr lang="en-US" sz="2400"/>
              <a:t>than needed</a:t>
            </a:r>
            <a:endParaRPr/>
          </a:p>
          <a:p>
            <a:pPr indent="-285750" lvl="1" marL="742950" rtl="0" algn="just">
              <a:spcBef>
                <a:spcPts val="480"/>
              </a:spcBef>
              <a:spcAft>
                <a:spcPts val="0"/>
              </a:spcAft>
              <a:buClr>
                <a:schemeClr val="dk1"/>
              </a:buClr>
              <a:buSzPts val="2400"/>
              <a:buChar char="–"/>
            </a:pPr>
            <a:r>
              <a:rPr lang="en-US" sz="2400"/>
              <a:t>More efficient to bring in pages that </a:t>
            </a:r>
            <a:r>
              <a:rPr lang="en-US" sz="2400">
                <a:solidFill>
                  <a:schemeClr val="accent1"/>
                </a:solidFill>
              </a:rPr>
              <a:t>reside contiguously</a:t>
            </a:r>
            <a:r>
              <a:rPr lang="en-US" sz="2400"/>
              <a:t> on the disk</a:t>
            </a:r>
            <a:endParaRPr/>
          </a:p>
          <a:p>
            <a:pPr indent="-285750" lvl="1" marL="742950" rtl="0" algn="just">
              <a:spcBef>
                <a:spcPts val="480"/>
              </a:spcBef>
              <a:spcAft>
                <a:spcPts val="0"/>
              </a:spcAft>
              <a:buClr>
                <a:schemeClr val="dk1"/>
              </a:buClr>
              <a:buSzPts val="2400"/>
              <a:buChar char="–"/>
            </a:pPr>
            <a:r>
              <a:rPr lang="en-US" sz="2400"/>
              <a:t>Don’t confuse with “swapping”</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Placement Policy</a:t>
            </a:r>
            <a:endParaRPr/>
          </a:p>
        </p:txBody>
      </p:sp>
      <p:sp>
        <p:nvSpPr>
          <p:cNvPr id="568" name="Google Shape;568;p60"/>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Determines </a:t>
            </a:r>
            <a:r>
              <a:rPr lang="en-US" sz="2400">
                <a:solidFill>
                  <a:schemeClr val="accent1"/>
                </a:solidFill>
              </a:rPr>
              <a:t>where</a:t>
            </a:r>
            <a:r>
              <a:rPr lang="en-US" sz="2400"/>
              <a:t> in real memory a process piece is to reside</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In </a:t>
            </a:r>
            <a:r>
              <a:rPr b="1" lang="en-US" sz="2400">
                <a:solidFill>
                  <a:schemeClr val="accent1"/>
                </a:solidFill>
              </a:rPr>
              <a:t>pure segmentation</a:t>
            </a:r>
            <a:endParaRPr/>
          </a:p>
          <a:p>
            <a:pPr indent="-285750" lvl="1" marL="742950" rtl="0" algn="just">
              <a:spcBef>
                <a:spcPts val="480"/>
              </a:spcBef>
              <a:spcAft>
                <a:spcPts val="0"/>
              </a:spcAft>
              <a:buClr>
                <a:schemeClr val="accent1"/>
              </a:buClr>
              <a:buSzPts val="2400"/>
              <a:buChar char="–"/>
            </a:pPr>
            <a:r>
              <a:rPr lang="en-US" sz="2400">
                <a:solidFill>
                  <a:schemeClr val="accent1"/>
                </a:solidFill>
              </a:rPr>
              <a:t>Best, first or next</a:t>
            </a:r>
            <a:r>
              <a:rPr lang="en-US" sz="2400"/>
              <a:t> fit can be used</a:t>
            </a:r>
            <a:endParaRPr/>
          </a:p>
          <a:p>
            <a:pPr indent="-133350" lvl="1" marL="74295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accent1"/>
              </a:buClr>
              <a:buSzPts val="2400"/>
              <a:buChar char="•"/>
            </a:pPr>
            <a:r>
              <a:rPr b="1" lang="en-US" sz="2400">
                <a:solidFill>
                  <a:schemeClr val="accent1"/>
                </a:solidFill>
              </a:rPr>
              <a:t>Paging</a:t>
            </a:r>
            <a:r>
              <a:rPr lang="en-US" sz="2400"/>
              <a:t> or </a:t>
            </a:r>
            <a:r>
              <a:rPr b="1" lang="en-US" sz="2400">
                <a:solidFill>
                  <a:schemeClr val="accent1"/>
                </a:solidFill>
              </a:rPr>
              <a:t>combined paging with segmentation</a:t>
            </a:r>
            <a:endParaRPr/>
          </a:p>
          <a:p>
            <a:pPr indent="-285750" lvl="1" marL="742950" rtl="0" algn="just">
              <a:spcBef>
                <a:spcPts val="480"/>
              </a:spcBef>
              <a:spcAft>
                <a:spcPts val="0"/>
              </a:spcAft>
              <a:buClr>
                <a:schemeClr val="dk1"/>
              </a:buClr>
              <a:buSzPts val="2400"/>
              <a:buChar char="–"/>
            </a:pPr>
            <a:r>
              <a:rPr lang="en-US" sz="2400"/>
              <a:t>Managed by hardware as </a:t>
            </a:r>
            <a:r>
              <a:rPr lang="en-US" sz="2400">
                <a:solidFill>
                  <a:schemeClr val="accent1"/>
                </a:solidFill>
              </a:rPr>
              <a:t>placement is irrelevant</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Replacement Policy</a:t>
            </a:r>
            <a:endParaRPr/>
          </a:p>
        </p:txBody>
      </p:sp>
      <p:sp>
        <p:nvSpPr>
          <p:cNvPr id="575" name="Google Shape;575;p61"/>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When </a:t>
            </a:r>
            <a:r>
              <a:rPr lang="en-US" sz="2400">
                <a:solidFill>
                  <a:schemeClr val="accent1"/>
                </a:solidFill>
              </a:rPr>
              <a:t>all of the frames </a:t>
            </a:r>
            <a:r>
              <a:rPr lang="en-US" sz="2400"/>
              <a:t>in main memory are </a:t>
            </a:r>
            <a:r>
              <a:rPr lang="en-US" sz="2400">
                <a:solidFill>
                  <a:schemeClr val="accent1"/>
                </a:solidFill>
              </a:rPr>
              <a:t>occupied</a:t>
            </a:r>
            <a:r>
              <a:rPr lang="en-US" sz="2400"/>
              <a:t>,</a:t>
            </a:r>
            <a:endParaRPr/>
          </a:p>
          <a:p>
            <a:pPr indent="-285750" lvl="1" marL="742950" rtl="0" algn="just">
              <a:spcBef>
                <a:spcPts val="480"/>
              </a:spcBef>
              <a:spcAft>
                <a:spcPts val="0"/>
              </a:spcAft>
              <a:buClr>
                <a:schemeClr val="dk1"/>
              </a:buClr>
              <a:buSzPts val="2400"/>
              <a:buChar char="–"/>
            </a:pPr>
            <a:r>
              <a:rPr lang="en-US" sz="2400"/>
              <a:t>and it is necessary to bring in a </a:t>
            </a:r>
            <a:r>
              <a:rPr lang="en-US" sz="2400">
                <a:solidFill>
                  <a:schemeClr val="accent1"/>
                </a:solidFill>
              </a:rPr>
              <a:t>new page</a:t>
            </a:r>
            <a:r>
              <a:rPr lang="en-US" sz="2400"/>
              <a:t>, </a:t>
            </a:r>
            <a:endParaRPr/>
          </a:p>
          <a:p>
            <a:pPr indent="-228600" lvl="2" marL="1143000" rtl="0" algn="just">
              <a:spcBef>
                <a:spcPts val="480"/>
              </a:spcBef>
              <a:spcAft>
                <a:spcPts val="0"/>
              </a:spcAft>
              <a:buClr>
                <a:schemeClr val="dk1"/>
              </a:buClr>
              <a:buSzPts val="2400"/>
              <a:buChar char="•"/>
            </a:pPr>
            <a:r>
              <a:rPr lang="en-US"/>
              <a:t>the </a:t>
            </a:r>
            <a:r>
              <a:rPr lang="en-US">
                <a:solidFill>
                  <a:schemeClr val="accent1"/>
                </a:solidFill>
              </a:rPr>
              <a:t>replacement policy </a:t>
            </a:r>
            <a:r>
              <a:rPr lang="en-US"/>
              <a:t>determines </a:t>
            </a:r>
            <a:r>
              <a:rPr b="1" lang="en-US">
                <a:solidFill>
                  <a:schemeClr val="accent1"/>
                </a:solidFill>
              </a:rPr>
              <a:t>which</a:t>
            </a:r>
            <a:r>
              <a:rPr lang="en-US"/>
              <a:t> page currently in memory is to be replaced.</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But…</a:t>
            </a:r>
            <a:endParaRPr/>
          </a:p>
        </p:txBody>
      </p:sp>
      <p:sp>
        <p:nvSpPr>
          <p:cNvPr id="582" name="Google Shape;582;p62"/>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b="1" lang="en-US" sz="2400">
                <a:solidFill>
                  <a:schemeClr val="accent1"/>
                </a:solidFill>
              </a:rPr>
              <a:t>Which page is replaced?</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Page removed should be the </a:t>
            </a:r>
            <a:r>
              <a:rPr lang="en-US" sz="2400">
                <a:solidFill>
                  <a:schemeClr val="accent1"/>
                </a:solidFill>
              </a:rPr>
              <a:t>page least likely to be referenced</a:t>
            </a:r>
            <a:r>
              <a:rPr lang="en-US" sz="2400"/>
              <a:t> in the near future </a:t>
            </a:r>
            <a:endParaRPr/>
          </a:p>
          <a:p>
            <a:pPr indent="-285750" lvl="1" marL="742950" rtl="0" algn="just">
              <a:spcBef>
                <a:spcPts val="480"/>
              </a:spcBef>
              <a:spcAft>
                <a:spcPts val="0"/>
              </a:spcAft>
              <a:buClr>
                <a:schemeClr val="dk1"/>
              </a:buClr>
              <a:buSzPts val="2400"/>
              <a:buChar char="–"/>
            </a:pPr>
            <a:r>
              <a:rPr lang="en-US" sz="2400"/>
              <a:t>How is that determined?</a:t>
            </a:r>
            <a:endParaRPr/>
          </a:p>
          <a:p>
            <a:pPr indent="-228600" lvl="2" marL="1143000" rtl="0" algn="just">
              <a:spcBef>
                <a:spcPts val="480"/>
              </a:spcBef>
              <a:spcAft>
                <a:spcPts val="0"/>
              </a:spcAft>
              <a:buClr>
                <a:schemeClr val="accent1"/>
              </a:buClr>
              <a:buSzPts val="2400"/>
              <a:buChar char="•"/>
            </a:pPr>
            <a:r>
              <a:rPr lang="en-US">
                <a:solidFill>
                  <a:schemeClr val="accent1"/>
                </a:solidFill>
              </a:rPr>
              <a:t>Principal of locality </a:t>
            </a:r>
            <a:r>
              <a:rPr lang="en-US"/>
              <a:t>again</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Most policies predict the future behavior on the basis of past behavior</a:t>
            </a:r>
            <a:endParaRPr/>
          </a:p>
          <a:p>
            <a:pPr indent="-190500" lvl="0" marL="342900" rtl="0" algn="just">
              <a:spcBef>
                <a:spcPts val="480"/>
              </a:spcBef>
              <a:spcAft>
                <a:spcPts val="0"/>
              </a:spcAft>
              <a:buClr>
                <a:schemeClr val="dk1"/>
              </a:buClr>
              <a:buSzPts val="2400"/>
              <a:buNone/>
            </a:pPr>
            <a:r>
              <a:t/>
            </a:r>
            <a:endParaRPr sz="2400"/>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Replacement Policy</a:t>
            </a:r>
            <a:endParaRPr/>
          </a:p>
        </p:txBody>
      </p:sp>
      <p:sp>
        <p:nvSpPr>
          <p:cNvPr id="588" name="Google Shape;588;p63"/>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b="1" lang="en-US" sz="2400">
                <a:solidFill>
                  <a:schemeClr val="accent1"/>
                </a:solidFill>
              </a:rPr>
              <a:t>Three aspects </a:t>
            </a:r>
            <a:r>
              <a:rPr lang="en-US" sz="2400"/>
              <a:t>to be considered:</a:t>
            </a:r>
            <a:endParaRPr/>
          </a:p>
          <a:p>
            <a:pPr indent="-285750" lvl="1" marL="742950" rtl="0" algn="just">
              <a:spcBef>
                <a:spcPts val="480"/>
              </a:spcBef>
              <a:spcAft>
                <a:spcPts val="0"/>
              </a:spcAft>
              <a:buClr>
                <a:schemeClr val="accent1"/>
              </a:buClr>
              <a:buSzPts val="2400"/>
              <a:buChar char="–"/>
            </a:pPr>
            <a:r>
              <a:rPr lang="en-US" sz="2400">
                <a:solidFill>
                  <a:schemeClr val="accent1"/>
                </a:solidFill>
              </a:rPr>
              <a:t>Number of frames </a:t>
            </a:r>
            <a:r>
              <a:rPr lang="en-US" sz="2400"/>
              <a:t>to be </a:t>
            </a:r>
            <a:r>
              <a:rPr lang="en-US" sz="2400">
                <a:solidFill>
                  <a:schemeClr val="accent1"/>
                </a:solidFill>
              </a:rPr>
              <a:t>allocated</a:t>
            </a:r>
            <a:r>
              <a:rPr lang="en-US" sz="2400"/>
              <a:t> to each process</a:t>
            </a:r>
            <a:endParaRPr/>
          </a:p>
          <a:p>
            <a:pPr indent="-285750" lvl="1" marL="742950" rtl="0" algn="just">
              <a:spcBef>
                <a:spcPts val="480"/>
              </a:spcBef>
              <a:spcAft>
                <a:spcPts val="0"/>
              </a:spcAft>
              <a:buClr>
                <a:schemeClr val="accent1"/>
              </a:buClr>
              <a:buSzPts val="2400"/>
              <a:buChar char="–"/>
            </a:pPr>
            <a:r>
              <a:rPr lang="en-US" sz="2400">
                <a:solidFill>
                  <a:schemeClr val="accent1"/>
                </a:solidFill>
              </a:rPr>
              <a:t>Candidate set </a:t>
            </a:r>
            <a:r>
              <a:rPr lang="en-US" sz="2400"/>
              <a:t>of pages can be either from the </a:t>
            </a:r>
            <a:r>
              <a:rPr lang="en-US" sz="2400">
                <a:solidFill>
                  <a:schemeClr val="accent1"/>
                </a:solidFill>
              </a:rPr>
              <a:t>process causing page fault </a:t>
            </a:r>
            <a:r>
              <a:rPr b="1" lang="en-US" sz="2400">
                <a:solidFill>
                  <a:schemeClr val="accent1"/>
                </a:solidFill>
              </a:rPr>
              <a:t>or</a:t>
            </a:r>
            <a:r>
              <a:rPr lang="en-US" sz="2400"/>
              <a:t> from </a:t>
            </a:r>
            <a:r>
              <a:rPr lang="en-US" sz="2400">
                <a:solidFill>
                  <a:schemeClr val="accent1"/>
                </a:solidFill>
              </a:rPr>
              <a:t>all processes </a:t>
            </a:r>
            <a:r>
              <a:rPr lang="en-US" sz="2400"/>
              <a:t>in main memory</a:t>
            </a:r>
            <a:endParaRPr/>
          </a:p>
          <a:p>
            <a:pPr indent="-285750" lvl="1" marL="742950" rtl="0" algn="just">
              <a:spcBef>
                <a:spcPts val="480"/>
              </a:spcBef>
              <a:spcAft>
                <a:spcPts val="0"/>
              </a:spcAft>
              <a:buClr>
                <a:schemeClr val="accent1"/>
              </a:buClr>
              <a:buSzPts val="2400"/>
              <a:buChar char="–"/>
            </a:pPr>
            <a:r>
              <a:rPr lang="en-US" sz="2400">
                <a:solidFill>
                  <a:schemeClr val="accent1"/>
                </a:solidFill>
              </a:rPr>
              <a:t>Out of the selected </a:t>
            </a:r>
            <a:r>
              <a:rPr lang="en-US" sz="2400"/>
              <a:t>set of pages, </a:t>
            </a:r>
            <a:r>
              <a:rPr lang="en-US" sz="2400">
                <a:solidFill>
                  <a:schemeClr val="accent1"/>
                </a:solidFill>
              </a:rPr>
              <a:t>which page </a:t>
            </a:r>
            <a:r>
              <a:rPr lang="en-US" sz="2400"/>
              <a:t>should be replaced</a:t>
            </a:r>
            <a:endParaRPr/>
          </a:p>
          <a:p>
            <a:pPr indent="-190500" lvl="0" marL="342900" rtl="0" algn="just">
              <a:spcBef>
                <a:spcPts val="480"/>
              </a:spcBef>
              <a:spcAft>
                <a:spcPts val="0"/>
              </a:spcAft>
              <a:buClr>
                <a:schemeClr val="dk1"/>
              </a:buClr>
              <a:buSzPts val="2400"/>
              <a:buNone/>
            </a:pPr>
            <a:r>
              <a:t/>
            </a:r>
            <a:endParaRPr sz="2400">
              <a:solidFill>
                <a:schemeClr val="accent1"/>
              </a:solidFill>
            </a:endParaRPr>
          </a:p>
          <a:p>
            <a:pPr indent="-342900" lvl="0" marL="342900" rtl="0" algn="just">
              <a:spcBef>
                <a:spcPts val="480"/>
              </a:spcBef>
              <a:spcAft>
                <a:spcPts val="0"/>
              </a:spcAft>
              <a:buClr>
                <a:schemeClr val="accent1"/>
              </a:buClr>
              <a:buSzPts val="2400"/>
              <a:buChar char="•"/>
            </a:pPr>
            <a:r>
              <a:rPr lang="en-US" sz="2400">
                <a:solidFill>
                  <a:schemeClr val="accent1"/>
                </a:solidFill>
              </a:rPr>
              <a:t>First and second </a:t>
            </a:r>
            <a:r>
              <a:rPr lang="en-US" sz="2400"/>
              <a:t>are part of </a:t>
            </a:r>
            <a:r>
              <a:rPr lang="en-US" sz="2400">
                <a:solidFill>
                  <a:schemeClr val="accent1"/>
                </a:solidFill>
              </a:rPr>
              <a:t>resident set management</a:t>
            </a:r>
            <a:r>
              <a:rPr lang="en-US" sz="2400"/>
              <a:t> and </a:t>
            </a:r>
            <a:r>
              <a:rPr lang="en-US" sz="2400">
                <a:solidFill>
                  <a:schemeClr val="accent1"/>
                </a:solidFill>
              </a:rPr>
              <a:t>third </a:t>
            </a:r>
            <a:r>
              <a:rPr lang="en-US" sz="2400"/>
              <a:t>one is in the scope of </a:t>
            </a:r>
            <a:r>
              <a:rPr lang="en-US" sz="2400">
                <a:solidFill>
                  <a:schemeClr val="accent1"/>
                </a:solidFill>
              </a:rPr>
              <a:t>replacement policy</a:t>
            </a:r>
            <a:endParaRPr sz="2400">
              <a:solidFill>
                <a:schemeClr val="accent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Replacement Policy: </a:t>
            </a:r>
            <a:br>
              <a:rPr lang="en-US"/>
            </a:br>
            <a:r>
              <a:rPr lang="en-US"/>
              <a:t>Frame Locking</a:t>
            </a:r>
            <a:endParaRPr/>
          </a:p>
        </p:txBody>
      </p:sp>
      <p:sp>
        <p:nvSpPr>
          <p:cNvPr id="595" name="Google Shape;595;p64"/>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b="1" lang="en-US" sz="2400">
                <a:solidFill>
                  <a:schemeClr val="accent1"/>
                </a:solidFill>
              </a:rPr>
              <a:t>Frame Locking</a:t>
            </a:r>
            <a:endParaRPr/>
          </a:p>
          <a:p>
            <a:pPr indent="-133350" lvl="1" marL="742950" rtl="0" algn="just">
              <a:spcBef>
                <a:spcPts val="480"/>
              </a:spcBef>
              <a:spcAft>
                <a:spcPts val="0"/>
              </a:spcAft>
              <a:buClr>
                <a:schemeClr val="dk1"/>
              </a:buClr>
              <a:buSzPts val="2400"/>
              <a:buNone/>
            </a:pPr>
            <a:r>
              <a:t/>
            </a:r>
            <a:endParaRPr sz="2400"/>
          </a:p>
          <a:p>
            <a:pPr indent="-285750" lvl="1" marL="742950" rtl="0" algn="just">
              <a:spcBef>
                <a:spcPts val="480"/>
              </a:spcBef>
              <a:spcAft>
                <a:spcPts val="0"/>
              </a:spcAft>
              <a:buClr>
                <a:schemeClr val="dk1"/>
              </a:buClr>
              <a:buSzPts val="2400"/>
              <a:buChar char="–"/>
            </a:pPr>
            <a:r>
              <a:rPr lang="en-US" sz="2400"/>
              <a:t>If frame is </a:t>
            </a:r>
            <a:r>
              <a:rPr lang="en-US" sz="2400">
                <a:solidFill>
                  <a:schemeClr val="accent1"/>
                </a:solidFill>
              </a:rPr>
              <a:t>locked</a:t>
            </a:r>
            <a:r>
              <a:rPr lang="en-US" sz="2400"/>
              <a:t>, it </a:t>
            </a:r>
            <a:r>
              <a:rPr lang="en-US" sz="2400">
                <a:solidFill>
                  <a:schemeClr val="accent1"/>
                </a:solidFill>
              </a:rPr>
              <a:t>may not be replaced</a:t>
            </a:r>
            <a:endParaRPr/>
          </a:p>
          <a:p>
            <a:pPr indent="-228600" lvl="2" marL="1143000" rtl="0" algn="just">
              <a:spcBef>
                <a:spcPts val="480"/>
              </a:spcBef>
              <a:spcAft>
                <a:spcPts val="0"/>
              </a:spcAft>
              <a:buClr>
                <a:schemeClr val="dk1"/>
              </a:buClr>
              <a:buSzPts val="2400"/>
              <a:buChar char="•"/>
            </a:pPr>
            <a:r>
              <a:rPr lang="en-US"/>
              <a:t>Kernel of the operating system</a:t>
            </a:r>
            <a:endParaRPr/>
          </a:p>
          <a:p>
            <a:pPr indent="-228600" lvl="2" marL="1143000" rtl="0" algn="just">
              <a:spcBef>
                <a:spcPts val="480"/>
              </a:spcBef>
              <a:spcAft>
                <a:spcPts val="0"/>
              </a:spcAft>
              <a:buClr>
                <a:schemeClr val="dk1"/>
              </a:buClr>
              <a:buSzPts val="2400"/>
              <a:buChar char="•"/>
            </a:pPr>
            <a:r>
              <a:rPr lang="en-US"/>
              <a:t>Key control structures</a:t>
            </a:r>
            <a:endParaRPr/>
          </a:p>
          <a:p>
            <a:pPr indent="-228600" lvl="2" marL="1143000" rtl="0" algn="just">
              <a:spcBef>
                <a:spcPts val="480"/>
              </a:spcBef>
              <a:spcAft>
                <a:spcPts val="0"/>
              </a:spcAft>
              <a:buClr>
                <a:schemeClr val="dk1"/>
              </a:buClr>
              <a:buSzPts val="2400"/>
              <a:buChar char="•"/>
            </a:pPr>
            <a:r>
              <a:rPr lang="en-US"/>
              <a:t>I/O buffers and other critical areas</a:t>
            </a:r>
            <a:endParaRPr/>
          </a:p>
          <a:p>
            <a:pPr indent="-76200" lvl="2" marL="1143000" rtl="0" algn="just">
              <a:spcBef>
                <a:spcPts val="480"/>
              </a:spcBef>
              <a:spcAft>
                <a:spcPts val="0"/>
              </a:spcAft>
              <a:buClr>
                <a:schemeClr val="dk1"/>
              </a:buClr>
              <a:buSzPts val="2400"/>
              <a:buNone/>
            </a:pPr>
            <a:r>
              <a:t/>
            </a:r>
            <a:endParaRPr/>
          </a:p>
          <a:p>
            <a:pPr indent="-285750" lvl="1" marL="742950" rtl="0" algn="just">
              <a:spcBef>
                <a:spcPts val="480"/>
              </a:spcBef>
              <a:spcAft>
                <a:spcPts val="0"/>
              </a:spcAft>
              <a:buClr>
                <a:schemeClr val="dk1"/>
              </a:buClr>
              <a:buSzPts val="2400"/>
              <a:buChar char="–"/>
            </a:pPr>
            <a:r>
              <a:rPr lang="en-US" sz="2400"/>
              <a:t>Associate a lock bit with each frame</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Basic Replacement</a:t>
            </a:r>
            <a:br>
              <a:rPr lang="en-US"/>
            </a:br>
            <a:r>
              <a:rPr lang="en-US"/>
              <a:t> Algorithms</a:t>
            </a:r>
            <a:endParaRPr/>
          </a:p>
        </p:txBody>
      </p:sp>
      <p:sp>
        <p:nvSpPr>
          <p:cNvPr id="601" name="Google Shape;601;p65"/>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There are certain basic algorithms that are used for the selection of a page to replace, they include</a:t>
            </a:r>
            <a:endParaRPr/>
          </a:p>
          <a:p>
            <a:pPr indent="-190500" lvl="0" marL="342900" rtl="0" algn="just">
              <a:spcBef>
                <a:spcPts val="480"/>
              </a:spcBef>
              <a:spcAft>
                <a:spcPts val="0"/>
              </a:spcAft>
              <a:buClr>
                <a:schemeClr val="dk1"/>
              </a:buClr>
              <a:buSzPts val="2400"/>
              <a:buNone/>
            </a:pPr>
            <a:r>
              <a:t/>
            </a:r>
            <a:endParaRPr sz="2400"/>
          </a:p>
          <a:p>
            <a:pPr indent="-285750" lvl="1" marL="742950" rtl="0" algn="just">
              <a:spcBef>
                <a:spcPts val="480"/>
              </a:spcBef>
              <a:spcAft>
                <a:spcPts val="0"/>
              </a:spcAft>
              <a:buClr>
                <a:schemeClr val="accent1"/>
              </a:buClr>
              <a:buSzPts val="2400"/>
              <a:buChar char="–"/>
            </a:pPr>
            <a:r>
              <a:rPr lang="en-US" sz="2400">
                <a:solidFill>
                  <a:schemeClr val="accent1"/>
                </a:solidFill>
              </a:rPr>
              <a:t>Optimal</a:t>
            </a:r>
            <a:endParaRPr/>
          </a:p>
          <a:p>
            <a:pPr indent="-285750" lvl="1" marL="742950" rtl="0" algn="just">
              <a:spcBef>
                <a:spcPts val="480"/>
              </a:spcBef>
              <a:spcAft>
                <a:spcPts val="0"/>
              </a:spcAft>
              <a:buClr>
                <a:schemeClr val="dk1"/>
              </a:buClr>
              <a:buSzPts val="2400"/>
              <a:buChar char="–"/>
            </a:pPr>
            <a:r>
              <a:rPr lang="en-US" sz="2400"/>
              <a:t>Least recently used (</a:t>
            </a:r>
            <a:r>
              <a:rPr lang="en-US" sz="2400">
                <a:solidFill>
                  <a:schemeClr val="accent1"/>
                </a:solidFill>
              </a:rPr>
              <a:t>LRU</a:t>
            </a:r>
            <a:r>
              <a:rPr lang="en-US" sz="2400"/>
              <a:t>)</a:t>
            </a:r>
            <a:endParaRPr/>
          </a:p>
          <a:p>
            <a:pPr indent="-285750" lvl="1" marL="742950" rtl="0" algn="just">
              <a:spcBef>
                <a:spcPts val="480"/>
              </a:spcBef>
              <a:spcAft>
                <a:spcPts val="0"/>
              </a:spcAft>
              <a:buClr>
                <a:schemeClr val="dk1"/>
              </a:buClr>
              <a:buSzPts val="2400"/>
              <a:buChar char="–"/>
            </a:pPr>
            <a:r>
              <a:rPr lang="en-US" sz="2400"/>
              <a:t>First-in-first-out (</a:t>
            </a:r>
            <a:r>
              <a:rPr lang="en-US" sz="2400">
                <a:solidFill>
                  <a:schemeClr val="accent1"/>
                </a:solidFill>
              </a:rPr>
              <a:t>FIFO</a:t>
            </a:r>
            <a:r>
              <a:rPr lang="en-US" sz="2400"/>
              <a:t>)</a:t>
            </a:r>
            <a:endParaRPr/>
          </a:p>
          <a:p>
            <a:pPr indent="-285750" lvl="1" marL="742950" rtl="0" algn="just">
              <a:spcBef>
                <a:spcPts val="480"/>
              </a:spcBef>
              <a:spcAft>
                <a:spcPts val="0"/>
              </a:spcAft>
              <a:buClr>
                <a:schemeClr val="accent1"/>
              </a:buClr>
              <a:buSzPts val="2400"/>
              <a:buChar char="–"/>
            </a:pPr>
            <a:r>
              <a:rPr lang="en-US" sz="2400">
                <a:solidFill>
                  <a:schemeClr val="accent1"/>
                </a:solidFill>
              </a:rPr>
              <a:t>Clock</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Example</a:t>
            </a:r>
            <a:endParaRPr/>
          </a:p>
        </p:txBody>
      </p:sp>
      <p:sp>
        <p:nvSpPr>
          <p:cNvPr id="608" name="Google Shape;608;p66"/>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For example, Consider a page reference stream formed by executing the program is</a:t>
            </a:r>
            <a:endParaRPr/>
          </a:p>
          <a:p>
            <a:pPr indent="-285750" lvl="1" marL="742950" rtl="0" algn="just">
              <a:spcBef>
                <a:spcPts val="480"/>
              </a:spcBef>
              <a:spcAft>
                <a:spcPts val="0"/>
              </a:spcAft>
              <a:buClr>
                <a:schemeClr val="dk1"/>
              </a:buClr>
              <a:buSzPts val="2400"/>
              <a:buChar char="–"/>
            </a:pPr>
            <a:r>
              <a:rPr lang="en-US" sz="2400"/>
              <a:t>2 3 2 1 5 2 4 5 3 2 5 2</a:t>
            </a:r>
            <a:endParaRPr/>
          </a:p>
          <a:p>
            <a:pPr indent="-133350" lvl="1" marL="74295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Which means that the first page referenced is 2, </a:t>
            </a:r>
            <a:endParaRPr/>
          </a:p>
          <a:p>
            <a:pPr indent="-285750" lvl="1" marL="742950" rtl="0" algn="just">
              <a:spcBef>
                <a:spcPts val="480"/>
              </a:spcBef>
              <a:spcAft>
                <a:spcPts val="0"/>
              </a:spcAft>
              <a:buClr>
                <a:schemeClr val="dk1"/>
              </a:buClr>
              <a:buSzPts val="2400"/>
              <a:buChar char="–"/>
            </a:pPr>
            <a:r>
              <a:rPr lang="en-US" sz="2400"/>
              <a:t>the second page referenced is 3, </a:t>
            </a:r>
            <a:endParaRPr/>
          </a:p>
          <a:p>
            <a:pPr indent="-285750" lvl="1" marL="742950" rtl="0" algn="just">
              <a:spcBef>
                <a:spcPts val="480"/>
              </a:spcBef>
              <a:spcAft>
                <a:spcPts val="0"/>
              </a:spcAft>
              <a:buClr>
                <a:schemeClr val="dk1"/>
              </a:buClr>
              <a:buSzPts val="2400"/>
              <a:buChar char="–"/>
            </a:pPr>
            <a:r>
              <a:rPr lang="en-US" sz="2400"/>
              <a:t>And so on... </a:t>
            </a:r>
            <a:endParaRPr sz="2400"/>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Optimal policy</a:t>
            </a:r>
            <a:endParaRPr/>
          </a:p>
        </p:txBody>
      </p:sp>
      <p:sp>
        <p:nvSpPr>
          <p:cNvPr id="615" name="Google Shape;615;p67"/>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lang="en-US" sz="2400">
                <a:solidFill>
                  <a:schemeClr val="accent1"/>
                </a:solidFill>
              </a:rPr>
              <a:t>Selects</a:t>
            </a:r>
            <a:r>
              <a:rPr lang="en-US" sz="2400"/>
              <a:t> for replacement that </a:t>
            </a:r>
            <a:r>
              <a:rPr lang="en-US" sz="2400">
                <a:solidFill>
                  <a:schemeClr val="accent1"/>
                </a:solidFill>
              </a:rPr>
              <a:t>page</a:t>
            </a:r>
            <a:r>
              <a:rPr lang="en-US" sz="2400"/>
              <a:t> for which the </a:t>
            </a:r>
            <a:r>
              <a:rPr lang="en-US" sz="2400">
                <a:solidFill>
                  <a:schemeClr val="accent1"/>
                </a:solidFill>
              </a:rPr>
              <a:t>time to the next reference </a:t>
            </a:r>
            <a:r>
              <a:rPr lang="en-US" sz="2400"/>
              <a:t>is the </a:t>
            </a:r>
            <a:r>
              <a:rPr lang="en-US" sz="2400">
                <a:solidFill>
                  <a:schemeClr val="accent1"/>
                </a:solidFill>
              </a:rPr>
              <a:t>longest</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But </a:t>
            </a:r>
            <a:r>
              <a:rPr lang="en-US" sz="2400">
                <a:solidFill>
                  <a:schemeClr val="accent1"/>
                </a:solidFill>
              </a:rPr>
              <a:t>Impossible</a:t>
            </a:r>
            <a:r>
              <a:rPr lang="en-US" sz="2400"/>
              <a:t> to have perfect knowledge of </a:t>
            </a:r>
            <a:r>
              <a:rPr lang="en-US" sz="2400">
                <a:solidFill>
                  <a:schemeClr val="accent1"/>
                </a:solidFill>
              </a:rPr>
              <a:t>future events</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accent1"/>
              </a:buClr>
              <a:buSzPts val="2400"/>
              <a:buChar char="•"/>
            </a:pPr>
            <a:r>
              <a:rPr lang="en-US" sz="2400">
                <a:solidFill>
                  <a:schemeClr val="accent1"/>
                </a:solidFill>
              </a:rPr>
              <a:t>Impossible to implement</a:t>
            </a:r>
            <a:r>
              <a:rPr lang="en-US" sz="2400"/>
              <a:t>, used as a reference for comparison</a:t>
            </a:r>
            <a:endParaRPr sz="24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Optimal Policy </a:t>
            </a:r>
            <a:br>
              <a:rPr lang="en-US"/>
            </a:br>
            <a:r>
              <a:rPr lang="en-US"/>
              <a:t>Example</a:t>
            </a:r>
            <a:endParaRPr/>
          </a:p>
        </p:txBody>
      </p:sp>
      <p:pic>
        <p:nvPicPr>
          <p:cNvPr id="621" name="Google Shape;621;p68"/>
          <p:cNvPicPr preferRelativeResize="0"/>
          <p:nvPr/>
        </p:nvPicPr>
        <p:blipFill rotWithShape="1">
          <a:blip r:embed="rId3">
            <a:alphaModFix/>
          </a:blip>
          <a:srcRect b="0" l="0" r="0" t="0"/>
          <a:stretch/>
        </p:blipFill>
        <p:spPr>
          <a:xfrm>
            <a:off x="228600" y="1905000"/>
            <a:ext cx="8534400" cy="1228725"/>
          </a:xfrm>
          <a:prstGeom prst="rect">
            <a:avLst/>
          </a:prstGeom>
          <a:noFill/>
          <a:ln>
            <a:noFill/>
          </a:ln>
        </p:spPr>
      </p:pic>
      <p:pic>
        <p:nvPicPr>
          <p:cNvPr id="622" name="Google Shape;622;p68"/>
          <p:cNvPicPr preferRelativeResize="0"/>
          <p:nvPr/>
        </p:nvPicPr>
        <p:blipFill rotWithShape="1">
          <a:blip r:embed="rId4">
            <a:alphaModFix/>
          </a:blip>
          <a:srcRect b="0" l="0" r="0" t="0"/>
          <a:stretch/>
        </p:blipFill>
        <p:spPr>
          <a:xfrm>
            <a:off x="914400" y="3200400"/>
            <a:ext cx="7772400" cy="2209800"/>
          </a:xfrm>
          <a:prstGeom prst="rect">
            <a:avLst/>
          </a:prstGeom>
          <a:noFill/>
          <a:ln cap="flat" cmpd="sng" w="9525">
            <a:solidFill>
              <a:schemeClr val="accent1"/>
            </a:solidFill>
            <a:prstDash val="solid"/>
            <a:miter lim="800000"/>
            <a:headEnd len="sm" w="sm" type="none"/>
            <a:tailEnd len="sm" w="sm" type="none"/>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6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t>Least Recently Used (LRU)</a:t>
            </a:r>
            <a:endParaRPr sz="4000"/>
          </a:p>
        </p:txBody>
      </p:sp>
      <p:sp>
        <p:nvSpPr>
          <p:cNvPr id="629" name="Google Shape;629;p69"/>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lang="en-US" sz="2400">
                <a:solidFill>
                  <a:schemeClr val="accent1"/>
                </a:solidFill>
              </a:rPr>
              <a:t>Replaces</a:t>
            </a:r>
            <a:r>
              <a:rPr lang="en-US" sz="2400"/>
              <a:t> the </a:t>
            </a:r>
            <a:r>
              <a:rPr lang="en-US" sz="2400">
                <a:solidFill>
                  <a:schemeClr val="accent1"/>
                </a:solidFill>
              </a:rPr>
              <a:t>page</a:t>
            </a:r>
            <a:r>
              <a:rPr lang="en-US" sz="2400"/>
              <a:t> that has </a:t>
            </a:r>
            <a:r>
              <a:rPr lang="en-US" sz="2400">
                <a:solidFill>
                  <a:schemeClr val="accent1"/>
                </a:solidFill>
              </a:rPr>
              <a:t>not been referenced for the longest time</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By the principle of locality, this should be the page least likely to be referenced in the near future</a:t>
            </a:r>
            <a:endParaRPr/>
          </a:p>
          <a:p>
            <a:pPr indent="-190500" lvl="0" marL="342900" rtl="0" algn="just">
              <a:spcBef>
                <a:spcPts val="480"/>
              </a:spcBef>
              <a:spcAft>
                <a:spcPts val="0"/>
              </a:spcAft>
              <a:buClr>
                <a:schemeClr val="dk1"/>
              </a:buClr>
              <a:buSzPts val="2400"/>
              <a:buNone/>
            </a:pPr>
            <a:r>
              <a:t/>
            </a:r>
            <a:endParaRPr sz="2400">
              <a:solidFill>
                <a:schemeClr val="accent1"/>
              </a:solidFill>
            </a:endParaRPr>
          </a:p>
          <a:p>
            <a:pPr indent="-342900" lvl="0" marL="342900" rtl="0" algn="just">
              <a:spcBef>
                <a:spcPts val="480"/>
              </a:spcBef>
              <a:spcAft>
                <a:spcPts val="0"/>
              </a:spcAft>
              <a:buClr>
                <a:schemeClr val="accent1"/>
              </a:buClr>
              <a:buSzPts val="2400"/>
              <a:buChar char="•"/>
            </a:pPr>
            <a:r>
              <a:rPr lang="en-US" sz="2400">
                <a:solidFill>
                  <a:schemeClr val="accent1"/>
                </a:solidFill>
              </a:rPr>
              <a:t>Difficult to implement</a:t>
            </a:r>
            <a:endParaRPr/>
          </a:p>
          <a:p>
            <a:pPr indent="-285750" lvl="1" marL="742950" rtl="0" algn="just">
              <a:spcBef>
                <a:spcPts val="480"/>
              </a:spcBef>
              <a:spcAft>
                <a:spcPts val="0"/>
              </a:spcAft>
              <a:buClr>
                <a:schemeClr val="dk1"/>
              </a:buClr>
              <a:buSzPts val="2400"/>
              <a:buChar char="–"/>
            </a:pPr>
            <a:r>
              <a:rPr lang="en-US" sz="2400"/>
              <a:t>One approach is to tag each page with the time of last reference. </a:t>
            </a:r>
            <a:endParaRPr/>
          </a:p>
          <a:p>
            <a:pPr indent="-285750" lvl="1" marL="742950" rtl="0" algn="just">
              <a:spcBef>
                <a:spcPts val="480"/>
              </a:spcBef>
              <a:spcAft>
                <a:spcPts val="0"/>
              </a:spcAft>
              <a:buClr>
                <a:schemeClr val="dk1"/>
              </a:buClr>
              <a:buSzPts val="2400"/>
              <a:buChar char="–"/>
            </a:pPr>
            <a:r>
              <a:rPr lang="en-US" sz="2400"/>
              <a:t>This requires a great deal of overhead.</a:t>
            </a:r>
            <a:endParaRPr sz="2400"/>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7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LRU Example</a:t>
            </a:r>
            <a:endParaRPr/>
          </a:p>
        </p:txBody>
      </p:sp>
      <p:pic>
        <p:nvPicPr>
          <p:cNvPr id="635" name="Google Shape;635;p70"/>
          <p:cNvPicPr preferRelativeResize="0"/>
          <p:nvPr/>
        </p:nvPicPr>
        <p:blipFill rotWithShape="1">
          <a:blip r:embed="rId3">
            <a:alphaModFix/>
          </a:blip>
          <a:srcRect b="0" l="0" r="0" t="0"/>
          <a:stretch/>
        </p:blipFill>
        <p:spPr>
          <a:xfrm>
            <a:off x="228600" y="1895475"/>
            <a:ext cx="8534400" cy="1228725"/>
          </a:xfrm>
          <a:prstGeom prst="rect">
            <a:avLst/>
          </a:prstGeom>
          <a:noFill/>
          <a:ln>
            <a:noFill/>
          </a:ln>
        </p:spPr>
      </p:pic>
      <p:pic>
        <p:nvPicPr>
          <p:cNvPr id="636" name="Google Shape;636;p70"/>
          <p:cNvPicPr preferRelativeResize="0"/>
          <p:nvPr/>
        </p:nvPicPr>
        <p:blipFill rotWithShape="1">
          <a:blip r:embed="rId4">
            <a:alphaModFix/>
          </a:blip>
          <a:srcRect b="0" l="0" r="0" t="0"/>
          <a:stretch/>
        </p:blipFill>
        <p:spPr>
          <a:xfrm>
            <a:off x="914400" y="3200400"/>
            <a:ext cx="7772400" cy="1828800"/>
          </a:xfrm>
          <a:prstGeom prst="rect">
            <a:avLst/>
          </a:prstGeom>
          <a:noFill/>
          <a:ln cap="flat" cmpd="sng" w="9525">
            <a:solidFill>
              <a:schemeClr val="accent1"/>
            </a:solidFill>
            <a:prstDash val="solid"/>
            <a:miter lim="800000"/>
            <a:headEnd len="sm" w="sm" type="none"/>
            <a:tailEnd len="sm" w="sm" type="none"/>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7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First-in, first-out (FIFO)</a:t>
            </a:r>
            <a:endParaRPr/>
          </a:p>
        </p:txBody>
      </p:sp>
      <p:sp>
        <p:nvSpPr>
          <p:cNvPr id="643" name="Google Shape;643;p71"/>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lang="en-US" sz="2400">
                <a:solidFill>
                  <a:schemeClr val="accent1"/>
                </a:solidFill>
              </a:rPr>
              <a:t>Treats page frames </a:t>
            </a:r>
            <a:r>
              <a:rPr lang="en-US" sz="2400"/>
              <a:t>allocated to a process as a </a:t>
            </a:r>
            <a:r>
              <a:rPr lang="en-US" sz="2400">
                <a:solidFill>
                  <a:schemeClr val="accent1"/>
                </a:solidFill>
              </a:rPr>
              <a:t>circular buffer</a:t>
            </a:r>
            <a:endParaRPr/>
          </a:p>
          <a:p>
            <a:pPr indent="-285750" lvl="1" marL="742950" rtl="0" algn="just">
              <a:spcBef>
                <a:spcPts val="480"/>
              </a:spcBef>
              <a:spcAft>
                <a:spcPts val="0"/>
              </a:spcAft>
              <a:buClr>
                <a:schemeClr val="accent1"/>
              </a:buClr>
              <a:buSzPts val="2400"/>
              <a:buChar char="–"/>
            </a:pPr>
            <a:r>
              <a:rPr lang="en-US" sz="2400">
                <a:solidFill>
                  <a:schemeClr val="accent1"/>
                </a:solidFill>
              </a:rPr>
              <a:t>Simplest </a:t>
            </a:r>
            <a:r>
              <a:rPr lang="en-US" sz="2400"/>
              <a:t>replacement policy </a:t>
            </a:r>
            <a:r>
              <a:rPr lang="en-US" sz="2400">
                <a:solidFill>
                  <a:schemeClr val="accent1"/>
                </a:solidFill>
              </a:rPr>
              <a:t>to implement</a:t>
            </a:r>
            <a:endParaRPr/>
          </a:p>
          <a:p>
            <a:pPr indent="-133350" lvl="1" marL="742950" rtl="0" algn="just">
              <a:spcBef>
                <a:spcPts val="480"/>
              </a:spcBef>
              <a:spcAft>
                <a:spcPts val="0"/>
              </a:spcAft>
              <a:buClr>
                <a:schemeClr val="dk1"/>
              </a:buClr>
              <a:buSzPts val="2400"/>
              <a:buNone/>
            </a:pPr>
            <a:r>
              <a:t/>
            </a:r>
            <a:endParaRPr sz="2400">
              <a:solidFill>
                <a:schemeClr val="accent1"/>
              </a:solidFill>
            </a:endParaRPr>
          </a:p>
          <a:p>
            <a:pPr indent="-342900" lvl="0" marL="342900" rtl="0" algn="just">
              <a:spcBef>
                <a:spcPts val="480"/>
              </a:spcBef>
              <a:spcAft>
                <a:spcPts val="0"/>
              </a:spcAft>
              <a:buClr>
                <a:schemeClr val="accent1"/>
              </a:buClr>
              <a:buSzPts val="2400"/>
              <a:buChar char="•"/>
            </a:pPr>
            <a:r>
              <a:rPr lang="en-US" sz="2400">
                <a:solidFill>
                  <a:schemeClr val="accent1"/>
                </a:solidFill>
              </a:rPr>
              <a:t>Page</a:t>
            </a:r>
            <a:r>
              <a:rPr lang="en-US" sz="2400"/>
              <a:t> that has been in memory the </a:t>
            </a:r>
            <a:r>
              <a:rPr lang="en-US" sz="2400">
                <a:solidFill>
                  <a:schemeClr val="accent1"/>
                </a:solidFill>
              </a:rPr>
              <a:t>longest is replaced</a:t>
            </a:r>
            <a:endParaRPr/>
          </a:p>
          <a:p>
            <a:pPr indent="-285750" lvl="1" marL="742950" rtl="0" algn="just">
              <a:spcBef>
                <a:spcPts val="480"/>
              </a:spcBef>
              <a:spcAft>
                <a:spcPts val="0"/>
              </a:spcAft>
              <a:buClr>
                <a:schemeClr val="dk1"/>
              </a:buClr>
              <a:buSzPts val="2400"/>
              <a:buChar char="–"/>
            </a:pPr>
            <a:r>
              <a:rPr lang="en-US" sz="2400"/>
              <a:t>But, this page may be needed again very soon if it hasn’t truly fallen out of use</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7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FIFO Example</a:t>
            </a:r>
            <a:endParaRPr/>
          </a:p>
        </p:txBody>
      </p:sp>
      <p:pic>
        <p:nvPicPr>
          <p:cNvPr id="650" name="Google Shape;650;p72"/>
          <p:cNvPicPr preferRelativeResize="0"/>
          <p:nvPr/>
        </p:nvPicPr>
        <p:blipFill rotWithShape="1">
          <a:blip r:embed="rId3">
            <a:alphaModFix/>
          </a:blip>
          <a:srcRect b="0" l="0" r="0" t="0"/>
          <a:stretch/>
        </p:blipFill>
        <p:spPr>
          <a:xfrm>
            <a:off x="228600" y="1971675"/>
            <a:ext cx="8534400" cy="1228725"/>
          </a:xfrm>
          <a:prstGeom prst="rect">
            <a:avLst/>
          </a:prstGeom>
          <a:noFill/>
          <a:ln>
            <a:noFill/>
          </a:ln>
        </p:spPr>
      </p:pic>
      <p:pic>
        <p:nvPicPr>
          <p:cNvPr id="651" name="Google Shape;651;p72"/>
          <p:cNvPicPr preferRelativeResize="0"/>
          <p:nvPr/>
        </p:nvPicPr>
        <p:blipFill rotWithShape="1">
          <a:blip r:embed="rId4">
            <a:alphaModFix/>
          </a:blip>
          <a:srcRect b="0" l="0" r="0" t="0"/>
          <a:stretch/>
        </p:blipFill>
        <p:spPr>
          <a:xfrm>
            <a:off x="762000" y="3209925"/>
            <a:ext cx="7924800" cy="2047875"/>
          </a:xfrm>
          <a:prstGeom prst="rect">
            <a:avLst/>
          </a:prstGeom>
          <a:noFill/>
          <a:ln cap="flat" cmpd="sng" w="9525">
            <a:solidFill>
              <a:schemeClr val="accent1"/>
            </a:solidFill>
            <a:prstDash val="solid"/>
            <a:miter lim="800000"/>
            <a:headEnd len="sm" w="sm" type="none"/>
            <a:tailEnd len="sm" w="sm" type="none"/>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7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First-in, first-out (FIFO)</a:t>
            </a:r>
            <a:endParaRPr/>
          </a:p>
        </p:txBody>
      </p:sp>
      <p:sp>
        <p:nvSpPr>
          <p:cNvPr id="657" name="Google Shape;657;p73"/>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The </a:t>
            </a:r>
            <a:r>
              <a:rPr lang="en-US" sz="2400">
                <a:solidFill>
                  <a:schemeClr val="accent1"/>
                </a:solidFill>
              </a:rPr>
              <a:t>FIFO policy </a:t>
            </a:r>
            <a:r>
              <a:rPr lang="en-US" sz="2400"/>
              <a:t>results in </a:t>
            </a:r>
            <a:r>
              <a:rPr lang="en-US" sz="2400">
                <a:solidFill>
                  <a:schemeClr val="accent1"/>
                </a:solidFill>
              </a:rPr>
              <a:t>six page faults</a:t>
            </a:r>
            <a:r>
              <a:rPr lang="en-US" sz="2400"/>
              <a:t>.</a:t>
            </a:r>
            <a:endParaRPr/>
          </a:p>
          <a:p>
            <a:pPr indent="-285750" lvl="1" marL="742950" rtl="0" algn="just">
              <a:spcBef>
                <a:spcPts val="480"/>
              </a:spcBef>
              <a:spcAft>
                <a:spcPts val="0"/>
              </a:spcAft>
              <a:buClr>
                <a:schemeClr val="dk1"/>
              </a:buClr>
              <a:buSzPts val="2400"/>
              <a:buChar char="–"/>
            </a:pPr>
            <a:r>
              <a:rPr lang="en-US" sz="2400"/>
              <a:t>Note that </a:t>
            </a:r>
            <a:r>
              <a:rPr lang="en-US" sz="2400">
                <a:solidFill>
                  <a:schemeClr val="accent1"/>
                </a:solidFill>
              </a:rPr>
              <a:t>LRU recognizes </a:t>
            </a:r>
            <a:r>
              <a:rPr lang="en-US" sz="2400"/>
              <a:t>that </a:t>
            </a:r>
            <a:r>
              <a:rPr lang="en-US" sz="2400">
                <a:solidFill>
                  <a:schemeClr val="accent1"/>
                </a:solidFill>
              </a:rPr>
              <a:t>pages 2 and 5 </a:t>
            </a:r>
            <a:r>
              <a:rPr lang="en-US" sz="2400"/>
              <a:t>are </a:t>
            </a:r>
            <a:r>
              <a:rPr lang="en-US" sz="2400">
                <a:solidFill>
                  <a:schemeClr val="accent1"/>
                </a:solidFill>
              </a:rPr>
              <a:t>referenced more frequently </a:t>
            </a:r>
            <a:r>
              <a:rPr lang="en-US" sz="2400"/>
              <a:t>than other pages, whereas FIFO does not.</a:t>
            </a:r>
            <a:endParaRPr sz="2400"/>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7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Clock Policy</a:t>
            </a:r>
            <a:endParaRPr/>
          </a:p>
        </p:txBody>
      </p:sp>
      <p:sp>
        <p:nvSpPr>
          <p:cNvPr id="664" name="Google Shape;664;p74"/>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Uses an </a:t>
            </a:r>
            <a:r>
              <a:rPr lang="en-US" sz="2400">
                <a:solidFill>
                  <a:schemeClr val="accent1"/>
                </a:solidFill>
              </a:rPr>
              <a:t>additional bit </a:t>
            </a:r>
            <a:r>
              <a:rPr lang="en-US" sz="2400"/>
              <a:t>called a </a:t>
            </a:r>
            <a:r>
              <a:rPr lang="en-US" sz="2400">
                <a:solidFill>
                  <a:schemeClr val="accent1"/>
                </a:solidFill>
              </a:rPr>
              <a:t>“use bit”</a:t>
            </a:r>
            <a:endParaRPr/>
          </a:p>
          <a:p>
            <a:pPr indent="-190500" lvl="0" marL="342900" rtl="0" algn="just">
              <a:spcBef>
                <a:spcPts val="480"/>
              </a:spcBef>
              <a:spcAft>
                <a:spcPts val="0"/>
              </a:spcAft>
              <a:buClr>
                <a:schemeClr val="dk1"/>
              </a:buClr>
              <a:buSzPts val="2400"/>
              <a:buNone/>
            </a:pPr>
            <a:r>
              <a:t/>
            </a:r>
            <a:endParaRPr sz="2400">
              <a:solidFill>
                <a:schemeClr val="accent1"/>
              </a:solidFill>
            </a:endParaRPr>
          </a:p>
          <a:p>
            <a:pPr indent="-342900" lvl="0" marL="342900" rtl="0" algn="just">
              <a:spcBef>
                <a:spcPts val="480"/>
              </a:spcBef>
              <a:spcAft>
                <a:spcPts val="0"/>
              </a:spcAft>
              <a:buClr>
                <a:schemeClr val="dk1"/>
              </a:buClr>
              <a:buSzPts val="2400"/>
              <a:buChar char="•"/>
            </a:pPr>
            <a:r>
              <a:rPr lang="en-US" sz="2400"/>
              <a:t>When a </a:t>
            </a:r>
            <a:r>
              <a:rPr lang="en-US" sz="2400">
                <a:solidFill>
                  <a:schemeClr val="accent1"/>
                </a:solidFill>
              </a:rPr>
              <a:t>page</a:t>
            </a:r>
            <a:r>
              <a:rPr lang="en-US" sz="2400"/>
              <a:t> is </a:t>
            </a:r>
            <a:r>
              <a:rPr lang="en-US" sz="2400">
                <a:solidFill>
                  <a:schemeClr val="accent1"/>
                </a:solidFill>
              </a:rPr>
              <a:t>first loaded </a:t>
            </a:r>
            <a:r>
              <a:rPr lang="en-US" sz="2400"/>
              <a:t>in memory </a:t>
            </a:r>
            <a:r>
              <a:rPr lang="en-US" sz="2400">
                <a:solidFill>
                  <a:schemeClr val="accent1"/>
                </a:solidFill>
              </a:rPr>
              <a:t>or referenced</a:t>
            </a:r>
            <a:r>
              <a:rPr lang="en-US" sz="2400"/>
              <a:t>, the </a:t>
            </a:r>
            <a:r>
              <a:rPr lang="en-US" sz="2400">
                <a:solidFill>
                  <a:schemeClr val="accent1"/>
                </a:solidFill>
              </a:rPr>
              <a:t>use bit </a:t>
            </a:r>
            <a:r>
              <a:rPr lang="en-US" sz="2400"/>
              <a:t>is set to </a:t>
            </a:r>
            <a:r>
              <a:rPr lang="en-US" sz="2400">
                <a:solidFill>
                  <a:schemeClr val="accent1"/>
                </a:solidFill>
              </a:rPr>
              <a:t>1</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When it is </a:t>
            </a:r>
            <a:r>
              <a:rPr lang="en-US" sz="2400">
                <a:solidFill>
                  <a:schemeClr val="accent1"/>
                </a:solidFill>
              </a:rPr>
              <a:t>time to replace </a:t>
            </a:r>
            <a:r>
              <a:rPr lang="en-US" sz="2400"/>
              <a:t>a page, the OS </a:t>
            </a:r>
            <a:r>
              <a:rPr lang="en-US" sz="2400">
                <a:solidFill>
                  <a:schemeClr val="accent1"/>
                </a:solidFill>
              </a:rPr>
              <a:t>scans </a:t>
            </a:r>
            <a:r>
              <a:rPr lang="en-US" sz="2400"/>
              <a:t>the set </a:t>
            </a:r>
            <a:r>
              <a:rPr lang="en-US" sz="2400">
                <a:solidFill>
                  <a:schemeClr val="accent1"/>
                </a:solidFill>
              </a:rPr>
              <a:t>flipping all 1’s to 0</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The </a:t>
            </a:r>
            <a:r>
              <a:rPr lang="en-US" sz="2400">
                <a:solidFill>
                  <a:schemeClr val="accent1"/>
                </a:solidFill>
              </a:rPr>
              <a:t>first frame </a:t>
            </a:r>
            <a:r>
              <a:rPr lang="en-US" sz="2400"/>
              <a:t>encountered with the </a:t>
            </a:r>
            <a:r>
              <a:rPr lang="en-US" sz="2400">
                <a:solidFill>
                  <a:schemeClr val="accent1"/>
                </a:solidFill>
              </a:rPr>
              <a:t>use bit already set to 0</a:t>
            </a:r>
            <a:r>
              <a:rPr lang="en-US" sz="2400"/>
              <a:t> is </a:t>
            </a:r>
            <a:r>
              <a:rPr lang="en-US" sz="2400">
                <a:solidFill>
                  <a:schemeClr val="accent1"/>
                </a:solidFill>
              </a:rPr>
              <a:t>replaced.</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7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Clock Policy Example</a:t>
            </a:r>
            <a:endParaRPr/>
          </a:p>
        </p:txBody>
      </p:sp>
      <p:pic>
        <p:nvPicPr>
          <p:cNvPr id="671" name="Google Shape;671;p75"/>
          <p:cNvPicPr preferRelativeResize="0"/>
          <p:nvPr/>
        </p:nvPicPr>
        <p:blipFill rotWithShape="1">
          <a:blip r:embed="rId3">
            <a:alphaModFix/>
          </a:blip>
          <a:srcRect b="0" l="0" r="0" t="0"/>
          <a:stretch/>
        </p:blipFill>
        <p:spPr>
          <a:xfrm>
            <a:off x="228600" y="1971675"/>
            <a:ext cx="8534400" cy="1228725"/>
          </a:xfrm>
          <a:prstGeom prst="rect">
            <a:avLst/>
          </a:prstGeom>
          <a:noFill/>
          <a:ln>
            <a:noFill/>
          </a:ln>
        </p:spPr>
      </p:pic>
      <p:pic>
        <p:nvPicPr>
          <p:cNvPr id="672" name="Google Shape;672;p75"/>
          <p:cNvPicPr preferRelativeResize="0"/>
          <p:nvPr/>
        </p:nvPicPr>
        <p:blipFill rotWithShape="1">
          <a:blip r:embed="rId4">
            <a:alphaModFix/>
          </a:blip>
          <a:srcRect b="0" l="0" r="0" t="0"/>
          <a:stretch/>
        </p:blipFill>
        <p:spPr>
          <a:xfrm>
            <a:off x="533400" y="3124200"/>
            <a:ext cx="8229600" cy="2286000"/>
          </a:xfrm>
          <a:prstGeom prst="rect">
            <a:avLst/>
          </a:prstGeom>
          <a:noFill/>
          <a:ln cap="flat" cmpd="sng" w="9525">
            <a:solidFill>
              <a:schemeClr val="accent1"/>
            </a:solidFill>
            <a:prstDash val="solid"/>
            <a:miter lim="800000"/>
            <a:headEnd len="sm" w="sm" type="none"/>
            <a:tailEnd len="sm" w="sm" type="none"/>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7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Clock Policy Example</a:t>
            </a:r>
            <a:endParaRPr/>
          </a:p>
        </p:txBody>
      </p:sp>
      <p:sp>
        <p:nvSpPr>
          <p:cNvPr id="678" name="Google Shape;678;p76"/>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Note that the </a:t>
            </a:r>
            <a:r>
              <a:rPr lang="en-US" sz="2400">
                <a:solidFill>
                  <a:schemeClr val="accent1"/>
                </a:solidFill>
              </a:rPr>
              <a:t>clock policy </a:t>
            </a:r>
            <a:r>
              <a:rPr lang="en-US" sz="2400"/>
              <a:t>is adept at </a:t>
            </a:r>
            <a:r>
              <a:rPr lang="en-US" sz="2400">
                <a:solidFill>
                  <a:schemeClr val="accent1"/>
                </a:solidFill>
              </a:rPr>
              <a:t>protecting frames 2 and 5 </a:t>
            </a:r>
            <a:r>
              <a:rPr lang="en-US" sz="2400"/>
              <a:t>from replacement.</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pic>
        <p:nvPicPr>
          <p:cNvPr descr="Fig08_16a.gif" id="684" name="Google Shape;684;p77"/>
          <p:cNvPicPr preferRelativeResize="0"/>
          <p:nvPr>
            <p:ph idx="1" type="body"/>
          </p:nvPr>
        </p:nvPicPr>
        <p:blipFill rotWithShape="1">
          <a:blip r:embed="rId3">
            <a:alphaModFix/>
          </a:blip>
          <a:srcRect b="0" l="0" r="0" t="0"/>
          <a:stretch/>
        </p:blipFill>
        <p:spPr>
          <a:xfrm>
            <a:off x="1447800" y="1245243"/>
            <a:ext cx="6713902" cy="5460357"/>
          </a:xfrm>
          <a:prstGeom prst="rect">
            <a:avLst/>
          </a:prstGeom>
          <a:noFill/>
          <a:ln>
            <a:noFill/>
          </a:ln>
        </p:spPr>
      </p:pic>
      <p:sp>
        <p:nvSpPr>
          <p:cNvPr id="685" name="Google Shape;685;p7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Clock Policy</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7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Clock Policy</a:t>
            </a:r>
            <a:endParaRPr/>
          </a:p>
        </p:txBody>
      </p:sp>
      <p:pic>
        <p:nvPicPr>
          <p:cNvPr descr="Fig08_16b.gif" id="692" name="Google Shape;692;p78"/>
          <p:cNvPicPr preferRelativeResize="0"/>
          <p:nvPr/>
        </p:nvPicPr>
        <p:blipFill rotWithShape="1">
          <a:blip r:embed="rId3">
            <a:alphaModFix/>
          </a:blip>
          <a:srcRect b="0" l="0" r="0" t="0"/>
          <a:stretch/>
        </p:blipFill>
        <p:spPr>
          <a:xfrm>
            <a:off x="1333431" y="1367803"/>
            <a:ext cx="6515169" cy="5490197"/>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7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Combined Examples</a:t>
            </a:r>
            <a:endParaRPr/>
          </a:p>
        </p:txBody>
      </p:sp>
      <p:pic>
        <p:nvPicPr>
          <p:cNvPr id="699" name="Google Shape;699;p79"/>
          <p:cNvPicPr preferRelativeResize="0"/>
          <p:nvPr/>
        </p:nvPicPr>
        <p:blipFill rotWithShape="1">
          <a:blip r:embed="rId3">
            <a:alphaModFix/>
          </a:blip>
          <a:srcRect b="0" l="0" r="0" t="0"/>
          <a:stretch/>
        </p:blipFill>
        <p:spPr>
          <a:xfrm>
            <a:off x="381000" y="1295400"/>
            <a:ext cx="8534400" cy="5372100"/>
          </a:xfrm>
          <a:prstGeom prst="rect">
            <a:avLst/>
          </a:prstGeom>
          <a:noFill/>
          <a:ln cap="flat" cmpd="sng" w="9525">
            <a:solidFill>
              <a:schemeClr val="accent1"/>
            </a:solidFill>
            <a:prstDash val="solid"/>
            <a:miter lim="800000"/>
            <a:headEnd len="sm" w="sm" type="none"/>
            <a:tailEnd len="sm" w="sm" type="none"/>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8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Comparison</a:t>
            </a:r>
            <a:endParaRPr/>
          </a:p>
        </p:txBody>
      </p:sp>
      <p:pic>
        <p:nvPicPr>
          <p:cNvPr descr="Fig08_17.gif" id="706" name="Google Shape;706;p80"/>
          <p:cNvPicPr preferRelativeResize="0"/>
          <p:nvPr>
            <p:ph idx="1" type="body"/>
          </p:nvPr>
        </p:nvPicPr>
        <p:blipFill rotWithShape="1">
          <a:blip r:embed="rId3">
            <a:alphaModFix/>
          </a:blip>
          <a:srcRect b="0" l="0" r="0" t="0"/>
          <a:stretch/>
        </p:blipFill>
        <p:spPr>
          <a:xfrm>
            <a:off x="78463" y="1600200"/>
            <a:ext cx="8989337" cy="4285969"/>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8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t>Performance Improvement of Clock Algorithm</a:t>
            </a:r>
            <a:endParaRPr sz="3200"/>
          </a:p>
        </p:txBody>
      </p:sp>
      <p:sp>
        <p:nvSpPr>
          <p:cNvPr id="712" name="Google Shape;712;p81"/>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lang="en-US" sz="2400">
                <a:solidFill>
                  <a:schemeClr val="accent1"/>
                </a:solidFill>
              </a:rPr>
              <a:t>Use bit </a:t>
            </a:r>
            <a:r>
              <a:rPr lang="en-US" sz="2400"/>
              <a:t>and </a:t>
            </a:r>
            <a:r>
              <a:rPr lang="en-US" sz="2400">
                <a:solidFill>
                  <a:schemeClr val="accent1"/>
                </a:solidFill>
              </a:rPr>
              <a:t>modify bit </a:t>
            </a:r>
            <a:r>
              <a:rPr lang="en-US" sz="2400"/>
              <a:t>can have following </a:t>
            </a:r>
            <a:r>
              <a:rPr lang="en-US" sz="2400">
                <a:solidFill>
                  <a:schemeClr val="accent1"/>
                </a:solidFill>
              </a:rPr>
              <a:t>combinations</a:t>
            </a:r>
            <a:r>
              <a:rPr lang="en-US" sz="2400"/>
              <a:t>:</a:t>
            </a:r>
            <a:endParaRPr/>
          </a:p>
          <a:p>
            <a:pPr indent="-285750" lvl="1" marL="742950" rtl="0" algn="just">
              <a:spcBef>
                <a:spcPts val="480"/>
              </a:spcBef>
              <a:spcAft>
                <a:spcPts val="0"/>
              </a:spcAft>
              <a:buClr>
                <a:schemeClr val="dk1"/>
              </a:buClr>
              <a:buSzPts val="2400"/>
              <a:buChar char="–"/>
            </a:pPr>
            <a:r>
              <a:rPr lang="en-US" sz="2400"/>
              <a:t>u=0, m=0</a:t>
            </a:r>
            <a:endParaRPr/>
          </a:p>
          <a:p>
            <a:pPr indent="-285750" lvl="1" marL="742950" rtl="0" algn="just">
              <a:spcBef>
                <a:spcPts val="480"/>
              </a:spcBef>
              <a:spcAft>
                <a:spcPts val="0"/>
              </a:spcAft>
              <a:buClr>
                <a:schemeClr val="dk1"/>
              </a:buClr>
              <a:buSzPts val="2400"/>
              <a:buChar char="–"/>
            </a:pPr>
            <a:r>
              <a:rPr lang="en-US" sz="2400"/>
              <a:t>u=1, m=0</a:t>
            </a:r>
            <a:endParaRPr/>
          </a:p>
          <a:p>
            <a:pPr indent="-285750" lvl="1" marL="742950" rtl="0" algn="just">
              <a:spcBef>
                <a:spcPts val="480"/>
              </a:spcBef>
              <a:spcAft>
                <a:spcPts val="0"/>
              </a:spcAft>
              <a:buClr>
                <a:schemeClr val="dk1"/>
              </a:buClr>
              <a:buSzPts val="2400"/>
              <a:buChar char="–"/>
            </a:pPr>
            <a:r>
              <a:rPr lang="en-US" sz="2400"/>
              <a:t>u=0, m=1</a:t>
            </a:r>
            <a:endParaRPr/>
          </a:p>
          <a:p>
            <a:pPr indent="-285750" lvl="1" marL="742950" rtl="0" algn="just">
              <a:spcBef>
                <a:spcPts val="480"/>
              </a:spcBef>
              <a:spcAft>
                <a:spcPts val="0"/>
              </a:spcAft>
              <a:buClr>
                <a:schemeClr val="dk1"/>
              </a:buClr>
              <a:buSzPts val="2400"/>
              <a:buChar char="–"/>
            </a:pPr>
            <a:r>
              <a:rPr lang="en-US" sz="2400"/>
              <a:t>u=1, m=1</a:t>
            </a:r>
            <a:endParaRPr/>
          </a:p>
          <a:p>
            <a:pPr indent="-133350" lvl="1" marL="74295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Modified approach can use these scenarios for performance improvement</a:t>
            </a:r>
            <a:endParaRPr sz="2400"/>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8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Performance Improvement of Clock Algorithm</a:t>
            </a:r>
            <a:endParaRPr sz="3600"/>
          </a:p>
        </p:txBody>
      </p:sp>
      <p:sp>
        <p:nvSpPr>
          <p:cNvPr id="718" name="Google Shape;718;p82"/>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lang="en-US" sz="2400">
                <a:solidFill>
                  <a:schemeClr val="accent1"/>
                </a:solidFill>
              </a:rPr>
              <a:t>Scan the buffer </a:t>
            </a:r>
            <a:r>
              <a:rPr lang="en-US" sz="2400"/>
              <a:t>from </a:t>
            </a:r>
            <a:r>
              <a:rPr lang="en-US" sz="2400">
                <a:solidFill>
                  <a:schemeClr val="accent1"/>
                </a:solidFill>
              </a:rPr>
              <a:t>current position</a:t>
            </a:r>
            <a:endParaRPr/>
          </a:p>
          <a:p>
            <a:pPr indent="-285750" lvl="1" marL="742950" rtl="0" algn="just">
              <a:spcBef>
                <a:spcPts val="480"/>
              </a:spcBef>
              <a:spcAft>
                <a:spcPts val="0"/>
              </a:spcAft>
              <a:buClr>
                <a:schemeClr val="dk1"/>
              </a:buClr>
              <a:buSzPts val="2400"/>
              <a:buChar char="–"/>
            </a:pPr>
            <a:r>
              <a:rPr lang="en-US" sz="2400"/>
              <a:t>Don’t modify use bit; look for frame with </a:t>
            </a:r>
            <a:r>
              <a:rPr b="1" lang="en-US" sz="2400">
                <a:solidFill>
                  <a:schemeClr val="accent1"/>
                </a:solidFill>
              </a:rPr>
              <a:t>u=0, m=0</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If the </a:t>
            </a:r>
            <a:r>
              <a:rPr lang="en-US" sz="2400">
                <a:solidFill>
                  <a:schemeClr val="accent1"/>
                </a:solidFill>
              </a:rPr>
              <a:t>step 1 scan fails</a:t>
            </a:r>
            <a:r>
              <a:rPr lang="en-US" sz="2400"/>
              <a:t>, scan </a:t>
            </a:r>
            <a:r>
              <a:rPr lang="en-US" sz="2400">
                <a:solidFill>
                  <a:schemeClr val="accent1"/>
                </a:solidFill>
              </a:rPr>
              <a:t>again</a:t>
            </a:r>
            <a:endParaRPr/>
          </a:p>
          <a:p>
            <a:pPr indent="-285750" lvl="1" marL="742950" rtl="0" algn="just">
              <a:spcBef>
                <a:spcPts val="480"/>
              </a:spcBef>
              <a:spcAft>
                <a:spcPts val="0"/>
              </a:spcAft>
              <a:buClr>
                <a:schemeClr val="dk1"/>
              </a:buClr>
              <a:buSzPts val="2400"/>
              <a:buChar char="–"/>
            </a:pPr>
            <a:r>
              <a:rPr lang="en-US" sz="2400"/>
              <a:t>Look for a frame with </a:t>
            </a:r>
            <a:r>
              <a:rPr b="1" lang="en-US" sz="2400">
                <a:solidFill>
                  <a:schemeClr val="accent1"/>
                </a:solidFill>
              </a:rPr>
              <a:t>u=0, m=1</a:t>
            </a:r>
            <a:endParaRPr/>
          </a:p>
          <a:p>
            <a:pPr indent="-285750" lvl="1" marL="742950" rtl="0" algn="just">
              <a:spcBef>
                <a:spcPts val="480"/>
              </a:spcBef>
              <a:spcAft>
                <a:spcPts val="0"/>
              </a:spcAft>
              <a:buClr>
                <a:schemeClr val="dk1"/>
              </a:buClr>
              <a:buSzPts val="2400"/>
              <a:buChar char="–"/>
            </a:pPr>
            <a:r>
              <a:rPr lang="en-US" sz="2400"/>
              <a:t>Reset use bit for each bypassed frame</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If </a:t>
            </a:r>
            <a:r>
              <a:rPr lang="en-US" sz="2400">
                <a:solidFill>
                  <a:schemeClr val="accent1"/>
                </a:solidFill>
              </a:rPr>
              <a:t>step 2 scan fails</a:t>
            </a:r>
            <a:r>
              <a:rPr lang="en-US" sz="2400"/>
              <a:t>,</a:t>
            </a:r>
            <a:endParaRPr/>
          </a:p>
          <a:p>
            <a:pPr indent="-285750" lvl="1" marL="742950" rtl="0" algn="just">
              <a:spcBef>
                <a:spcPts val="480"/>
              </a:spcBef>
              <a:spcAft>
                <a:spcPts val="0"/>
              </a:spcAft>
              <a:buClr>
                <a:schemeClr val="dk1"/>
              </a:buClr>
              <a:buSzPts val="2400"/>
              <a:buChar char="–"/>
            </a:pPr>
            <a:r>
              <a:rPr lang="en-US" sz="2400"/>
              <a:t>Repeat step 1 scan and if required repeat step 2 scan</a:t>
            </a:r>
            <a:endParaRPr sz="2400"/>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8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Performance Improvement of Clock Algorithm</a:t>
            </a:r>
            <a:endParaRPr sz="3600"/>
          </a:p>
        </p:txBody>
      </p:sp>
      <p:sp>
        <p:nvSpPr>
          <p:cNvPr id="724" name="Google Shape;724;p83"/>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Find a page that has not been accessed and modified recently</a:t>
            </a:r>
            <a:endParaRPr/>
          </a:p>
          <a:p>
            <a:pPr indent="-342900" lvl="0" marL="342900" rtl="0" algn="just">
              <a:spcBef>
                <a:spcPts val="480"/>
              </a:spcBef>
              <a:spcAft>
                <a:spcPts val="0"/>
              </a:spcAft>
              <a:buClr>
                <a:schemeClr val="dk1"/>
              </a:buClr>
              <a:buSzPts val="2400"/>
              <a:buChar char="•"/>
            </a:pPr>
            <a:r>
              <a:rPr lang="en-US" sz="2400"/>
              <a:t>If this fails, find the page that has been modified, but not accessed recently (POL)</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accent1"/>
              </a:buClr>
              <a:buSzPts val="2400"/>
              <a:buChar char="•"/>
            </a:pPr>
            <a:r>
              <a:rPr b="1" lang="en-US" sz="2400">
                <a:solidFill>
                  <a:schemeClr val="accent1"/>
                </a:solidFill>
              </a:rPr>
              <a:t>Advantages:</a:t>
            </a:r>
            <a:endParaRPr/>
          </a:p>
          <a:p>
            <a:pPr indent="-285750" lvl="1" marL="742950" rtl="0" algn="just">
              <a:spcBef>
                <a:spcPts val="480"/>
              </a:spcBef>
              <a:spcAft>
                <a:spcPts val="0"/>
              </a:spcAft>
              <a:buClr>
                <a:schemeClr val="dk1"/>
              </a:buClr>
              <a:buSzPts val="2400"/>
              <a:buChar char="–"/>
            </a:pPr>
            <a:r>
              <a:rPr lang="en-US" sz="2400"/>
              <a:t>Unchanged pages given preference</a:t>
            </a:r>
            <a:endParaRPr/>
          </a:p>
          <a:p>
            <a:pPr indent="-285750" lvl="1" marL="742950" rtl="0" algn="just">
              <a:spcBef>
                <a:spcPts val="480"/>
              </a:spcBef>
              <a:spcAft>
                <a:spcPts val="0"/>
              </a:spcAft>
              <a:buClr>
                <a:schemeClr val="dk1"/>
              </a:buClr>
              <a:buSzPts val="2400"/>
              <a:buChar char="–"/>
            </a:pPr>
            <a:r>
              <a:rPr lang="en-US" sz="2400"/>
              <a:t>Saves time </a:t>
            </a:r>
            <a:endParaRPr sz="2400"/>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8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Page Buffering</a:t>
            </a:r>
            <a:endParaRPr/>
          </a:p>
        </p:txBody>
      </p:sp>
      <p:sp>
        <p:nvSpPr>
          <p:cNvPr id="731" name="Google Shape;731;p84"/>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lang="en-US" sz="2400">
                <a:solidFill>
                  <a:schemeClr val="accent1"/>
                </a:solidFill>
              </a:rPr>
              <a:t>LRU</a:t>
            </a:r>
            <a:r>
              <a:rPr lang="en-US" sz="2400"/>
              <a:t> and</a:t>
            </a:r>
            <a:r>
              <a:rPr lang="en-US" sz="2400">
                <a:solidFill>
                  <a:schemeClr val="accent1"/>
                </a:solidFill>
              </a:rPr>
              <a:t> Clock </a:t>
            </a:r>
            <a:r>
              <a:rPr lang="en-US" sz="2400"/>
              <a:t>policies both involve </a:t>
            </a:r>
            <a:r>
              <a:rPr lang="en-US" sz="2400">
                <a:solidFill>
                  <a:schemeClr val="accent1"/>
                </a:solidFill>
              </a:rPr>
              <a:t>complexity </a:t>
            </a:r>
            <a:r>
              <a:rPr lang="en-US" sz="2400"/>
              <a:t>and</a:t>
            </a:r>
            <a:r>
              <a:rPr lang="en-US" sz="2400">
                <a:solidFill>
                  <a:schemeClr val="accent1"/>
                </a:solidFill>
              </a:rPr>
              <a:t> overhead </a:t>
            </a:r>
            <a:endParaRPr/>
          </a:p>
          <a:p>
            <a:pPr indent="-285750" lvl="1" marL="742950" rtl="0" algn="just">
              <a:spcBef>
                <a:spcPts val="480"/>
              </a:spcBef>
              <a:spcAft>
                <a:spcPts val="0"/>
              </a:spcAft>
              <a:buClr>
                <a:schemeClr val="dk1"/>
              </a:buClr>
              <a:buSzPts val="2400"/>
              <a:buChar char="–"/>
            </a:pPr>
            <a:r>
              <a:rPr lang="en-US" sz="2400"/>
              <a:t>Also, replacing a modified page is more costly than unmodified as it needs to be written to secondary memory</a:t>
            </a:r>
            <a:endParaRPr/>
          </a:p>
          <a:p>
            <a:pPr indent="-190500" lvl="0" marL="342900" rtl="0" algn="just">
              <a:spcBef>
                <a:spcPts val="480"/>
              </a:spcBef>
              <a:spcAft>
                <a:spcPts val="0"/>
              </a:spcAft>
              <a:buClr>
                <a:schemeClr val="dk1"/>
              </a:buClr>
              <a:buSzPts val="2400"/>
              <a:buNone/>
            </a:pPr>
            <a:r>
              <a:t/>
            </a:r>
            <a:endParaRPr b="1" sz="2400">
              <a:solidFill>
                <a:schemeClr val="accent1"/>
              </a:solidFill>
            </a:endParaRPr>
          </a:p>
          <a:p>
            <a:pPr indent="-342900" lvl="0" marL="342900" rtl="0" algn="just">
              <a:spcBef>
                <a:spcPts val="480"/>
              </a:spcBef>
              <a:spcAft>
                <a:spcPts val="0"/>
              </a:spcAft>
              <a:buClr>
                <a:schemeClr val="accent1"/>
              </a:buClr>
              <a:buSzPts val="2400"/>
              <a:buChar char="•"/>
            </a:pPr>
            <a:r>
              <a:rPr b="1" lang="en-US" sz="2400">
                <a:solidFill>
                  <a:schemeClr val="accent1"/>
                </a:solidFill>
              </a:rPr>
              <a:t>Solution: Page buffering</a:t>
            </a:r>
            <a:endParaRPr/>
          </a:p>
          <a:p>
            <a:pPr indent="-342900" lvl="0" marL="342900" rtl="0" algn="just">
              <a:spcBef>
                <a:spcPts val="480"/>
              </a:spcBef>
              <a:spcAft>
                <a:spcPts val="0"/>
              </a:spcAft>
              <a:buClr>
                <a:schemeClr val="dk1"/>
              </a:buClr>
              <a:buSzPts val="2400"/>
              <a:buChar char="•"/>
            </a:pPr>
            <a:r>
              <a:rPr lang="en-US" sz="2400"/>
              <a:t>Replacement algorithm is </a:t>
            </a:r>
            <a:r>
              <a:rPr lang="en-US" sz="2400">
                <a:solidFill>
                  <a:schemeClr val="accent1"/>
                </a:solidFill>
              </a:rPr>
              <a:t>simple FIFO</a:t>
            </a:r>
            <a:endParaRPr/>
          </a:p>
          <a:p>
            <a:pPr indent="-285750" lvl="1" marL="742950" rtl="0" algn="just">
              <a:spcBef>
                <a:spcPts val="480"/>
              </a:spcBef>
              <a:spcAft>
                <a:spcPts val="0"/>
              </a:spcAft>
              <a:buClr>
                <a:schemeClr val="dk1"/>
              </a:buClr>
              <a:buSzPts val="2400"/>
              <a:buChar char="–"/>
            </a:pPr>
            <a:r>
              <a:rPr lang="en-US" sz="2400"/>
              <a:t>But replaced pages are maintained in </a:t>
            </a:r>
            <a:r>
              <a:rPr lang="en-US" sz="2400">
                <a:solidFill>
                  <a:schemeClr val="accent1"/>
                </a:solidFill>
              </a:rPr>
              <a:t>two types of lists</a:t>
            </a:r>
            <a:r>
              <a:rPr lang="en-US" sz="2400"/>
              <a:t>, within memory</a:t>
            </a:r>
            <a:endParaRPr sz="2400"/>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8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Page Buffering</a:t>
            </a:r>
            <a:endParaRPr/>
          </a:p>
        </p:txBody>
      </p:sp>
      <p:sp>
        <p:nvSpPr>
          <p:cNvPr id="737" name="Google Shape;737;p85"/>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lang="en-US" sz="2400">
                <a:solidFill>
                  <a:schemeClr val="accent1"/>
                </a:solidFill>
              </a:rPr>
              <a:t>Free page list:</a:t>
            </a:r>
            <a:endParaRPr/>
          </a:p>
          <a:p>
            <a:pPr indent="-285750" lvl="1" marL="742950" rtl="0" algn="just">
              <a:spcBef>
                <a:spcPts val="480"/>
              </a:spcBef>
              <a:spcAft>
                <a:spcPts val="0"/>
              </a:spcAft>
              <a:buClr>
                <a:schemeClr val="dk1"/>
              </a:buClr>
              <a:buSzPts val="2400"/>
              <a:buChar char="–"/>
            </a:pPr>
            <a:r>
              <a:rPr lang="en-US" sz="2400"/>
              <a:t>When a page is replaced and it is not modified, it is appended at tail of this list</a:t>
            </a:r>
            <a:endParaRPr/>
          </a:p>
          <a:p>
            <a:pPr indent="-190500" lvl="0" marL="342900" rtl="0" algn="just">
              <a:spcBef>
                <a:spcPts val="480"/>
              </a:spcBef>
              <a:spcAft>
                <a:spcPts val="0"/>
              </a:spcAft>
              <a:buClr>
                <a:schemeClr val="dk1"/>
              </a:buClr>
              <a:buSzPts val="2400"/>
              <a:buNone/>
            </a:pPr>
            <a:r>
              <a:t/>
            </a:r>
            <a:endParaRPr sz="2400">
              <a:solidFill>
                <a:schemeClr val="accent1"/>
              </a:solidFill>
            </a:endParaRPr>
          </a:p>
          <a:p>
            <a:pPr indent="-342900" lvl="0" marL="342900" rtl="0" algn="just">
              <a:spcBef>
                <a:spcPts val="480"/>
              </a:spcBef>
              <a:spcAft>
                <a:spcPts val="0"/>
              </a:spcAft>
              <a:buClr>
                <a:schemeClr val="accent1"/>
              </a:buClr>
              <a:buSzPts val="2400"/>
              <a:buChar char="•"/>
            </a:pPr>
            <a:r>
              <a:rPr lang="en-US" sz="2400">
                <a:solidFill>
                  <a:schemeClr val="accent1"/>
                </a:solidFill>
              </a:rPr>
              <a:t>Modified page list:</a:t>
            </a:r>
            <a:endParaRPr/>
          </a:p>
          <a:p>
            <a:pPr indent="-285750" lvl="1" marL="742950" rtl="0" algn="just">
              <a:spcBef>
                <a:spcPts val="480"/>
              </a:spcBef>
              <a:spcAft>
                <a:spcPts val="0"/>
              </a:spcAft>
              <a:buClr>
                <a:schemeClr val="dk1"/>
              </a:buClr>
              <a:buSzPts val="2400"/>
              <a:buChar char="–"/>
            </a:pPr>
            <a:r>
              <a:rPr lang="en-US" sz="2400"/>
              <a:t>When a page is replaced and it is modified, it is added at tail of this list</a:t>
            </a:r>
            <a:endParaRPr/>
          </a:p>
          <a:p>
            <a:pPr indent="-190500" lvl="0" marL="342900" rtl="0" algn="just">
              <a:spcBef>
                <a:spcPts val="480"/>
              </a:spcBef>
              <a:spcAft>
                <a:spcPts val="0"/>
              </a:spcAft>
              <a:buClr>
                <a:schemeClr val="dk1"/>
              </a:buClr>
              <a:buSzPts val="2400"/>
              <a:buNone/>
            </a:pPr>
            <a:r>
              <a:t/>
            </a:r>
            <a:endParaRPr sz="2400">
              <a:solidFill>
                <a:schemeClr val="accent1"/>
              </a:solidFill>
            </a:endParaRPr>
          </a:p>
          <a:p>
            <a:pPr indent="-342900" lvl="0" marL="342900" rtl="0" algn="just">
              <a:spcBef>
                <a:spcPts val="480"/>
              </a:spcBef>
              <a:spcAft>
                <a:spcPts val="0"/>
              </a:spcAft>
              <a:buClr>
                <a:schemeClr val="accent1"/>
              </a:buClr>
              <a:buSzPts val="2400"/>
              <a:buChar char="•"/>
            </a:pPr>
            <a:r>
              <a:rPr lang="en-US" sz="2400">
                <a:solidFill>
                  <a:schemeClr val="accent1"/>
                </a:solidFill>
              </a:rPr>
              <a:t>Replaced pages </a:t>
            </a:r>
            <a:r>
              <a:rPr lang="en-US" sz="2400"/>
              <a:t>are </a:t>
            </a:r>
            <a:r>
              <a:rPr lang="en-US" sz="2400">
                <a:solidFill>
                  <a:schemeClr val="accent1"/>
                </a:solidFill>
              </a:rPr>
              <a:t>not removed </a:t>
            </a:r>
            <a:r>
              <a:rPr lang="en-US" sz="2400"/>
              <a:t>from memory</a:t>
            </a:r>
            <a:endParaRPr/>
          </a:p>
          <a:p>
            <a:pPr indent="-285750" lvl="1" marL="742950" rtl="0" algn="just">
              <a:spcBef>
                <a:spcPts val="480"/>
              </a:spcBef>
              <a:spcAft>
                <a:spcPts val="0"/>
              </a:spcAft>
              <a:buClr>
                <a:schemeClr val="dk1"/>
              </a:buClr>
              <a:buSzPts val="2400"/>
              <a:buChar char="–"/>
            </a:pPr>
            <a:r>
              <a:rPr lang="en-US" sz="2400"/>
              <a:t>Just their entries are removed from page table</a:t>
            </a:r>
            <a:endParaRPr sz="2400"/>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8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Page Buffering</a:t>
            </a:r>
            <a:endParaRPr/>
          </a:p>
        </p:txBody>
      </p:sp>
      <p:sp>
        <p:nvSpPr>
          <p:cNvPr id="743" name="Google Shape;743;p86"/>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accent1"/>
              </a:buClr>
              <a:buSzPts val="2400"/>
              <a:buChar char="•"/>
            </a:pPr>
            <a:r>
              <a:rPr b="1" lang="en-US" sz="2400">
                <a:solidFill>
                  <a:schemeClr val="accent1"/>
                </a:solidFill>
              </a:rPr>
              <a:t>Advantages:</a:t>
            </a:r>
            <a:endParaRPr/>
          </a:p>
          <a:p>
            <a:pPr indent="-190500" lvl="0" marL="342900" rtl="0" algn="l">
              <a:spcBef>
                <a:spcPts val="480"/>
              </a:spcBef>
              <a:spcAft>
                <a:spcPts val="0"/>
              </a:spcAft>
              <a:buClr>
                <a:schemeClr val="dk1"/>
              </a:buClr>
              <a:buSzPts val="2400"/>
              <a:buNone/>
            </a:pPr>
            <a:r>
              <a:t/>
            </a:r>
            <a:endParaRPr b="1" sz="2400">
              <a:solidFill>
                <a:schemeClr val="accent1"/>
              </a:solidFill>
            </a:endParaRPr>
          </a:p>
          <a:p>
            <a:pPr indent="-285750" lvl="1" marL="742950" rtl="0" algn="l">
              <a:spcBef>
                <a:spcPts val="480"/>
              </a:spcBef>
              <a:spcAft>
                <a:spcPts val="0"/>
              </a:spcAft>
              <a:buClr>
                <a:schemeClr val="dk1"/>
              </a:buClr>
              <a:buSzPts val="2400"/>
              <a:buChar char="–"/>
            </a:pPr>
            <a:r>
              <a:rPr lang="en-US" sz="2400"/>
              <a:t>If the process refers to a page just replaced, it can be fetched quickly</a:t>
            </a:r>
            <a:endParaRPr/>
          </a:p>
          <a:p>
            <a:pPr indent="-285750" lvl="1" marL="742950" rtl="0" algn="l">
              <a:spcBef>
                <a:spcPts val="480"/>
              </a:spcBef>
              <a:spcAft>
                <a:spcPts val="0"/>
              </a:spcAft>
              <a:buClr>
                <a:schemeClr val="dk1"/>
              </a:buClr>
              <a:buSzPts val="2400"/>
              <a:buChar char="–"/>
            </a:pPr>
            <a:r>
              <a:rPr lang="en-US" sz="2400"/>
              <a:t>Modified pages can be written out in batches</a:t>
            </a:r>
            <a:endParaRPr/>
          </a:p>
          <a:p>
            <a:pPr indent="-133350" lvl="1" marL="742950" rtl="0" algn="l">
              <a:spcBef>
                <a:spcPts val="480"/>
              </a:spcBef>
              <a:spcAft>
                <a:spcPts val="0"/>
              </a:spcAft>
              <a:buClr>
                <a:schemeClr val="dk1"/>
              </a:buClr>
              <a:buSzPts val="2400"/>
              <a:buNone/>
            </a:pPr>
            <a:r>
              <a:t/>
            </a:r>
            <a:endParaRPr sz="2400"/>
          </a:p>
          <a:p>
            <a:pPr indent="-285750" lvl="1" marL="742950" rtl="0" algn="l">
              <a:spcBef>
                <a:spcPts val="480"/>
              </a:spcBef>
              <a:spcAft>
                <a:spcPts val="0"/>
              </a:spcAft>
              <a:buClr>
                <a:schemeClr val="dk1"/>
              </a:buClr>
              <a:buSzPts val="2400"/>
              <a:buChar char="–"/>
            </a:pPr>
            <a:r>
              <a:rPr b="1" lang="en-US" sz="2400"/>
              <a:t>Free and modified page lists act as caches</a:t>
            </a:r>
            <a:endParaRPr b="1" sz="2400"/>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8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t>Resident Set Management</a:t>
            </a:r>
            <a:endParaRPr sz="4000"/>
          </a:p>
        </p:txBody>
      </p:sp>
      <p:sp>
        <p:nvSpPr>
          <p:cNvPr id="750" name="Google Shape;750;p87"/>
          <p:cNvSpPr txBox="1"/>
          <p:nvPr>
            <p:ph idx="1" type="body"/>
          </p:nvPr>
        </p:nvSpPr>
        <p:spPr>
          <a:xfrm>
            <a:off x="457200" y="1600200"/>
            <a:ext cx="8229600" cy="40917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Resident set is that </a:t>
            </a:r>
            <a:r>
              <a:rPr lang="en-US" sz="2400">
                <a:solidFill>
                  <a:srgbClr val="FF0000"/>
                </a:solidFill>
              </a:rPr>
              <a:t>portion</a:t>
            </a:r>
            <a:r>
              <a:rPr lang="en-US" sz="2400"/>
              <a:t> of the process image that is actually </a:t>
            </a:r>
            <a:r>
              <a:rPr lang="en-US" sz="2400">
                <a:solidFill>
                  <a:srgbClr val="FF0000"/>
                </a:solidFill>
              </a:rPr>
              <a:t>in real-memory</a:t>
            </a:r>
            <a:r>
              <a:rPr lang="en-US" sz="2400"/>
              <a:t> at a </a:t>
            </a:r>
            <a:r>
              <a:rPr lang="en-US" sz="2400">
                <a:solidFill>
                  <a:srgbClr val="FF0000"/>
                </a:solidFill>
              </a:rPr>
              <a:t>particular instant</a:t>
            </a:r>
            <a:r>
              <a:rPr lang="en-US" sz="2400"/>
              <a:t>. </a:t>
            </a:r>
            <a:endParaRPr sz="2400"/>
          </a:p>
          <a:p>
            <a:pPr indent="-342900" lvl="0" marL="342900" rtl="0" algn="just">
              <a:spcBef>
                <a:spcPts val="0"/>
              </a:spcBef>
              <a:spcAft>
                <a:spcPts val="0"/>
              </a:spcAft>
              <a:buClr>
                <a:schemeClr val="dk1"/>
              </a:buClr>
              <a:buSzPts val="2400"/>
              <a:buChar char="•"/>
            </a:pPr>
            <a:r>
              <a:rPr lang="en-US" sz="2400"/>
              <a:t>The OS must decide </a:t>
            </a:r>
            <a:r>
              <a:rPr lang="en-US" sz="2400">
                <a:solidFill>
                  <a:schemeClr val="accent1"/>
                </a:solidFill>
              </a:rPr>
              <a:t>how many pages </a:t>
            </a:r>
            <a:r>
              <a:rPr lang="en-US" sz="2400"/>
              <a:t>should be brought into main memory</a:t>
            </a:r>
            <a:endParaRPr/>
          </a:p>
          <a:p>
            <a:pPr indent="-285750" lvl="1" marL="742950" rtl="0" algn="just">
              <a:spcBef>
                <a:spcPts val="480"/>
              </a:spcBef>
              <a:spcAft>
                <a:spcPts val="0"/>
              </a:spcAft>
              <a:buClr>
                <a:schemeClr val="dk1"/>
              </a:buClr>
              <a:buSzPts val="2400"/>
              <a:buChar char="–"/>
            </a:pPr>
            <a:r>
              <a:rPr lang="en-US" sz="2400"/>
              <a:t>The </a:t>
            </a:r>
            <a:r>
              <a:rPr lang="en-US" sz="2400">
                <a:solidFill>
                  <a:schemeClr val="accent1"/>
                </a:solidFill>
              </a:rPr>
              <a:t>smaller the amount </a:t>
            </a:r>
            <a:r>
              <a:rPr lang="en-US" sz="2400"/>
              <a:t>of memory allocated to each process, the </a:t>
            </a:r>
            <a:r>
              <a:rPr lang="en-US" sz="2400">
                <a:solidFill>
                  <a:schemeClr val="accent1"/>
                </a:solidFill>
              </a:rPr>
              <a:t>more processes </a:t>
            </a:r>
            <a:r>
              <a:rPr lang="en-US" sz="2400"/>
              <a:t>that can reside in memory.</a:t>
            </a:r>
            <a:endParaRPr/>
          </a:p>
          <a:p>
            <a:pPr indent="-285750" lvl="1" marL="742950" rtl="0" algn="just">
              <a:spcBef>
                <a:spcPts val="480"/>
              </a:spcBef>
              <a:spcAft>
                <a:spcPts val="0"/>
              </a:spcAft>
              <a:buClr>
                <a:schemeClr val="accent1"/>
              </a:buClr>
              <a:buSzPts val="2400"/>
              <a:buChar char="–"/>
            </a:pPr>
            <a:r>
              <a:rPr lang="en-US" sz="2400">
                <a:solidFill>
                  <a:schemeClr val="accent1"/>
                </a:solidFill>
              </a:rPr>
              <a:t>Small number </a:t>
            </a:r>
            <a:r>
              <a:rPr lang="en-US" sz="2400"/>
              <a:t>of pages loaded </a:t>
            </a:r>
            <a:r>
              <a:rPr lang="en-US" sz="2400">
                <a:solidFill>
                  <a:schemeClr val="accent1"/>
                </a:solidFill>
              </a:rPr>
              <a:t>increases page faults</a:t>
            </a:r>
            <a:r>
              <a:rPr lang="en-US" sz="2400"/>
              <a:t>.</a:t>
            </a:r>
            <a:endParaRPr/>
          </a:p>
          <a:p>
            <a:pPr indent="-285750" lvl="1" marL="742950" rtl="0" algn="just">
              <a:spcBef>
                <a:spcPts val="480"/>
              </a:spcBef>
              <a:spcAft>
                <a:spcPts val="0"/>
              </a:spcAft>
              <a:buClr>
                <a:schemeClr val="accent1"/>
              </a:buClr>
              <a:buSzPts val="2400"/>
              <a:buChar char="–"/>
            </a:pPr>
            <a:r>
              <a:rPr lang="en-US" sz="2400">
                <a:solidFill>
                  <a:schemeClr val="accent1"/>
                </a:solidFill>
              </a:rPr>
              <a:t>Beyond a certain size</a:t>
            </a:r>
            <a:r>
              <a:rPr lang="en-US" sz="2400"/>
              <a:t>, further allocations of pages </a:t>
            </a:r>
            <a:r>
              <a:rPr lang="en-US" sz="2400">
                <a:solidFill>
                  <a:schemeClr val="accent1"/>
                </a:solidFill>
              </a:rPr>
              <a:t>will not affect </a:t>
            </a:r>
            <a:r>
              <a:rPr lang="en-US" sz="2400"/>
              <a:t>the page fault rate.</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8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Resident Set Size</a:t>
            </a:r>
            <a:endParaRPr/>
          </a:p>
        </p:txBody>
      </p:sp>
      <p:sp>
        <p:nvSpPr>
          <p:cNvPr id="757" name="Google Shape;757;p88"/>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b="1" lang="en-US" sz="2400" u="sng">
                <a:solidFill>
                  <a:schemeClr val="accent1"/>
                </a:solidFill>
              </a:rPr>
              <a:t>Fixed-allocation</a:t>
            </a:r>
            <a:endParaRPr/>
          </a:p>
          <a:p>
            <a:pPr indent="-285750" lvl="1" marL="742950" rtl="0" algn="just">
              <a:spcBef>
                <a:spcPts val="480"/>
              </a:spcBef>
              <a:spcAft>
                <a:spcPts val="0"/>
              </a:spcAft>
              <a:buClr>
                <a:schemeClr val="dk1"/>
              </a:buClr>
              <a:buSzPts val="2400"/>
              <a:buChar char="–"/>
            </a:pPr>
            <a:r>
              <a:rPr lang="en-US" sz="2400"/>
              <a:t>Gives a process a </a:t>
            </a:r>
            <a:r>
              <a:rPr lang="en-US" sz="2400">
                <a:solidFill>
                  <a:schemeClr val="accent1"/>
                </a:solidFill>
              </a:rPr>
              <a:t>fixed number of pages </a:t>
            </a:r>
            <a:r>
              <a:rPr lang="en-US" sz="2400"/>
              <a:t>within which to execute</a:t>
            </a:r>
            <a:endParaRPr/>
          </a:p>
          <a:p>
            <a:pPr indent="-285750" lvl="1" marL="742950" rtl="0" algn="just">
              <a:spcBef>
                <a:spcPts val="480"/>
              </a:spcBef>
              <a:spcAft>
                <a:spcPts val="0"/>
              </a:spcAft>
              <a:buClr>
                <a:schemeClr val="dk1"/>
              </a:buClr>
              <a:buSzPts val="2400"/>
              <a:buChar char="–"/>
            </a:pPr>
            <a:r>
              <a:rPr lang="en-US" sz="2400"/>
              <a:t>Decided at load time based on process type</a:t>
            </a:r>
            <a:endParaRPr/>
          </a:p>
          <a:p>
            <a:pPr indent="-190500" lvl="0" marL="342900" rtl="0" algn="just">
              <a:spcBef>
                <a:spcPts val="480"/>
              </a:spcBef>
              <a:spcAft>
                <a:spcPts val="0"/>
              </a:spcAft>
              <a:buClr>
                <a:schemeClr val="dk1"/>
              </a:buClr>
              <a:buSzPts val="2400"/>
              <a:buNone/>
            </a:pPr>
            <a:r>
              <a:t/>
            </a:r>
            <a:endParaRPr b="1" sz="2400" u="sng">
              <a:solidFill>
                <a:schemeClr val="accent1"/>
              </a:solidFill>
            </a:endParaRPr>
          </a:p>
          <a:p>
            <a:pPr indent="-342900" lvl="0" marL="342900" rtl="0" algn="just">
              <a:spcBef>
                <a:spcPts val="480"/>
              </a:spcBef>
              <a:spcAft>
                <a:spcPts val="0"/>
              </a:spcAft>
              <a:buClr>
                <a:schemeClr val="accent1"/>
              </a:buClr>
              <a:buSzPts val="2400"/>
              <a:buChar char="•"/>
            </a:pPr>
            <a:r>
              <a:rPr b="1" lang="en-US" sz="2400" u="sng">
                <a:solidFill>
                  <a:schemeClr val="accent1"/>
                </a:solidFill>
              </a:rPr>
              <a:t>Variable-allocation</a:t>
            </a:r>
            <a:endParaRPr b="1" sz="2400" u="sng">
              <a:solidFill>
                <a:schemeClr val="accent1"/>
              </a:solidFill>
            </a:endParaRPr>
          </a:p>
          <a:p>
            <a:pPr indent="-285750" lvl="1" marL="742950" rtl="0" algn="just">
              <a:spcBef>
                <a:spcPts val="480"/>
              </a:spcBef>
              <a:spcAft>
                <a:spcPts val="0"/>
              </a:spcAft>
              <a:buClr>
                <a:schemeClr val="dk1"/>
              </a:buClr>
              <a:buSzPts val="2400"/>
              <a:buChar char="–"/>
            </a:pPr>
            <a:r>
              <a:rPr lang="en-US" sz="2400"/>
              <a:t>Number of </a:t>
            </a:r>
            <a:r>
              <a:rPr lang="en-US" sz="2400">
                <a:solidFill>
                  <a:schemeClr val="accent1"/>
                </a:solidFill>
              </a:rPr>
              <a:t>pages allocated </a:t>
            </a:r>
            <a:r>
              <a:rPr lang="en-US" sz="2400"/>
              <a:t>to a process </a:t>
            </a:r>
            <a:r>
              <a:rPr lang="en-US" sz="2400">
                <a:solidFill>
                  <a:schemeClr val="accent1"/>
                </a:solidFill>
              </a:rPr>
              <a:t>varies over the lifetime </a:t>
            </a:r>
            <a:r>
              <a:rPr lang="en-US" sz="2400"/>
              <a:t>of the process</a:t>
            </a:r>
            <a:endParaRPr/>
          </a:p>
          <a:p>
            <a:pPr indent="-285750" lvl="1" marL="742950" rtl="0" algn="just">
              <a:spcBef>
                <a:spcPts val="480"/>
              </a:spcBef>
              <a:spcAft>
                <a:spcPts val="0"/>
              </a:spcAft>
              <a:buClr>
                <a:schemeClr val="dk1"/>
              </a:buClr>
              <a:buSzPts val="2400"/>
              <a:buChar char="–"/>
            </a:pPr>
            <a:r>
              <a:rPr lang="en-US" sz="2400"/>
              <a:t>Process experiencing higher PFR can be given more frames and less frames for process with less PFR</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8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Replacement Scope</a:t>
            </a:r>
            <a:endParaRPr/>
          </a:p>
        </p:txBody>
      </p:sp>
      <p:sp>
        <p:nvSpPr>
          <p:cNvPr id="764" name="Google Shape;764;p89"/>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The </a:t>
            </a:r>
            <a:r>
              <a:rPr lang="en-US" sz="2400">
                <a:solidFill>
                  <a:schemeClr val="accent1"/>
                </a:solidFill>
              </a:rPr>
              <a:t>scope</a:t>
            </a:r>
            <a:r>
              <a:rPr lang="en-US" sz="2400"/>
              <a:t> of a replacement strategy can be categorized as </a:t>
            </a:r>
            <a:r>
              <a:rPr i="1" lang="en-US" sz="2400">
                <a:solidFill>
                  <a:schemeClr val="accent1"/>
                </a:solidFill>
              </a:rPr>
              <a:t>global </a:t>
            </a:r>
            <a:r>
              <a:rPr lang="en-US" sz="2400">
                <a:solidFill>
                  <a:schemeClr val="accent1"/>
                </a:solidFill>
              </a:rPr>
              <a:t>or </a:t>
            </a:r>
            <a:r>
              <a:rPr i="1" lang="en-US" sz="2400">
                <a:solidFill>
                  <a:schemeClr val="accent1"/>
                </a:solidFill>
              </a:rPr>
              <a:t>local</a:t>
            </a:r>
            <a:r>
              <a:rPr lang="en-US" sz="2400"/>
              <a:t>.</a:t>
            </a:r>
            <a:endParaRPr/>
          </a:p>
          <a:p>
            <a:pPr indent="-285750" lvl="1" marL="742950" rtl="0" algn="just">
              <a:spcBef>
                <a:spcPts val="480"/>
              </a:spcBef>
              <a:spcAft>
                <a:spcPts val="0"/>
              </a:spcAft>
              <a:buClr>
                <a:schemeClr val="dk1"/>
              </a:buClr>
              <a:buSzPts val="2400"/>
              <a:buChar char="–"/>
            </a:pPr>
            <a:r>
              <a:rPr lang="en-US" sz="2400"/>
              <a:t>Both types are activated by a page fault when there are no free page frames.</a:t>
            </a:r>
            <a:endParaRPr/>
          </a:p>
          <a:p>
            <a:pPr indent="-285750" lvl="1" marL="742950" rtl="0" algn="just">
              <a:spcBef>
                <a:spcPts val="480"/>
              </a:spcBef>
              <a:spcAft>
                <a:spcPts val="0"/>
              </a:spcAft>
              <a:buClr>
                <a:schemeClr val="dk1"/>
              </a:buClr>
              <a:buSzPts val="2400"/>
              <a:buChar char="–"/>
            </a:pPr>
            <a:r>
              <a:rPr lang="en-US" sz="2400"/>
              <a:t>A </a:t>
            </a:r>
            <a:r>
              <a:rPr lang="en-US" sz="2400">
                <a:solidFill>
                  <a:schemeClr val="accent1"/>
                </a:solidFill>
              </a:rPr>
              <a:t>local replacement policy </a:t>
            </a:r>
            <a:r>
              <a:rPr lang="en-US" sz="2400"/>
              <a:t>chooses only among the </a:t>
            </a:r>
            <a:r>
              <a:rPr lang="en-US" sz="2400">
                <a:solidFill>
                  <a:schemeClr val="accent1"/>
                </a:solidFill>
              </a:rPr>
              <a:t>resident pages of the process </a:t>
            </a:r>
            <a:r>
              <a:rPr lang="en-US" sz="2400"/>
              <a:t>that generated the page fault</a:t>
            </a:r>
            <a:endParaRPr/>
          </a:p>
          <a:p>
            <a:pPr indent="-285750" lvl="1" marL="742950" rtl="0" algn="just">
              <a:spcBef>
                <a:spcPts val="480"/>
              </a:spcBef>
              <a:spcAft>
                <a:spcPts val="0"/>
              </a:spcAft>
              <a:buClr>
                <a:schemeClr val="dk1"/>
              </a:buClr>
              <a:buSzPts val="2400"/>
              <a:buChar char="–"/>
            </a:pPr>
            <a:r>
              <a:rPr lang="en-US" sz="2400"/>
              <a:t>A </a:t>
            </a:r>
            <a:r>
              <a:rPr lang="en-US" sz="2400">
                <a:solidFill>
                  <a:schemeClr val="accent1"/>
                </a:solidFill>
              </a:rPr>
              <a:t>global replacement policy </a:t>
            </a:r>
            <a:r>
              <a:rPr lang="en-US" sz="2400"/>
              <a:t>considers </a:t>
            </a:r>
            <a:r>
              <a:rPr lang="en-US" sz="2400">
                <a:solidFill>
                  <a:schemeClr val="accent1"/>
                </a:solidFill>
              </a:rPr>
              <a:t>all unlocked pages</a:t>
            </a:r>
            <a:r>
              <a:rPr lang="en-US" sz="2400"/>
              <a:t> in main memory </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9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t>Relationship between RSS </a:t>
            </a:r>
            <a:br>
              <a:rPr lang="en-US" sz="4000"/>
            </a:br>
            <a:r>
              <a:rPr lang="en-US" sz="4000"/>
              <a:t>and replacement scope</a:t>
            </a:r>
            <a:endParaRPr sz="4000"/>
          </a:p>
        </p:txBody>
      </p:sp>
      <p:sp>
        <p:nvSpPr>
          <p:cNvPr id="770" name="Google Shape;770;p90"/>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190500" lvl="0" marL="342900" rtl="0" algn="just">
              <a:spcBef>
                <a:spcPts val="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Fixed allocation, local scope</a:t>
            </a:r>
            <a:endParaRPr/>
          </a:p>
          <a:p>
            <a:pPr indent="-342900" lvl="0" marL="342900" rtl="0" algn="just">
              <a:spcBef>
                <a:spcPts val="480"/>
              </a:spcBef>
              <a:spcAft>
                <a:spcPts val="0"/>
              </a:spcAft>
              <a:buClr>
                <a:schemeClr val="dk1"/>
              </a:buClr>
              <a:buSzPts val="2400"/>
              <a:buChar char="•"/>
            </a:pPr>
            <a:r>
              <a:rPr lang="en-US" sz="2400"/>
              <a:t>Fixed allocation, global scope</a:t>
            </a:r>
            <a:endParaRPr/>
          </a:p>
          <a:p>
            <a:pPr indent="-342900" lvl="0" marL="342900" rtl="0" algn="just">
              <a:spcBef>
                <a:spcPts val="480"/>
              </a:spcBef>
              <a:spcAft>
                <a:spcPts val="0"/>
              </a:spcAft>
              <a:buClr>
                <a:schemeClr val="dk1"/>
              </a:buClr>
              <a:buSzPts val="2400"/>
              <a:buChar char="•"/>
            </a:pPr>
            <a:r>
              <a:rPr lang="en-US" sz="2400"/>
              <a:t>Variable allocation, local scope</a:t>
            </a:r>
            <a:endParaRPr/>
          </a:p>
          <a:p>
            <a:pPr indent="-342900" lvl="0" marL="342900" rtl="0" algn="just">
              <a:spcBef>
                <a:spcPts val="480"/>
              </a:spcBef>
              <a:spcAft>
                <a:spcPts val="0"/>
              </a:spcAft>
              <a:buClr>
                <a:schemeClr val="dk1"/>
              </a:buClr>
              <a:buSzPts val="2400"/>
              <a:buChar char="•"/>
            </a:pPr>
            <a:r>
              <a:rPr lang="en-US" sz="2400"/>
              <a:t>Variable allocation, global scope</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9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Fixed Allocation, </a:t>
            </a:r>
            <a:br>
              <a:rPr lang="en-US"/>
            </a:br>
            <a:r>
              <a:rPr lang="en-US"/>
              <a:t>Local Scope</a:t>
            </a:r>
            <a:endParaRPr/>
          </a:p>
        </p:txBody>
      </p:sp>
      <p:sp>
        <p:nvSpPr>
          <p:cNvPr id="777" name="Google Shape;777;p91"/>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lang="en-US" sz="2400">
                <a:solidFill>
                  <a:schemeClr val="accent1"/>
                </a:solidFill>
              </a:rPr>
              <a:t>Decide ahead of time </a:t>
            </a:r>
            <a:r>
              <a:rPr lang="en-US" sz="2400"/>
              <a:t>the amount of allocation to give a process</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If allocation is </a:t>
            </a:r>
            <a:r>
              <a:rPr lang="en-US" sz="2400">
                <a:solidFill>
                  <a:schemeClr val="accent1"/>
                </a:solidFill>
              </a:rPr>
              <a:t>too small</a:t>
            </a:r>
            <a:r>
              <a:rPr lang="en-US" sz="2400"/>
              <a:t>, there will be a </a:t>
            </a:r>
            <a:r>
              <a:rPr lang="en-US" sz="2400">
                <a:solidFill>
                  <a:schemeClr val="accent1"/>
                </a:solidFill>
              </a:rPr>
              <a:t>high page fault rate</a:t>
            </a:r>
            <a:endParaRPr/>
          </a:p>
          <a:p>
            <a:pPr indent="-190500" lvl="0" marL="342900" rtl="0" algn="just">
              <a:spcBef>
                <a:spcPts val="480"/>
              </a:spcBef>
              <a:spcAft>
                <a:spcPts val="0"/>
              </a:spcAft>
              <a:buClr>
                <a:schemeClr val="dk1"/>
              </a:buClr>
              <a:buSzPts val="2400"/>
              <a:buNone/>
            </a:pPr>
            <a:r>
              <a:t/>
            </a:r>
            <a:endParaRPr sz="2400">
              <a:solidFill>
                <a:schemeClr val="accent1"/>
              </a:solidFill>
            </a:endParaRPr>
          </a:p>
          <a:p>
            <a:pPr indent="-342900" lvl="0" marL="342900" rtl="0" algn="just">
              <a:spcBef>
                <a:spcPts val="480"/>
              </a:spcBef>
              <a:spcAft>
                <a:spcPts val="0"/>
              </a:spcAft>
              <a:buClr>
                <a:schemeClr val="dk1"/>
              </a:buClr>
              <a:buSzPts val="2400"/>
              <a:buChar char="•"/>
            </a:pPr>
            <a:r>
              <a:rPr lang="en-US" sz="2400"/>
              <a:t>If allocation is </a:t>
            </a:r>
            <a:r>
              <a:rPr lang="en-US" sz="2400">
                <a:solidFill>
                  <a:schemeClr val="accent1"/>
                </a:solidFill>
              </a:rPr>
              <a:t>too large </a:t>
            </a:r>
            <a:r>
              <a:rPr lang="en-US" sz="2400"/>
              <a:t>there will be </a:t>
            </a:r>
            <a:r>
              <a:rPr lang="en-US" sz="2400">
                <a:solidFill>
                  <a:schemeClr val="accent1"/>
                </a:solidFill>
              </a:rPr>
              <a:t>too few programs</a:t>
            </a:r>
            <a:r>
              <a:rPr lang="en-US" sz="2400"/>
              <a:t> in main memory</a:t>
            </a:r>
            <a:endParaRPr/>
          </a:p>
          <a:p>
            <a:pPr indent="-285750" lvl="1" marL="742950" rtl="0" algn="just">
              <a:spcBef>
                <a:spcPts val="480"/>
              </a:spcBef>
              <a:spcAft>
                <a:spcPts val="0"/>
              </a:spcAft>
              <a:buClr>
                <a:schemeClr val="dk1"/>
              </a:buClr>
              <a:buSzPts val="2400"/>
              <a:buChar char="–"/>
            </a:pPr>
            <a:r>
              <a:rPr lang="en-US" sz="2400"/>
              <a:t>Increased processor idle time or</a:t>
            </a:r>
            <a:endParaRPr/>
          </a:p>
          <a:p>
            <a:pPr indent="-285750" lvl="1" marL="742950" rtl="0" algn="just">
              <a:spcBef>
                <a:spcPts val="480"/>
              </a:spcBef>
              <a:spcAft>
                <a:spcPts val="0"/>
              </a:spcAft>
              <a:buClr>
                <a:schemeClr val="dk1"/>
              </a:buClr>
              <a:buSzPts val="2400"/>
              <a:buChar char="–"/>
            </a:pPr>
            <a:r>
              <a:rPr lang="en-US" sz="2400"/>
              <a:t>Increased swapping</a:t>
            </a:r>
            <a:endParaRPr sz="2400"/>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9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Variable Allocation, </a:t>
            </a:r>
            <a:br>
              <a:rPr lang="en-US"/>
            </a:br>
            <a:r>
              <a:rPr lang="en-US"/>
              <a:t>Global Scope</a:t>
            </a:r>
            <a:endParaRPr/>
          </a:p>
        </p:txBody>
      </p:sp>
      <p:sp>
        <p:nvSpPr>
          <p:cNvPr id="784" name="Google Shape;784;p92"/>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Process with </a:t>
            </a:r>
            <a:r>
              <a:rPr lang="en-US" sz="2400">
                <a:solidFill>
                  <a:schemeClr val="accent1"/>
                </a:solidFill>
              </a:rPr>
              <a:t>high PFR </a:t>
            </a:r>
            <a:r>
              <a:rPr lang="en-US" sz="2400"/>
              <a:t>will </a:t>
            </a:r>
            <a:r>
              <a:rPr lang="en-US" sz="2400">
                <a:solidFill>
                  <a:schemeClr val="accent1"/>
                </a:solidFill>
              </a:rPr>
              <a:t>grow in RSS</a:t>
            </a:r>
            <a:endParaRPr/>
          </a:p>
          <a:p>
            <a:pPr indent="-342900" lvl="0" marL="342900" rtl="0" algn="just">
              <a:spcBef>
                <a:spcPts val="480"/>
              </a:spcBef>
              <a:spcAft>
                <a:spcPts val="0"/>
              </a:spcAft>
              <a:buClr>
                <a:schemeClr val="accent1"/>
              </a:buClr>
              <a:buSzPts val="2400"/>
              <a:buChar char="•"/>
            </a:pPr>
            <a:r>
              <a:rPr lang="en-US" sz="2400">
                <a:solidFill>
                  <a:schemeClr val="accent1"/>
                </a:solidFill>
              </a:rPr>
              <a:t>Easiest to implement</a:t>
            </a:r>
            <a:endParaRPr/>
          </a:p>
          <a:p>
            <a:pPr indent="-285750" lvl="1" marL="742950" rtl="0" algn="just">
              <a:spcBef>
                <a:spcPts val="480"/>
              </a:spcBef>
              <a:spcAft>
                <a:spcPts val="0"/>
              </a:spcAft>
              <a:buClr>
                <a:schemeClr val="dk1"/>
              </a:buClr>
              <a:buSzPts val="2400"/>
              <a:buChar char="–"/>
            </a:pPr>
            <a:r>
              <a:rPr lang="en-US" sz="2400"/>
              <a:t>Adopted by many operating systems</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Operating system keeps list of free frames</a:t>
            </a:r>
            <a:endParaRPr/>
          </a:p>
          <a:p>
            <a:pPr indent="-342900" lvl="0" marL="342900" rtl="0" algn="just">
              <a:spcBef>
                <a:spcPts val="480"/>
              </a:spcBef>
              <a:spcAft>
                <a:spcPts val="0"/>
              </a:spcAft>
              <a:buClr>
                <a:schemeClr val="dk1"/>
              </a:buClr>
              <a:buSzPts val="2400"/>
              <a:buChar char="•"/>
            </a:pPr>
            <a:r>
              <a:rPr lang="en-US" sz="2400"/>
              <a:t>Free frame is added to resident set of process when a page fault occurs</a:t>
            </a:r>
            <a:endParaRPr/>
          </a:p>
          <a:p>
            <a:pPr indent="-342900" lvl="0" marL="342900" rtl="0" algn="just">
              <a:spcBef>
                <a:spcPts val="480"/>
              </a:spcBef>
              <a:spcAft>
                <a:spcPts val="0"/>
              </a:spcAft>
              <a:buClr>
                <a:schemeClr val="dk1"/>
              </a:buClr>
              <a:buSzPts val="2400"/>
              <a:buChar char="•"/>
            </a:pPr>
            <a:r>
              <a:rPr lang="en-US" sz="2400"/>
              <a:t>If no free frame, replacement is performed</a:t>
            </a:r>
            <a:endParaRPr/>
          </a:p>
          <a:p>
            <a:pPr indent="-285750" lvl="1" marL="742950" rtl="0" algn="just">
              <a:spcBef>
                <a:spcPts val="480"/>
              </a:spcBef>
              <a:spcAft>
                <a:spcPts val="0"/>
              </a:spcAft>
              <a:buClr>
                <a:schemeClr val="dk1"/>
              </a:buClr>
              <a:buSzPts val="2400"/>
              <a:buChar char="–"/>
            </a:pPr>
            <a:r>
              <a:rPr lang="en-US" sz="2400"/>
              <a:t>Therein lies the difficulty … which one to replace.</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9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Variable Allocation, </a:t>
            </a:r>
            <a:br>
              <a:rPr lang="en-US"/>
            </a:br>
            <a:r>
              <a:rPr lang="en-US"/>
              <a:t>Local Scope</a:t>
            </a:r>
            <a:endParaRPr/>
          </a:p>
        </p:txBody>
      </p:sp>
      <p:sp>
        <p:nvSpPr>
          <p:cNvPr id="791" name="Google Shape;791;p93"/>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When </a:t>
            </a:r>
            <a:r>
              <a:rPr lang="en-US" sz="2400">
                <a:solidFill>
                  <a:schemeClr val="accent1"/>
                </a:solidFill>
              </a:rPr>
              <a:t>new process </a:t>
            </a:r>
            <a:r>
              <a:rPr lang="en-US" sz="2400"/>
              <a:t>added, </a:t>
            </a:r>
            <a:r>
              <a:rPr lang="en-US" sz="2400">
                <a:solidFill>
                  <a:schemeClr val="accent1"/>
                </a:solidFill>
              </a:rPr>
              <a:t>allocate number of page frames </a:t>
            </a:r>
            <a:r>
              <a:rPr lang="en-US" sz="2400"/>
              <a:t>based on application type, program request, or other criteria</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When </a:t>
            </a:r>
            <a:r>
              <a:rPr lang="en-US" sz="2400">
                <a:solidFill>
                  <a:schemeClr val="accent1"/>
                </a:solidFill>
              </a:rPr>
              <a:t>page fault </a:t>
            </a:r>
            <a:r>
              <a:rPr lang="en-US" sz="2400"/>
              <a:t>occurs, select page from among the </a:t>
            </a:r>
            <a:r>
              <a:rPr lang="en-US" sz="2400">
                <a:solidFill>
                  <a:schemeClr val="accent1"/>
                </a:solidFill>
              </a:rPr>
              <a:t>resident set </a:t>
            </a:r>
            <a:r>
              <a:rPr lang="en-US" sz="2400"/>
              <a:t>of the </a:t>
            </a:r>
            <a:r>
              <a:rPr lang="en-US" sz="2400">
                <a:solidFill>
                  <a:schemeClr val="accent1"/>
                </a:solidFill>
              </a:rPr>
              <a:t>process</a:t>
            </a:r>
            <a:r>
              <a:rPr lang="en-US" sz="2400"/>
              <a:t> that </a:t>
            </a:r>
            <a:r>
              <a:rPr lang="en-US" sz="2400">
                <a:solidFill>
                  <a:schemeClr val="accent1"/>
                </a:solidFill>
              </a:rPr>
              <a:t>suffers the fault</a:t>
            </a:r>
            <a:endParaRPr/>
          </a:p>
          <a:p>
            <a:pPr indent="-190500" lvl="0" marL="342900" rtl="0" algn="just">
              <a:spcBef>
                <a:spcPts val="480"/>
              </a:spcBef>
              <a:spcAft>
                <a:spcPts val="0"/>
              </a:spcAft>
              <a:buClr>
                <a:schemeClr val="dk1"/>
              </a:buClr>
              <a:buSzPts val="2400"/>
              <a:buNone/>
            </a:pPr>
            <a:r>
              <a:t/>
            </a:r>
            <a:endParaRPr sz="2400">
              <a:solidFill>
                <a:schemeClr val="accent1"/>
              </a:solidFill>
            </a:endParaRPr>
          </a:p>
          <a:p>
            <a:pPr indent="-342900" lvl="0" marL="342900" rtl="0" algn="just">
              <a:spcBef>
                <a:spcPts val="480"/>
              </a:spcBef>
              <a:spcAft>
                <a:spcPts val="0"/>
              </a:spcAft>
              <a:buClr>
                <a:schemeClr val="accent1"/>
              </a:buClr>
              <a:buSzPts val="2400"/>
              <a:buChar char="•"/>
            </a:pPr>
            <a:r>
              <a:rPr lang="en-US" sz="2400">
                <a:solidFill>
                  <a:schemeClr val="accent1"/>
                </a:solidFill>
              </a:rPr>
              <a:t>Reevaluate allocation </a:t>
            </a:r>
            <a:r>
              <a:rPr lang="en-US" sz="2400"/>
              <a:t>from time to time – makes this policy complex – but better in performance</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9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Resident Set </a:t>
            </a:r>
            <a:br>
              <a:rPr lang="en-US"/>
            </a:br>
            <a:r>
              <a:rPr lang="en-US"/>
              <a:t>Management Summary</a:t>
            </a:r>
            <a:endParaRPr/>
          </a:p>
        </p:txBody>
      </p:sp>
      <p:pic>
        <p:nvPicPr>
          <p:cNvPr id="798" name="Google Shape;798;p94"/>
          <p:cNvPicPr preferRelativeResize="0"/>
          <p:nvPr/>
        </p:nvPicPr>
        <p:blipFill rotWithShape="1">
          <a:blip r:embed="rId3">
            <a:alphaModFix/>
          </a:blip>
          <a:srcRect b="0" l="0" r="0" t="0"/>
          <a:stretch/>
        </p:blipFill>
        <p:spPr>
          <a:xfrm>
            <a:off x="-1" y="1828800"/>
            <a:ext cx="9159545" cy="457200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9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Decision on resident set size</a:t>
            </a:r>
            <a:endParaRPr sz="3600"/>
          </a:p>
        </p:txBody>
      </p:sp>
      <p:sp>
        <p:nvSpPr>
          <p:cNvPr id="804" name="Google Shape;804;p95"/>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One of the </a:t>
            </a:r>
            <a:r>
              <a:rPr lang="en-US" sz="2400">
                <a:solidFill>
                  <a:schemeClr val="accent1"/>
                </a:solidFill>
              </a:rPr>
              <a:t>popular method</a:t>
            </a:r>
            <a:r>
              <a:rPr lang="en-US" sz="2400"/>
              <a:t> for deciding resident set size is</a:t>
            </a:r>
            <a:endParaRPr/>
          </a:p>
          <a:p>
            <a:pPr indent="-285750" lvl="1" marL="742950" rtl="0" algn="just">
              <a:spcBef>
                <a:spcPts val="480"/>
              </a:spcBef>
              <a:spcAft>
                <a:spcPts val="0"/>
              </a:spcAft>
              <a:buClr>
                <a:schemeClr val="dk1"/>
              </a:buClr>
              <a:buSzPts val="2400"/>
              <a:buChar char="–"/>
            </a:pPr>
            <a:r>
              <a:rPr lang="en-US" sz="2400"/>
              <a:t>Working set method</a:t>
            </a:r>
            <a:endParaRPr/>
          </a:p>
          <a:p>
            <a:pPr indent="-133350" lvl="1" marL="74295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accent1"/>
              </a:buClr>
              <a:buSzPts val="2400"/>
              <a:buChar char="•"/>
            </a:pPr>
            <a:r>
              <a:rPr b="1" lang="en-US" sz="2400" u="sng">
                <a:solidFill>
                  <a:schemeClr val="accent1"/>
                </a:solidFill>
              </a:rPr>
              <a:t>Working set:</a:t>
            </a:r>
            <a:endParaRPr/>
          </a:p>
          <a:p>
            <a:pPr indent="-285750" lvl="1" marL="742950" rtl="0" algn="just">
              <a:spcBef>
                <a:spcPts val="480"/>
              </a:spcBef>
              <a:spcAft>
                <a:spcPts val="0"/>
              </a:spcAft>
              <a:buClr>
                <a:schemeClr val="dk1"/>
              </a:buClr>
              <a:buSzPts val="2400"/>
              <a:buChar char="–"/>
            </a:pPr>
            <a:r>
              <a:rPr lang="en-US" sz="2400"/>
              <a:t>W(t, delta) is the </a:t>
            </a:r>
            <a:r>
              <a:rPr lang="en-US" sz="2400">
                <a:solidFill>
                  <a:schemeClr val="accent1"/>
                </a:solidFill>
              </a:rPr>
              <a:t>set of pages </a:t>
            </a:r>
            <a:r>
              <a:rPr lang="en-US" sz="2400"/>
              <a:t>of the process </a:t>
            </a:r>
            <a:r>
              <a:rPr lang="en-US" sz="2400">
                <a:solidFill>
                  <a:schemeClr val="accent1"/>
                </a:solidFill>
              </a:rPr>
              <a:t>referenced</a:t>
            </a:r>
            <a:r>
              <a:rPr lang="en-US" sz="2400"/>
              <a:t> in last </a:t>
            </a:r>
            <a:r>
              <a:rPr lang="en-US" sz="2400">
                <a:solidFill>
                  <a:schemeClr val="accent1"/>
                </a:solidFill>
              </a:rPr>
              <a:t>delta time units </a:t>
            </a:r>
            <a:r>
              <a:rPr lang="en-US" sz="2400"/>
              <a:t>at a specific </a:t>
            </a:r>
            <a:r>
              <a:rPr lang="en-US" sz="2400">
                <a:solidFill>
                  <a:schemeClr val="accent1"/>
                </a:solidFill>
              </a:rPr>
              <a:t>time t</a:t>
            </a:r>
            <a:endParaRPr/>
          </a:p>
          <a:p>
            <a:pPr indent="-133350" lvl="1" marL="742950" rtl="0" algn="just">
              <a:spcBef>
                <a:spcPts val="480"/>
              </a:spcBef>
              <a:spcAft>
                <a:spcPts val="0"/>
              </a:spcAft>
              <a:buClr>
                <a:schemeClr val="dk1"/>
              </a:buClr>
              <a:buSzPts val="2400"/>
              <a:buNone/>
            </a:pPr>
            <a:r>
              <a:t/>
            </a:r>
            <a:endParaRPr sz="2400"/>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9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Working Set Method</a:t>
            </a:r>
            <a:endParaRPr/>
          </a:p>
        </p:txBody>
      </p:sp>
      <p:sp>
        <p:nvSpPr>
          <p:cNvPr id="810" name="Google Shape;810;p96"/>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Consider page reference string as below:</a:t>
            </a:r>
            <a:endParaRPr/>
          </a:p>
          <a:p>
            <a:pPr indent="114300" lvl="0" marL="2171700" rtl="0" algn="just">
              <a:spcBef>
                <a:spcPts val="480"/>
              </a:spcBef>
              <a:spcAft>
                <a:spcPts val="0"/>
              </a:spcAft>
              <a:buNone/>
            </a:pPr>
            <a:r>
              <a:rPr lang="en-US" sz="2400"/>
              <a:t>2,6,1,5,7,7,5,3,1,2,5</a:t>
            </a:r>
            <a:endParaRPr sz="2800"/>
          </a:p>
          <a:p>
            <a:pPr indent="-190500" lvl="0" marL="342900" rtl="0" algn="just">
              <a:spcBef>
                <a:spcPts val="480"/>
              </a:spcBef>
              <a:spcAft>
                <a:spcPts val="0"/>
              </a:spcAft>
              <a:buClr>
                <a:schemeClr val="dk1"/>
              </a:buClr>
              <a:buSzPts val="2400"/>
              <a:buNone/>
            </a:pPr>
            <a:r>
              <a:t/>
            </a:r>
            <a:endParaRPr sz="2400"/>
          </a:p>
          <a:p>
            <a:pPr indent="-285750" lvl="1" marL="742950" rtl="0" algn="just">
              <a:spcBef>
                <a:spcPts val="480"/>
              </a:spcBef>
              <a:spcAft>
                <a:spcPts val="0"/>
              </a:spcAft>
              <a:buClr>
                <a:schemeClr val="dk1"/>
              </a:buClr>
              <a:buSzPts val="2400"/>
              <a:buChar char="–"/>
            </a:pPr>
            <a:r>
              <a:rPr lang="en-US" sz="2400"/>
              <a:t>At time = t1,		2,6,1,5,7,7,5</a:t>
            </a:r>
            <a:endParaRPr/>
          </a:p>
          <a:p>
            <a:pPr indent="-285750" lvl="1" marL="742950" rtl="0" algn="just">
              <a:spcBef>
                <a:spcPts val="480"/>
              </a:spcBef>
              <a:spcAft>
                <a:spcPts val="0"/>
              </a:spcAft>
              <a:buClr>
                <a:schemeClr val="dk1"/>
              </a:buClr>
              <a:buSzPts val="2400"/>
              <a:buChar char="–"/>
            </a:pPr>
            <a:r>
              <a:rPr lang="en-US" sz="2400"/>
              <a:t>At time = t2,		3,1,2,5</a:t>
            </a:r>
            <a:endParaRPr/>
          </a:p>
          <a:p>
            <a:pPr indent="-133350" lvl="1" marL="742950" rtl="0" algn="just">
              <a:spcBef>
                <a:spcPts val="480"/>
              </a:spcBef>
              <a:spcAft>
                <a:spcPts val="0"/>
              </a:spcAft>
              <a:buClr>
                <a:schemeClr val="dk1"/>
              </a:buClr>
              <a:buSzPts val="2400"/>
              <a:buNone/>
            </a:pPr>
            <a:r>
              <a:t/>
            </a:r>
            <a:endParaRPr sz="2400"/>
          </a:p>
          <a:p>
            <a:pPr indent="-285750" lvl="1" marL="742950" rtl="0" algn="just">
              <a:spcBef>
                <a:spcPts val="480"/>
              </a:spcBef>
              <a:spcAft>
                <a:spcPts val="0"/>
              </a:spcAft>
              <a:buClr>
                <a:schemeClr val="dk1"/>
              </a:buClr>
              <a:buSzPts val="2400"/>
              <a:buChar char="–"/>
            </a:pPr>
            <a:r>
              <a:rPr lang="en-US" sz="2400"/>
              <a:t>W(t1,7) = {1,2,5,6,7}</a:t>
            </a:r>
            <a:endParaRPr/>
          </a:p>
          <a:p>
            <a:pPr indent="-285750" lvl="1" marL="742950" rtl="0" algn="just">
              <a:spcBef>
                <a:spcPts val="480"/>
              </a:spcBef>
              <a:spcAft>
                <a:spcPts val="0"/>
              </a:spcAft>
              <a:buClr>
                <a:schemeClr val="dk1"/>
              </a:buClr>
              <a:buSzPts val="2400"/>
              <a:buChar char="–"/>
            </a:pPr>
            <a:r>
              <a:rPr lang="en-US" sz="2400"/>
              <a:t>W(t2,4) = {1,2,3,5}       //discard page 6 from M/M </a:t>
            </a:r>
            <a:endParaRPr/>
          </a:p>
          <a:p>
            <a:pPr indent="-133350" lvl="1" marL="742950" rtl="0" algn="just">
              <a:spcBef>
                <a:spcPts val="480"/>
              </a:spcBef>
              <a:spcAft>
                <a:spcPts val="0"/>
              </a:spcAft>
              <a:buClr>
                <a:schemeClr val="dk1"/>
              </a:buClr>
              <a:buSzPts val="2400"/>
              <a:buNone/>
            </a:pPr>
            <a:r>
              <a:t/>
            </a:r>
            <a:endParaRPr sz="2400"/>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9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Working Set Method</a:t>
            </a:r>
            <a:endParaRPr/>
          </a:p>
        </p:txBody>
      </p:sp>
      <p:sp>
        <p:nvSpPr>
          <p:cNvPr id="816" name="Google Shape;816;p97"/>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lang="en-US" sz="2400">
                <a:solidFill>
                  <a:schemeClr val="accent1"/>
                </a:solidFill>
              </a:rPr>
              <a:t>Delta</a:t>
            </a:r>
            <a:r>
              <a:rPr lang="en-US" sz="2400"/>
              <a:t> defines the </a:t>
            </a:r>
            <a:r>
              <a:rPr lang="en-US" sz="2400">
                <a:solidFill>
                  <a:schemeClr val="accent1"/>
                </a:solidFill>
              </a:rPr>
              <a:t>window size</a:t>
            </a:r>
            <a:endParaRPr/>
          </a:p>
          <a:p>
            <a:pPr indent="-285750" lvl="1" marL="742950" rtl="0" algn="just">
              <a:spcBef>
                <a:spcPts val="480"/>
              </a:spcBef>
              <a:spcAft>
                <a:spcPts val="0"/>
              </a:spcAft>
              <a:buClr>
                <a:schemeClr val="accent1"/>
              </a:buClr>
              <a:buSzPts val="2400"/>
              <a:buChar char="–"/>
            </a:pPr>
            <a:r>
              <a:rPr lang="en-US" sz="2400">
                <a:solidFill>
                  <a:schemeClr val="accent1"/>
                </a:solidFill>
              </a:rPr>
              <a:t>Large window size </a:t>
            </a:r>
            <a:r>
              <a:rPr lang="en-US" sz="2400"/>
              <a:t>may result in </a:t>
            </a:r>
            <a:r>
              <a:rPr lang="en-US" sz="2400">
                <a:solidFill>
                  <a:schemeClr val="accent1"/>
                </a:solidFill>
              </a:rPr>
              <a:t>larger working set</a:t>
            </a:r>
            <a:endParaRPr/>
          </a:p>
          <a:p>
            <a:pPr indent="-285750" lvl="1" marL="742950" rtl="0" algn="just">
              <a:spcBef>
                <a:spcPts val="480"/>
              </a:spcBef>
              <a:spcAft>
                <a:spcPts val="0"/>
              </a:spcAft>
              <a:buClr>
                <a:schemeClr val="dk1"/>
              </a:buClr>
              <a:buSzPts val="2400"/>
              <a:buChar char="–"/>
            </a:pPr>
            <a:r>
              <a:rPr lang="en-US" sz="2400"/>
              <a:t>During a specific period of time, working set may remain same</a:t>
            </a:r>
            <a:endParaRPr/>
          </a:p>
          <a:p>
            <a:pPr indent="-190500" lvl="0" marL="342900" rtl="0" algn="just">
              <a:spcBef>
                <a:spcPts val="480"/>
              </a:spcBef>
              <a:spcAft>
                <a:spcPts val="0"/>
              </a:spcAft>
              <a:buClr>
                <a:schemeClr val="dk1"/>
              </a:buClr>
              <a:buSzPts val="2400"/>
              <a:buNone/>
            </a:pPr>
            <a:r>
              <a:t/>
            </a:r>
            <a:endParaRPr b="1" sz="2400">
              <a:solidFill>
                <a:schemeClr val="accent1"/>
              </a:solidFill>
            </a:endParaRPr>
          </a:p>
          <a:p>
            <a:pPr indent="-342900" lvl="0" marL="342900" rtl="0" algn="just">
              <a:spcBef>
                <a:spcPts val="480"/>
              </a:spcBef>
              <a:spcAft>
                <a:spcPts val="0"/>
              </a:spcAft>
              <a:buClr>
                <a:schemeClr val="accent1"/>
              </a:buClr>
              <a:buSzPts val="2400"/>
              <a:buChar char="•"/>
            </a:pPr>
            <a:r>
              <a:rPr b="1" lang="en-US" sz="2400">
                <a:solidFill>
                  <a:schemeClr val="accent1"/>
                </a:solidFill>
              </a:rPr>
              <a:t>Working set is a function of time</a:t>
            </a:r>
            <a:endParaRPr/>
          </a:p>
          <a:p>
            <a:pPr indent="-285750" lvl="1" marL="742950" rtl="0" algn="just">
              <a:spcBef>
                <a:spcPts val="480"/>
              </a:spcBef>
              <a:spcAft>
                <a:spcPts val="0"/>
              </a:spcAft>
              <a:buClr>
                <a:schemeClr val="dk1"/>
              </a:buClr>
              <a:buSzPts val="2400"/>
              <a:buChar char="–"/>
            </a:pPr>
            <a:r>
              <a:rPr lang="en-US" sz="2400"/>
              <a:t>If more pages are referenced during a period of time </a:t>
            </a:r>
            <a:endParaRPr/>
          </a:p>
          <a:p>
            <a:pPr indent="-228600" lvl="2" marL="1143000" rtl="0" algn="just">
              <a:spcBef>
                <a:spcPts val="480"/>
              </a:spcBef>
              <a:spcAft>
                <a:spcPts val="0"/>
              </a:spcAft>
              <a:buClr>
                <a:schemeClr val="dk1"/>
              </a:buClr>
              <a:buSzPts val="2400"/>
              <a:buChar char="•"/>
            </a:pPr>
            <a:r>
              <a:rPr lang="en-US"/>
              <a:t>Working set will grow in size</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9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Working Set Method</a:t>
            </a:r>
            <a:endParaRPr/>
          </a:p>
        </p:txBody>
      </p:sp>
      <p:pic>
        <p:nvPicPr>
          <p:cNvPr id="822" name="Google Shape;822;p98"/>
          <p:cNvPicPr preferRelativeResize="0"/>
          <p:nvPr/>
        </p:nvPicPr>
        <p:blipFill rotWithShape="1">
          <a:blip r:embed="rId3">
            <a:alphaModFix/>
          </a:blip>
          <a:srcRect b="0" l="0" r="0" t="0"/>
          <a:stretch/>
        </p:blipFill>
        <p:spPr>
          <a:xfrm>
            <a:off x="228600" y="1524000"/>
            <a:ext cx="8686800" cy="5114925"/>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9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Working Set Method</a:t>
            </a:r>
            <a:endParaRPr/>
          </a:p>
        </p:txBody>
      </p:sp>
      <p:sp>
        <p:nvSpPr>
          <p:cNvPr id="828" name="Google Shape;828;p99"/>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Initially the number of pages referenced is high</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Process should stabilize later due to principle of locality</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But this locality will be shifted to a new locality after some time and working set size increases</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Again it decreases as only the pages of new locality are kept</a:t>
            </a:r>
            <a:endParaRPr sz="2400"/>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10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Applying Working Set Method</a:t>
            </a:r>
            <a:endParaRPr sz="3600"/>
          </a:p>
        </p:txBody>
      </p:sp>
      <p:sp>
        <p:nvSpPr>
          <p:cNvPr id="834" name="Google Shape;834;p100"/>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Following scheme can be used to apply working set method:</a:t>
            </a:r>
            <a:endParaRPr/>
          </a:p>
          <a:p>
            <a:pPr indent="-285750" lvl="1" marL="742950" rtl="0" algn="just">
              <a:spcBef>
                <a:spcPts val="480"/>
              </a:spcBef>
              <a:spcAft>
                <a:spcPts val="0"/>
              </a:spcAft>
              <a:buClr>
                <a:schemeClr val="accent1"/>
              </a:buClr>
              <a:buSzPts val="2400"/>
              <a:buChar char="–"/>
            </a:pPr>
            <a:r>
              <a:rPr lang="en-US" sz="2400">
                <a:solidFill>
                  <a:schemeClr val="accent1"/>
                </a:solidFill>
              </a:rPr>
              <a:t>Monitor working set </a:t>
            </a:r>
            <a:r>
              <a:rPr lang="en-US" sz="2400"/>
              <a:t>of each process</a:t>
            </a:r>
            <a:endParaRPr/>
          </a:p>
          <a:p>
            <a:pPr indent="-285750" lvl="1" marL="742950" rtl="0" algn="just">
              <a:spcBef>
                <a:spcPts val="480"/>
              </a:spcBef>
              <a:spcAft>
                <a:spcPts val="0"/>
              </a:spcAft>
              <a:buClr>
                <a:schemeClr val="accent1"/>
              </a:buClr>
              <a:buSzPts val="2400"/>
              <a:buChar char="–"/>
            </a:pPr>
            <a:r>
              <a:rPr lang="en-US" sz="2400">
                <a:solidFill>
                  <a:schemeClr val="accent1"/>
                </a:solidFill>
              </a:rPr>
              <a:t>Periodically remove </a:t>
            </a:r>
            <a:r>
              <a:rPr lang="en-US" sz="2400"/>
              <a:t>the pages which are not in working set</a:t>
            </a:r>
            <a:endParaRPr/>
          </a:p>
          <a:p>
            <a:pPr indent="-133350" lvl="1" marL="74295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A process can only be executed if its working set is present in main memory</a:t>
            </a:r>
            <a:endParaRPr sz="2400"/>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10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4000"/>
              <a:t>Working Set Method: Issues</a:t>
            </a:r>
            <a:endParaRPr sz="4000"/>
          </a:p>
        </p:txBody>
      </p:sp>
      <p:sp>
        <p:nvSpPr>
          <p:cNvPr id="840" name="Google Shape;840;p101"/>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Past does not always predict future</a:t>
            </a:r>
            <a:endParaRPr/>
          </a:p>
          <a:p>
            <a:pPr indent="-342900" lvl="0" marL="342900" rtl="0" algn="just">
              <a:spcBef>
                <a:spcPts val="480"/>
              </a:spcBef>
              <a:spcAft>
                <a:spcPts val="0"/>
              </a:spcAft>
              <a:buClr>
                <a:schemeClr val="dk1"/>
              </a:buClr>
              <a:buSzPts val="2400"/>
              <a:buChar char="•"/>
            </a:pPr>
            <a:r>
              <a:rPr lang="en-US" sz="2400"/>
              <a:t>Overhead involved in measurement of working set</a:t>
            </a:r>
            <a:endParaRPr/>
          </a:p>
          <a:p>
            <a:pPr indent="-342900" lvl="0" marL="342900" rtl="0" algn="just">
              <a:spcBef>
                <a:spcPts val="480"/>
              </a:spcBef>
              <a:spcAft>
                <a:spcPts val="0"/>
              </a:spcAft>
              <a:buClr>
                <a:schemeClr val="dk1"/>
              </a:buClr>
              <a:buSzPts val="2400"/>
              <a:buChar char="•"/>
            </a:pPr>
            <a:r>
              <a:rPr lang="en-US" sz="2400"/>
              <a:t>Finding optimal value of delta is difficult</a:t>
            </a:r>
            <a:endParaRPr sz="2400"/>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10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Page Fault Frequency Approach</a:t>
            </a:r>
            <a:endParaRPr sz="3600"/>
          </a:p>
        </p:txBody>
      </p:sp>
      <p:sp>
        <p:nvSpPr>
          <p:cNvPr id="846" name="Google Shape;846;p102"/>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Instead of focusing on the </a:t>
            </a:r>
            <a:r>
              <a:rPr lang="en-US" sz="2400">
                <a:solidFill>
                  <a:schemeClr val="accent1"/>
                </a:solidFill>
              </a:rPr>
              <a:t>pages referenced</a:t>
            </a:r>
            <a:endParaRPr/>
          </a:p>
          <a:p>
            <a:pPr indent="-285750" lvl="1" marL="742950" rtl="0" algn="just">
              <a:spcBef>
                <a:spcPts val="480"/>
              </a:spcBef>
              <a:spcAft>
                <a:spcPts val="0"/>
              </a:spcAft>
              <a:buClr>
                <a:schemeClr val="dk1"/>
              </a:buClr>
              <a:buSzPts val="2400"/>
              <a:buChar char="–"/>
            </a:pPr>
            <a:r>
              <a:rPr lang="en-US" sz="2400"/>
              <a:t>Focus on the </a:t>
            </a:r>
            <a:r>
              <a:rPr lang="en-US" sz="2400">
                <a:solidFill>
                  <a:schemeClr val="accent1"/>
                </a:solidFill>
              </a:rPr>
              <a:t>page fault rate </a:t>
            </a:r>
            <a:r>
              <a:rPr lang="en-US" sz="2400"/>
              <a:t>of the process</a:t>
            </a:r>
            <a:endParaRPr/>
          </a:p>
          <a:p>
            <a:pPr indent="-133350" lvl="1" marL="74295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If page fault rate is above the threshold</a:t>
            </a:r>
            <a:endParaRPr/>
          </a:p>
          <a:p>
            <a:pPr indent="-285750" lvl="1" marL="742950" rtl="0" algn="just">
              <a:spcBef>
                <a:spcPts val="480"/>
              </a:spcBef>
              <a:spcAft>
                <a:spcPts val="0"/>
              </a:spcAft>
              <a:buClr>
                <a:schemeClr val="dk1"/>
              </a:buClr>
              <a:buSzPts val="2400"/>
              <a:buChar char="–"/>
            </a:pPr>
            <a:r>
              <a:rPr lang="en-US" sz="2400"/>
              <a:t>Resident set size should be increased</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If page fault rate is below the threshold</a:t>
            </a:r>
            <a:endParaRPr/>
          </a:p>
          <a:p>
            <a:pPr indent="-285750" lvl="1" marL="742950" rtl="0" algn="just">
              <a:spcBef>
                <a:spcPts val="480"/>
              </a:spcBef>
              <a:spcAft>
                <a:spcPts val="0"/>
              </a:spcAft>
              <a:buClr>
                <a:schemeClr val="dk1"/>
              </a:buClr>
              <a:buSzPts val="2400"/>
              <a:buChar char="–"/>
            </a:pPr>
            <a:r>
              <a:rPr lang="en-US" sz="2400"/>
              <a:t>Resident set size should be decreased</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g2810cf324be_0_1"/>
          <p:cNvSpPr txBox="1"/>
          <p:nvPr>
            <p:ph type="title"/>
          </p:nvPr>
        </p:nvSpPr>
        <p:spPr>
          <a:xfrm>
            <a:off x="457200" y="274638"/>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lang="en-US" sz="3600"/>
              <a:t>Page Fault Frequency Approach</a:t>
            </a:r>
            <a:endParaRPr/>
          </a:p>
        </p:txBody>
      </p:sp>
      <p:sp>
        <p:nvSpPr>
          <p:cNvPr id="853" name="Google Shape;853;g2810cf324be_0_1"/>
          <p:cNvSpPr txBox="1"/>
          <p:nvPr>
            <p:ph idx="1" type="body"/>
          </p:nvPr>
        </p:nvSpPr>
        <p:spPr>
          <a:xfrm>
            <a:off x="457200" y="1600200"/>
            <a:ext cx="8229600" cy="49530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854" name="Google Shape;854;g2810cf324be_0_1"/>
          <p:cNvPicPr preferRelativeResize="0"/>
          <p:nvPr/>
        </p:nvPicPr>
        <p:blipFill>
          <a:blip r:embed="rId3">
            <a:alphaModFix/>
          </a:blip>
          <a:stretch>
            <a:fillRect/>
          </a:stretch>
        </p:blipFill>
        <p:spPr>
          <a:xfrm>
            <a:off x="702597" y="1600200"/>
            <a:ext cx="7843800" cy="4551725"/>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10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Page Fault Frequency Approach</a:t>
            </a:r>
            <a:endParaRPr sz="3600"/>
          </a:p>
        </p:txBody>
      </p:sp>
      <p:sp>
        <p:nvSpPr>
          <p:cNvPr id="860" name="Google Shape;860;p103"/>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b="1" lang="en-US" sz="2400" u="sng">
                <a:solidFill>
                  <a:schemeClr val="accent1"/>
                </a:solidFill>
              </a:rPr>
              <a:t>PFF Algorithm:</a:t>
            </a:r>
            <a:endParaRPr/>
          </a:p>
          <a:p>
            <a:pPr indent="-285750" lvl="1" marL="742950" rtl="0" algn="just">
              <a:spcBef>
                <a:spcPts val="480"/>
              </a:spcBef>
              <a:spcAft>
                <a:spcPts val="0"/>
              </a:spcAft>
              <a:buClr>
                <a:schemeClr val="dk1"/>
              </a:buClr>
              <a:buSzPts val="2400"/>
              <a:buChar char="–"/>
            </a:pPr>
            <a:r>
              <a:rPr lang="en-US" sz="2400"/>
              <a:t>Assign a </a:t>
            </a:r>
            <a:r>
              <a:rPr lang="en-US" sz="2400">
                <a:solidFill>
                  <a:schemeClr val="accent1"/>
                </a:solidFill>
              </a:rPr>
              <a:t>use bit </a:t>
            </a:r>
            <a:r>
              <a:rPr lang="en-US" sz="2400"/>
              <a:t>for each page in MM</a:t>
            </a:r>
            <a:endParaRPr/>
          </a:p>
          <a:p>
            <a:pPr indent="-285750" lvl="1" marL="742950" rtl="0" algn="just">
              <a:spcBef>
                <a:spcPts val="480"/>
              </a:spcBef>
              <a:spcAft>
                <a:spcPts val="0"/>
              </a:spcAft>
              <a:buClr>
                <a:schemeClr val="dk1"/>
              </a:buClr>
              <a:buSzPts val="2400"/>
              <a:buChar char="–"/>
            </a:pPr>
            <a:r>
              <a:rPr lang="en-US" sz="2400"/>
              <a:t>Use bit is </a:t>
            </a:r>
            <a:r>
              <a:rPr lang="en-US" sz="2400">
                <a:solidFill>
                  <a:schemeClr val="accent1"/>
                </a:solidFill>
              </a:rPr>
              <a:t>set to 1 </a:t>
            </a:r>
            <a:r>
              <a:rPr lang="en-US" sz="2400"/>
              <a:t>when page is </a:t>
            </a:r>
            <a:r>
              <a:rPr lang="en-US" sz="2400">
                <a:solidFill>
                  <a:schemeClr val="accent1"/>
                </a:solidFill>
              </a:rPr>
              <a:t>accessed</a:t>
            </a:r>
            <a:endParaRPr/>
          </a:p>
          <a:p>
            <a:pPr indent="-285750" lvl="1" marL="742950" rtl="0" algn="just">
              <a:spcBef>
                <a:spcPts val="480"/>
              </a:spcBef>
              <a:spcAft>
                <a:spcPts val="0"/>
              </a:spcAft>
              <a:buClr>
                <a:schemeClr val="dk1"/>
              </a:buClr>
              <a:buSzPts val="2400"/>
              <a:buChar char="–"/>
            </a:pPr>
            <a:r>
              <a:rPr lang="en-US" sz="2400"/>
              <a:t>At the time of </a:t>
            </a:r>
            <a:r>
              <a:rPr lang="en-US" sz="2400">
                <a:solidFill>
                  <a:schemeClr val="accent1"/>
                </a:solidFill>
              </a:rPr>
              <a:t>page fault</a:t>
            </a:r>
            <a:r>
              <a:rPr lang="en-US" sz="2400"/>
              <a:t>, the </a:t>
            </a:r>
            <a:r>
              <a:rPr lang="en-US" sz="2400">
                <a:solidFill>
                  <a:schemeClr val="accent1"/>
                </a:solidFill>
              </a:rPr>
              <a:t>time</a:t>
            </a:r>
            <a:r>
              <a:rPr lang="en-US" sz="2400"/>
              <a:t> since last page is calculated (T)</a:t>
            </a:r>
            <a:endParaRPr/>
          </a:p>
          <a:p>
            <a:pPr indent="-228600" lvl="2" marL="1143000" rtl="0" algn="just">
              <a:spcBef>
                <a:spcPts val="480"/>
              </a:spcBef>
              <a:spcAft>
                <a:spcPts val="0"/>
              </a:spcAft>
              <a:buClr>
                <a:schemeClr val="accent1"/>
              </a:buClr>
              <a:buSzPts val="2400"/>
              <a:buChar char="•"/>
            </a:pPr>
            <a:r>
              <a:rPr lang="en-US">
                <a:solidFill>
                  <a:schemeClr val="accent1"/>
                </a:solidFill>
              </a:rPr>
              <a:t>If T &lt; Threshold</a:t>
            </a:r>
            <a:r>
              <a:rPr lang="en-US"/>
              <a:t> (PF occurred quickly)</a:t>
            </a:r>
            <a:endParaRPr/>
          </a:p>
          <a:p>
            <a:pPr indent="-228600" lvl="3" marL="1600200" rtl="0" algn="just">
              <a:spcBef>
                <a:spcPts val="480"/>
              </a:spcBef>
              <a:spcAft>
                <a:spcPts val="0"/>
              </a:spcAft>
              <a:buClr>
                <a:schemeClr val="dk1"/>
              </a:buClr>
              <a:buSzPts val="2400"/>
              <a:buChar char="–"/>
            </a:pPr>
            <a:r>
              <a:rPr lang="en-US"/>
              <a:t>Add a page to resident set of process</a:t>
            </a:r>
            <a:endParaRPr/>
          </a:p>
          <a:p>
            <a:pPr indent="-228600" lvl="2" marL="1143000" rtl="0" algn="just">
              <a:spcBef>
                <a:spcPts val="480"/>
              </a:spcBef>
              <a:spcAft>
                <a:spcPts val="0"/>
              </a:spcAft>
              <a:buClr>
                <a:schemeClr val="accent1"/>
              </a:buClr>
              <a:buSzPts val="2400"/>
              <a:buChar char="•"/>
            </a:pPr>
            <a:r>
              <a:rPr lang="en-US">
                <a:solidFill>
                  <a:schemeClr val="accent1"/>
                </a:solidFill>
              </a:rPr>
              <a:t>Else</a:t>
            </a:r>
            <a:endParaRPr/>
          </a:p>
          <a:p>
            <a:pPr indent="-228600" lvl="3" marL="1600200" rtl="0" algn="just">
              <a:spcBef>
                <a:spcPts val="480"/>
              </a:spcBef>
              <a:spcAft>
                <a:spcPts val="0"/>
              </a:spcAft>
              <a:buClr>
                <a:schemeClr val="dk1"/>
              </a:buClr>
              <a:buSzPts val="2400"/>
              <a:buChar char="–"/>
            </a:pPr>
            <a:r>
              <a:rPr lang="en-US"/>
              <a:t>Shrink the resident set of process</a:t>
            </a:r>
            <a:endParaRPr/>
          </a:p>
          <a:p>
            <a:pPr indent="-228600" lvl="4" marL="2057400" rtl="0" algn="just">
              <a:spcBef>
                <a:spcPts val="480"/>
              </a:spcBef>
              <a:spcAft>
                <a:spcPts val="0"/>
              </a:spcAft>
              <a:buClr>
                <a:schemeClr val="dk1"/>
              </a:buClr>
              <a:buSzPts val="2400"/>
              <a:buChar char="»"/>
            </a:pPr>
            <a:r>
              <a:rPr lang="en-US"/>
              <a:t>Discard pages with use bit=0</a:t>
            </a:r>
            <a:endParaRPr/>
          </a:p>
          <a:p>
            <a:pPr indent="-228600" lvl="4" marL="2057400" rtl="0" algn="just">
              <a:spcBef>
                <a:spcPts val="480"/>
              </a:spcBef>
              <a:spcAft>
                <a:spcPts val="0"/>
              </a:spcAft>
              <a:buClr>
                <a:schemeClr val="dk1"/>
              </a:buClr>
              <a:buSzPts val="2400"/>
              <a:buChar char="»"/>
            </a:pPr>
            <a:r>
              <a:rPr lang="en-US"/>
              <a:t>Reset use bits</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10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600"/>
              <a:t>Page Fault Frequency Approach</a:t>
            </a:r>
            <a:endParaRPr sz="3600"/>
          </a:p>
        </p:txBody>
      </p:sp>
      <p:sp>
        <p:nvSpPr>
          <p:cNvPr id="866" name="Google Shape;866;p104"/>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b="1" lang="en-US" sz="2400">
                <a:solidFill>
                  <a:schemeClr val="accent1"/>
                </a:solidFill>
              </a:rPr>
              <a:t>Problem:</a:t>
            </a:r>
            <a:endParaRPr/>
          </a:p>
          <a:p>
            <a:pPr indent="-285750" lvl="1" marL="742950" rtl="0" algn="just">
              <a:spcBef>
                <a:spcPts val="480"/>
              </a:spcBef>
              <a:spcAft>
                <a:spcPts val="0"/>
              </a:spcAft>
              <a:buClr>
                <a:schemeClr val="dk1"/>
              </a:buClr>
              <a:buSzPts val="2400"/>
              <a:buChar char="–"/>
            </a:pPr>
            <a:r>
              <a:rPr lang="en-US" sz="2400"/>
              <a:t>This approach does not work well during shift of locality</a:t>
            </a:r>
            <a:endParaRPr/>
          </a:p>
          <a:p>
            <a:pPr indent="-133350" lvl="1" marL="742950" rtl="0" algn="just">
              <a:spcBef>
                <a:spcPts val="480"/>
              </a:spcBef>
              <a:spcAft>
                <a:spcPts val="0"/>
              </a:spcAft>
              <a:buClr>
                <a:schemeClr val="dk1"/>
              </a:buClr>
              <a:buSzPts val="2400"/>
              <a:buNone/>
            </a:pPr>
            <a:r>
              <a:t/>
            </a:r>
            <a:endParaRPr sz="2400"/>
          </a:p>
          <a:p>
            <a:pPr indent="-285750" lvl="1" marL="742950" rtl="0" algn="just">
              <a:spcBef>
                <a:spcPts val="480"/>
              </a:spcBef>
              <a:spcAft>
                <a:spcPts val="0"/>
              </a:spcAft>
              <a:buClr>
                <a:schemeClr val="dk1"/>
              </a:buClr>
              <a:buSzPts val="2400"/>
              <a:buChar char="–"/>
            </a:pPr>
            <a:r>
              <a:rPr lang="en-US" sz="2400"/>
              <a:t>Solution?</a:t>
            </a:r>
            <a:endParaRPr/>
          </a:p>
          <a:p>
            <a:pPr indent="-228600" lvl="2" marL="1143000" rtl="0" algn="just">
              <a:spcBef>
                <a:spcPts val="480"/>
              </a:spcBef>
              <a:spcAft>
                <a:spcPts val="0"/>
              </a:spcAft>
              <a:buClr>
                <a:schemeClr val="dk1"/>
              </a:buClr>
              <a:buSzPts val="2400"/>
              <a:buChar char="•"/>
            </a:pPr>
            <a:r>
              <a:rPr lang="en-US"/>
              <a:t>VSWS (Variable interval Sampled Working Set)</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10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Cleaning Policy</a:t>
            </a:r>
            <a:endParaRPr/>
          </a:p>
        </p:txBody>
      </p:sp>
      <p:sp>
        <p:nvSpPr>
          <p:cNvPr id="873" name="Google Shape;873;p105"/>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A cleaning policy is concerned with determining when a </a:t>
            </a:r>
            <a:r>
              <a:rPr lang="en-US" sz="2400">
                <a:solidFill>
                  <a:schemeClr val="accent1"/>
                </a:solidFill>
              </a:rPr>
              <a:t>modified page </a:t>
            </a:r>
            <a:r>
              <a:rPr lang="en-US" sz="2400"/>
              <a:t>should be </a:t>
            </a:r>
            <a:r>
              <a:rPr lang="en-US" sz="2400">
                <a:solidFill>
                  <a:schemeClr val="accent1"/>
                </a:solidFill>
              </a:rPr>
              <a:t>written out </a:t>
            </a:r>
            <a:r>
              <a:rPr lang="en-US" sz="2400"/>
              <a:t>to secondary memory.</a:t>
            </a:r>
            <a:endParaRPr sz="2400"/>
          </a:p>
          <a:p>
            <a:pPr indent="-190500" lvl="0" marL="342900" rtl="0" algn="just">
              <a:spcBef>
                <a:spcPts val="480"/>
              </a:spcBef>
              <a:spcAft>
                <a:spcPts val="0"/>
              </a:spcAft>
              <a:buClr>
                <a:schemeClr val="dk1"/>
              </a:buClr>
              <a:buSzPts val="2400"/>
              <a:buNone/>
            </a:pPr>
            <a:r>
              <a:t/>
            </a:r>
            <a:endParaRPr b="1" sz="2400" u="sng">
              <a:solidFill>
                <a:schemeClr val="accent1"/>
              </a:solidFill>
            </a:endParaRPr>
          </a:p>
          <a:p>
            <a:pPr indent="-342900" lvl="0" marL="342900" rtl="0" algn="just">
              <a:spcBef>
                <a:spcPts val="480"/>
              </a:spcBef>
              <a:spcAft>
                <a:spcPts val="0"/>
              </a:spcAft>
              <a:buClr>
                <a:schemeClr val="accent1"/>
              </a:buClr>
              <a:buSzPts val="2400"/>
              <a:buChar char="•"/>
            </a:pPr>
            <a:r>
              <a:rPr b="1" lang="en-US" sz="2400" u="sng">
                <a:solidFill>
                  <a:schemeClr val="accent1"/>
                </a:solidFill>
              </a:rPr>
              <a:t>Demand cleaning</a:t>
            </a:r>
            <a:endParaRPr/>
          </a:p>
          <a:p>
            <a:pPr indent="-285750" lvl="1" marL="742950" rtl="0" algn="just">
              <a:spcBef>
                <a:spcPts val="480"/>
              </a:spcBef>
              <a:spcAft>
                <a:spcPts val="0"/>
              </a:spcAft>
              <a:buClr>
                <a:schemeClr val="dk1"/>
              </a:buClr>
              <a:buSzPts val="2400"/>
              <a:buChar char="–"/>
            </a:pPr>
            <a:r>
              <a:rPr lang="en-US" sz="2400"/>
              <a:t>A page is </a:t>
            </a:r>
            <a:r>
              <a:rPr lang="en-US" sz="2400">
                <a:solidFill>
                  <a:schemeClr val="accent1"/>
                </a:solidFill>
              </a:rPr>
              <a:t>written out </a:t>
            </a:r>
            <a:r>
              <a:rPr lang="en-US" sz="2400"/>
              <a:t>only when it has been </a:t>
            </a:r>
            <a:r>
              <a:rPr lang="en-US" sz="2400">
                <a:solidFill>
                  <a:schemeClr val="accent1"/>
                </a:solidFill>
              </a:rPr>
              <a:t>selected for replacement</a:t>
            </a:r>
            <a:endParaRPr/>
          </a:p>
          <a:p>
            <a:pPr indent="-285750" lvl="1" marL="742950" rtl="0" algn="just">
              <a:spcBef>
                <a:spcPts val="480"/>
              </a:spcBef>
              <a:spcAft>
                <a:spcPts val="0"/>
              </a:spcAft>
              <a:buClr>
                <a:schemeClr val="dk1"/>
              </a:buClr>
              <a:buSzPts val="2400"/>
              <a:buChar char="–"/>
            </a:pPr>
            <a:r>
              <a:rPr lang="en-US" sz="2400"/>
              <a:t>Two page transfers needed</a:t>
            </a:r>
            <a:endParaRPr/>
          </a:p>
          <a:p>
            <a:pPr indent="-228600" lvl="2" marL="1143000" rtl="0" algn="just">
              <a:spcBef>
                <a:spcPts val="480"/>
              </a:spcBef>
              <a:spcAft>
                <a:spcPts val="0"/>
              </a:spcAft>
              <a:buClr>
                <a:schemeClr val="dk1"/>
              </a:buClr>
              <a:buSzPts val="2400"/>
              <a:buChar char="•"/>
            </a:pPr>
            <a:r>
              <a:rPr lang="en-US"/>
              <a:t>Writing dirty page</a:t>
            </a:r>
            <a:endParaRPr/>
          </a:p>
          <a:p>
            <a:pPr indent="-228600" lvl="2" marL="1143000" rtl="0" algn="just">
              <a:spcBef>
                <a:spcPts val="480"/>
              </a:spcBef>
              <a:spcAft>
                <a:spcPts val="0"/>
              </a:spcAft>
              <a:buClr>
                <a:schemeClr val="dk1"/>
              </a:buClr>
              <a:buSzPts val="2400"/>
              <a:buChar char="•"/>
            </a:pPr>
            <a:r>
              <a:rPr lang="en-US"/>
              <a:t>Reading new page</a:t>
            </a:r>
            <a:endParaRPr/>
          </a:p>
          <a:p>
            <a:pPr indent="-190500" lvl="0" marL="342900" rtl="0" algn="just">
              <a:spcBef>
                <a:spcPts val="480"/>
              </a:spcBef>
              <a:spcAft>
                <a:spcPts val="0"/>
              </a:spcAft>
              <a:buClr>
                <a:schemeClr val="dk1"/>
              </a:buClr>
              <a:buSzPts val="2400"/>
              <a:buNone/>
            </a:pPr>
            <a:r>
              <a:t/>
            </a:r>
            <a:endParaRPr sz="2400"/>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10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Cleaning Policy</a:t>
            </a:r>
            <a:endParaRPr/>
          </a:p>
        </p:txBody>
      </p:sp>
      <p:sp>
        <p:nvSpPr>
          <p:cNvPr id="879" name="Google Shape;879;p106"/>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b="1" lang="en-US" sz="2400" u="sng">
                <a:solidFill>
                  <a:schemeClr val="accent1"/>
                </a:solidFill>
              </a:rPr>
              <a:t>Pre-cleaning</a:t>
            </a:r>
            <a:endParaRPr/>
          </a:p>
          <a:p>
            <a:pPr indent="-285750" lvl="1" marL="742950" rtl="0" algn="just">
              <a:spcBef>
                <a:spcPts val="480"/>
              </a:spcBef>
              <a:spcAft>
                <a:spcPts val="0"/>
              </a:spcAft>
              <a:buClr>
                <a:schemeClr val="dk1"/>
              </a:buClr>
              <a:buSzPts val="2400"/>
              <a:buChar char="–"/>
            </a:pPr>
            <a:r>
              <a:rPr lang="en-US" sz="2400"/>
              <a:t>Pages are written out in batches before their frames are needed</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10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Cleaning Policy</a:t>
            </a:r>
            <a:endParaRPr/>
          </a:p>
        </p:txBody>
      </p:sp>
      <p:sp>
        <p:nvSpPr>
          <p:cNvPr id="886" name="Google Shape;886;p107"/>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accent1"/>
              </a:buClr>
              <a:buSzPts val="2400"/>
              <a:buChar char="•"/>
            </a:pPr>
            <a:r>
              <a:rPr lang="en-US" sz="2400">
                <a:solidFill>
                  <a:schemeClr val="accent1"/>
                </a:solidFill>
              </a:rPr>
              <a:t>Best approach </a:t>
            </a:r>
            <a:r>
              <a:rPr lang="en-US" sz="2400"/>
              <a:t>uses </a:t>
            </a:r>
            <a:r>
              <a:rPr lang="en-US" sz="2400">
                <a:solidFill>
                  <a:schemeClr val="accent1"/>
                </a:solidFill>
              </a:rPr>
              <a:t>page buffering</a:t>
            </a:r>
            <a:endParaRPr/>
          </a:p>
          <a:p>
            <a:pPr indent="-285750" lvl="1" marL="742950" rtl="0" algn="just">
              <a:spcBef>
                <a:spcPts val="480"/>
              </a:spcBef>
              <a:spcAft>
                <a:spcPts val="0"/>
              </a:spcAft>
              <a:buClr>
                <a:schemeClr val="dk1"/>
              </a:buClr>
              <a:buSzPts val="2400"/>
              <a:buChar char="–"/>
            </a:pPr>
            <a:r>
              <a:rPr lang="en-US" sz="2400"/>
              <a:t>Decouples cleaning and replacement</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Replaced pages are placed in two lists</a:t>
            </a:r>
            <a:endParaRPr/>
          </a:p>
          <a:p>
            <a:pPr indent="-285750" lvl="1" marL="742950" rtl="0" algn="just">
              <a:spcBef>
                <a:spcPts val="480"/>
              </a:spcBef>
              <a:spcAft>
                <a:spcPts val="0"/>
              </a:spcAft>
              <a:buClr>
                <a:schemeClr val="dk1"/>
              </a:buClr>
              <a:buSzPts val="2400"/>
              <a:buChar char="–"/>
            </a:pPr>
            <a:r>
              <a:rPr lang="en-US" sz="2400"/>
              <a:t>Modified and unmodified</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Pages in the modified list are periodically written out in batches</a:t>
            </a:r>
            <a:endParaRPr/>
          </a:p>
          <a:p>
            <a:pPr indent="-342900" lvl="0" marL="342900" rtl="0" algn="just">
              <a:spcBef>
                <a:spcPts val="480"/>
              </a:spcBef>
              <a:spcAft>
                <a:spcPts val="0"/>
              </a:spcAft>
              <a:buClr>
                <a:schemeClr val="dk1"/>
              </a:buClr>
              <a:buSzPts val="2400"/>
              <a:buChar char="•"/>
            </a:pPr>
            <a:r>
              <a:rPr lang="en-US" sz="2400"/>
              <a:t>Pages in the unmodified list are either reclaimed if referenced again or lost when its frame is assigned to another page</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0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Load Control</a:t>
            </a:r>
            <a:endParaRPr/>
          </a:p>
        </p:txBody>
      </p:sp>
      <p:sp>
        <p:nvSpPr>
          <p:cNvPr id="893" name="Google Shape;893;p108"/>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Determines the number of processes that will be resident in main memory</a:t>
            </a:r>
            <a:endParaRPr/>
          </a:p>
          <a:p>
            <a:pPr indent="-285750" lvl="1" marL="742950" rtl="0" algn="just">
              <a:spcBef>
                <a:spcPts val="480"/>
              </a:spcBef>
              <a:spcAft>
                <a:spcPts val="0"/>
              </a:spcAft>
              <a:buClr>
                <a:schemeClr val="dk1"/>
              </a:buClr>
              <a:buSzPts val="2400"/>
              <a:buChar char="–"/>
            </a:pPr>
            <a:r>
              <a:rPr lang="en-US" sz="2400"/>
              <a:t>The </a:t>
            </a:r>
            <a:r>
              <a:rPr i="1" lang="en-US" sz="2400"/>
              <a:t>multiprogramming </a:t>
            </a:r>
            <a:r>
              <a:rPr lang="en-US" sz="2400"/>
              <a:t>level</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Too few processes, many occasions when all processes will be blocked and much time will be spent in swapping</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Too many processes will lead to thrashing</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10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Multiprogramming</a:t>
            </a:r>
            <a:endParaRPr/>
          </a:p>
        </p:txBody>
      </p:sp>
      <p:pic>
        <p:nvPicPr>
          <p:cNvPr descr="Fig08_21.gif" id="900" name="Google Shape;900;p109"/>
          <p:cNvPicPr preferRelativeResize="0"/>
          <p:nvPr>
            <p:ph idx="1" type="body"/>
          </p:nvPr>
        </p:nvPicPr>
        <p:blipFill rotWithShape="1">
          <a:blip r:embed="rId3">
            <a:alphaModFix/>
          </a:blip>
          <a:srcRect b="0" l="0" r="0" t="0"/>
          <a:stretch/>
        </p:blipFill>
        <p:spPr>
          <a:xfrm>
            <a:off x="1905000" y="1210029"/>
            <a:ext cx="5185953" cy="5419371"/>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1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Process Suspension</a:t>
            </a:r>
            <a:endParaRPr/>
          </a:p>
        </p:txBody>
      </p:sp>
      <p:sp>
        <p:nvSpPr>
          <p:cNvPr id="907" name="Google Shape;907;p110"/>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If the degree of multiprogramming is to be reduced, one or more of the currently resident processes must be suspended (swapped out).</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Six possibilities exist…</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1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Suspension policies</a:t>
            </a:r>
            <a:endParaRPr/>
          </a:p>
        </p:txBody>
      </p:sp>
      <p:sp>
        <p:nvSpPr>
          <p:cNvPr id="914" name="Google Shape;914;p111"/>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Lowest priority process</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Faulting process</a:t>
            </a:r>
            <a:endParaRPr/>
          </a:p>
          <a:p>
            <a:pPr indent="-285750" lvl="1" marL="742950" rtl="0" algn="just">
              <a:spcBef>
                <a:spcPts val="480"/>
              </a:spcBef>
              <a:spcAft>
                <a:spcPts val="0"/>
              </a:spcAft>
              <a:buClr>
                <a:schemeClr val="dk1"/>
              </a:buClr>
              <a:buSzPts val="2400"/>
              <a:buChar char="–"/>
            </a:pPr>
            <a:r>
              <a:rPr lang="en-US" sz="2400"/>
              <a:t>This process does not have its working set in main memory so it will be blocked anyway</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Process activated long time ago</a:t>
            </a:r>
            <a:endParaRPr/>
          </a:p>
          <a:p>
            <a:pPr indent="-285750" lvl="1" marL="742950" rtl="0" algn="just">
              <a:spcBef>
                <a:spcPts val="480"/>
              </a:spcBef>
              <a:spcAft>
                <a:spcPts val="0"/>
              </a:spcAft>
              <a:buClr>
                <a:schemeClr val="dk1"/>
              </a:buClr>
              <a:buSzPts val="2400"/>
              <a:buChar char="–"/>
            </a:pPr>
            <a:r>
              <a:rPr lang="en-US" sz="2400"/>
              <a:t>This process is least likely to have its working set resident</a:t>
            </a:r>
            <a:endParaRPr/>
          </a:p>
          <a:p>
            <a:pPr indent="-190500" lvl="0" marL="342900" rtl="0" algn="just">
              <a:spcBef>
                <a:spcPts val="480"/>
              </a:spcBef>
              <a:spcAft>
                <a:spcPts val="0"/>
              </a:spcAft>
              <a:buClr>
                <a:schemeClr val="dk1"/>
              </a:buClr>
              <a:buSzPts val="2400"/>
              <a:buNone/>
            </a:pPr>
            <a:r>
              <a:t/>
            </a:r>
            <a:endParaRPr sz="2400"/>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Suspension policies cont.</a:t>
            </a:r>
            <a:endParaRPr/>
          </a:p>
        </p:txBody>
      </p:sp>
      <p:sp>
        <p:nvSpPr>
          <p:cNvPr id="921" name="Google Shape;921;p112"/>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t>Process with smallest resident set</a:t>
            </a:r>
            <a:endParaRPr/>
          </a:p>
          <a:p>
            <a:pPr indent="-285750" lvl="1" marL="742950" rtl="0" algn="just">
              <a:spcBef>
                <a:spcPts val="480"/>
              </a:spcBef>
              <a:spcAft>
                <a:spcPts val="0"/>
              </a:spcAft>
              <a:buClr>
                <a:schemeClr val="dk1"/>
              </a:buClr>
              <a:buSzPts val="2400"/>
              <a:buChar char="–"/>
            </a:pPr>
            <a:r>
              <a:rPr lang="en-US" sz="2400"/>
              <a:t>This process requires the least future effort to reload</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Largest process</a:t>
            </a:r>
            <a:endParaRPr/>
          </a:p>
          <a:p>
            <a:pPr indent="-285750" lvl="1" marL="742950" rtl="0" algn="just">
              <a:spcBef>
                <a:spcPts val="480"/>
              </a:spcBef>
              <a:spcAft>
                <a:spcPts val="0"/>
              </a:spcAft>
              <a:buClr>
                <a:schemeClr val="dk1"/>
              </a:buClr>
              <a:buSzPts val="2400"/>
              <a:buChar char="–"/>
            </a:pPr>
            <a:r>
              <a:rPr lang="en-US" sz="2400"/>
              <a:t>Obtains the most free frames </a:t>
            </a:r>
            <a:endParaRPr/>
          </a:p>
          <a:p>
            <a:pPr indent="-190500" lvl="0" marL="342900" rtl="0" algn="just">
              <a:spcBef>
                <a:spcPts val="480"/>
              </a:spcBef>
              <a:spcAft>
                <a:spcPts val="0"/>
              </a:spcAft>
              <a:buClr>
                <a:schemeClr val="dk1"/>
              </a:buClr>
              <a:buSzPts val="2400"/>
              <a:buNone/>
            </a:pPr>
            <a:r>
              <a:t/>
            </a:r>
            <a:endParaRPr sz="2400"/>
          </a:p>
          <a:p>
            <a:pPr indent="-342900" lvl="0" marL="342900" rtl="0" algn="just">
              <a:spcBef>
                <a:spcPts val="480"/>
              </a:spcBef>
              <a:spcAft>
                <a:spcPts val="0"/>
              </a:spcAft>
              <a:buClr>
                <a:schemeClr val="dk1"/>
              </a:buClr>
              <a:buSzPts val="2400"/>
              <a:buChar char="•"/>
            </a:pPr>
            <a:r>
              <a:rPr lang="en-US" sz="2400"/>
              <a:t>Process with the largest remaining execution window</a:t>
            </a:r>
            <a:endParaRPr/>
          </a:p>
          <a:p>
            <a:pPr indent="-190500" lvl="0" marL="342900" rtl="0" algn="just">
              <a:spcBef>
                <a:spcPts val="480"/>
              </a:spcBef>
              <a:spcAft>
                <a:spcPts val="0"/>
              </a:spcAft>
              <a:buClr>
                <a:schemeClr val="dk1"/>
              </a:buClr>
              <a:buSzPts val="2400"/>
              <a:buNone/>
            </a:pPr>
            <a:r>
              <a:t/>
            </a:r>
            <a:endParaRPr sz="24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2008-04-03T13:46:53Z</dcterms:created>
</cp:coreProperties>
</file>